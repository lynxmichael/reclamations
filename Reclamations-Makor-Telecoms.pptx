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Lst>
  <p:notesMasterIdLst>
    <p:notesMasterId r:id="rId4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uverture" id="{0e3ae09d-1a18-eb2a-3959-840879120e17}">
          <p14:sldIdLst>
            <p14:sldId id="256"/>
            <p14:sldId id="257"/>
            <p14:sldId id="258"/>
          </p14:sldIdLst>
        </p14:section>
        <p14:section name="Le client" id="{9ecc3609-bcf3-6d9f-e3c3-37a5718e9bf7}">
          <p14:sldIdLst>
            <p14:sldId id="259"/>
            <p14:sldId id="260"/>
            <p14:sldId id="261"/>
            <p14:sldId id="262"/>
            <p14:sldId id="263"/>
            <p14:sldId id="264"/>
          </p14:sldIdLst>
        </p14:section>
        <p14:section name="Les équipes" id="{e7c51f32-4c36-6510-b80e-9523f07f0f4f}">
          <p14:sldIdLst>
            <p14:sldId id="265"/>
            <p14:sldId id="266"/>
            <p14:sldId id="267"/>
            <p14:sldId id="268"/>
            <p14:sldId id="269"/>
            <p14:sldId id="270"/>
            <p14:sldId id="271"/>
            <p14:sldId id="272"/>
            <p14:sldId id="273"/>
            <p14:sldId id="274"/>
          </p14:sldIdLst>
        </p14:section>
        <p14:section name="Le pilotage" id="{2edaa79e-d90b-7482-1d9f-bd5ca65be12b}">
          <p14:sldIdLst>
            <p14:sldId id="275"/>
            <p14:sldId id="276"/>
            <p14:sldId id="277"/>
            <p14:sldId id="278"/>
            <p14:sldId id="279"/>
          </p14:sldIdLst>
        </p14:section>
        <p14:section name="Le paramétrage" id="{a27da765-fc53-af98-d1fe-8c596fc8605c}">
          <p14:sldIdLst>
            <p14:sldId id="280"/>
            <p14:sldId id="281"/>
            <p14:sldId id="282"/>
            <p14:sldId id="283"/>
            <p14:sldId id="284"/>
            <p14:sldId id="285"/>
          </p14:sldIdLst>
        </p14:section>
        <p14:section name="La console Makor" id="{30e1c270-8250-998d-54b9-5aa57ce5fcd6}">
          <p14:sldIdLst>
            <p14:sldId id="286"/>
            <p14:sldId id="287"/>
            <p14:sldId id="288"/>
            <p14:sldId id="289"/>
          </p14:sldIdLst>
        </p14:section>
        <p14:section name="Modules et garanties" id="{d3dca1bd-670c-bb91-e55f-e0f2b0f08c33}">
          <p14:sldIdLst>
            <p14:sldId id="290"/>
            <p14:sldId id="291"/>
            <p14:sldId id="292"/>
            <p14:sldId id="293"/>
            <p14:sldId id="294"/>
          </p14:sldIdLst>
        </p14:section>
        <p14:section name="Modules et garanties" id="{f8e6cd56-c7ee-f701-728a-614a75a8f944}">
          <p14:sldIdLst/>
        </p14:section>
        <p14:section name="Suite" id="{d2892942-6f07-6e46-59d4-09daa6fd6e75}">
          <p14:sldIdLst>
            <p14:sldId id="295"/>
            <p14:sldId id="29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notesMaster" Target="notesMasters/notesMaster1.xml"/><Relationship Id="rId44" Type="http://schemas.openxmlformats.org/officeDocument/2006/relationships/presProps" Target="presProps.xml"/><Relationship Id="rId45" Type="http://schemas.openxmlformats.org/officeDocument/2006/relationships/viewProps" Target="viewProps.xml"/><Relationship Id="rId46" Type="http://schemas.openxmlformats.org/officeDocument/2006/relationships/theme" Target="theme/theme1.xml"/><Relationship Id="rId4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Ouverture. Une plateforme en ligne, hébergée et exploitée par Makor Telecoms, qui prend en charge la réclamation du client du dépôt jusqu'à son avis final. Toutes les captures qui suivent viennent de l'application réelle, sur le jeu de démonstration de la Banque Alpha.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Quatre bénéfices, puis les rôles. Chaque rôle a son écran : le client sur son téléphone, les équipes dans une console web, Makor dans sa console de plateforme.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fil rouge de la présentation : on suit une vraie réclamation, déposée par Aminata Koné à l'agence du Plateau, du QR code jusqu'à son avis. Chaque étape est horodatée et visible du client.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portail client : une page web aux couleurs de la banque, ouverte par un QR code ou un lien. Rien à installer.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Aminata scanne le QR code du hall de l'agence du Plateau. L'assistant répond d'abord à une question d'horaires avec la réponse écrite par la banque, puis prépare sa réclamation de carte avalée. Il ne s'engage jamais à la place de la banque. Module optionnel, activable banque par banque.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formulaire reprend ce que l'assistant a compris. Aminata ajoute son nom, son téléphone, son e-mail et accepte la politique de données de la banque. Elle reçoit aussitôt son numéro, ALP-2026-000165.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messages partent automatiquement. La banque choisit un SMS à chaque étape, ou seulement au dépôt et à la résolution. Les textes sont courts et évitent les caractères qui doublent le coût d'un SMS. Les textes affichés ici sont ceux que la plateforme envoie ; l'e-mail est rendu avec le gabarit réel.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lien du SMS ouvre le suivi. Pour lire les réponses et écrire, Aminata saisit un code reçu par SMS : personne d'autre ne peut lire son dossier avec le seul lien. Elle répond à la question de l'agente dans le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banque a résolu : Aminata confirme, la réclamation est clôturée et l'enquête de satisfaction s'ouvre. Deux questions, un commentaire, moins d'une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Côté banque : une console web, sans installation. Agents et superviseurs y voient les mêmes réclamations, chacun avec ses droits.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Chaque membre du personnel a son propre compte. Après le mot de passe, un code d'une application d'authentification est demandé à ceux qui ont activé la double authentification ; la banque peut l'exiger de tous. Quatre rôles, des droits distincts, appliqués jusque dans la base de données.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 défaut, la double authentification est facultative : chacun l'active depuis « Mon compte » en scannant un QR code avec Google Authenticator ou Microsoft Authenticator. Un bandeau le rappelle à ceux qui ne l'ont pas fait. L'Admin Entreprise peut l'exiger de tout le personnel : les sessions sans code sont fermées et chacun l'active à sa connexion suivante. Les comptes Makor l'ont toujours. Nous recommandons de l'exiger dès que les équipes sont équipées.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liste du superviseur Serge Kouadio, onglet « Toutes ». En haut, une fraude suspectée, urgente. La colonne Chrono SLA montre le temps ouvré restant de chaque dossier. La réclamation d'Adjoua Koffi attend la validation de l'agent suggéré.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réclamation d'Aminata arrive chez le superviseur. La plateforme propose Mamadou Traoré, l'agent disponible le moins chargé du groupe Monétique. Serge peut valider, ou choisir quelqu'un d'autre : ici, il assigne Aya Konan.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fiche vue par l'agente Aya Konan. Elle a répondu à la cliente et laissé une note interne pour l'équipe : la note n'est jamais visible du client. Le chrono SLA reste affiché en permanence.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L'agente demande un brouillon. Elle écrit ensuite « remboursée sous 48 heures » : la plateforme signale aussitôt la promesse de délai. Elle corrige avant d'envoyer. Aucun texte ne part sans elle.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Aminata a répondu dans le chat. Son message arrive dans la boîte de réception de l'agente, qui lui répond directement. La conversation fait partie de la réclamation : même historique, même chrono.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carte est retrouvée. L'agente résout la réclamation avec une réponse finale. Le client a 5 jours pour confirmer ou contester ; sans réponse, la réclamation est clôturée automatiquement.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Une autre réclamation, restée sans traitement : à 75 % du délai, l'agent et le superviseur sont alertés ; au dépassement, elle est escaladée au superviseur puis à l'Admin Entreprise. Le retard s'affiche en rouge.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indicateurs sont calculés en temps ouvré, selon les horaires de la banque, et s'exportent en 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tableau de bord du superviseur sur les 30 derniers jours du jeu de démonstration. Le premier contact compte les réclamations résolues sans question au client, sans escalade ni réouverture.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enquêtes s'ouvrent à la clôture. Le superviseur suit le taux de réponse, la part de clients satisfaits, la note moyenne et le NPS, puis les mêmes chiffres par agent, et lit les derniers commentaires.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même tableau, limité aux réclamations de l'agente. Elle voit sa charge du moment, ses délais et l'avis de ses clients.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L'Admin Entreprise et les superviseurs voient toutes les agences de la banque sur la période choisie. Le Plateau est déplié : ses catégories, les agents qui traitent ses réclamations et son QR code du hall avec son volume. La somme des lignes donne exactement le tableau de bord ; les dépôts par lien web sans agence forment la dernière ligne.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Tout ce qui suit se règle depuis la console, par l'Admin Entreprise de la banque. Chaque modification est inscrite au journal d'audit.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Chaque catégorie a son délai cible. Le chrono ne tourne que pendant les heures d'ouverture de la banque : la nuit, le week-end et les jours fériés ne comptent pas.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QR code par emplacement (hall d'accueil, guichet…), à imprimer. Un lien web pour le site ou l'application. Le portail prend le logo et les couleurs de la banque ; le contraste est vérifié.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 modes : manuel, suggestion (le superviseur valide), automatique. Les groupes d'agents reçoivent des catégories ou des agences. Un agent absent ne reçoit rien de nouveau.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banque garde le contrôle de ce que dit l'assistant : il ne montre que des réponses écrites et validées ici. Les formulations à risque sont signalées pendant la saisie.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L'Admin Entreprise invite les agents et superviseurs, et décide si la double authentification est facultative ou exigée ; il voit qui l'a activée. Le journal d'audit restitue chaque action ; le bouton « Vérifier à nouveau » contrôle toute la chaîne.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Makor Telecoms ouvre les banques, règle leurs modules et suit la consommation. La console ne montre que des volumes et des réglages.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Chaque banque a son plan, son préfixe de numéros et son adresse de portail. Les modules s'activent un par un ; une banque suspendue garde toutes ses données.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chaque banque et chaque mois : volumes, statuts, SLA, satisfaction, SMS facturés et usage de l'assistant IA. Aucun contenu de réclamation ni de message n'apparaît.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Makor est prévenu des réclamations urgentes de toutes les banques pour réagir vite, mais l'alerte ne contient ni le nom du client ni sa description : la base de données ne les lui donne pas.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socle (dépôt, suivi, traitement, SLA, tableaux de bord, audit) est commun à toutes les banques. Ces quatre modules s'ajoutent un par un, quand la banque le souhaite. L'assistant IA s'appuie sur le chat web.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 engagements, chacun vérifié par la recette automatique qui tourne avant chaque mise à jour.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cloisonnement n'est pas seulement dans l'application : il est appliqué par la base de données elle-même. Le test de recette demande un dossier d'une autre banque, par l'API puis directement en SQL : rien ne revient.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journal d'audit est chaîné : chaque ligne contient l'empreinte de la précédente. Personne ne peut modifier ni effacer une ligne, pas même l'administrateur de la base, sans que la vérification ne le détecte. Les sauvegardes sont chiffrées, copiées hors du serveur et verrouillées : même un intrus qui prendrait le serveur ne pourrait pas les effacer.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Avant chaque mise à jour, la recette automatique rejoue tout : contrat d'API, tests unitaires, sécurité de la base, API de bout en bout, écrans dans un vrai navigateur, sauvegarde et restauration. Les temps de réponse sont mesurés sur une banque de 1 000 réclamations ; l'export CSV complet prend moins de 0,2 seconde.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Proposition de démarrage. La mise en production pour une banque suppose sa politique de données à jour et les formalités ARTCI ; l'assistant IA reste en règles seules tant que la banque n'a pas validé un fournisseur.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 Proposer une démonstration en direct : dépôt depuis un téléphone par QR code, puis traitement dans la console.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RE">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960120"/>
            <a:ext cx="5120640" cy="365760"/>
          </a:xfrm>
          <a:prstGeom prst="rect">
            <a:avLst/>
          </a:prstGeom>
          <a:noFill/>
          <a:ln/>
        </p:spPr>
        <p:txBody>
          <a:bodyPr wrap="square" rtlCol="0"/>
          <a:lstStyle>
            <a:lvl1pPr indent="0" marL="0">
              <a:buNone/>
              <a:defRPr lang="en-US" sz="1300" b="1" spc="100" kern="0" dirty="0">
                <a:solidFill>
                  <a:schemeClr val="accent2"/>
                </a:solidFill>
              </a:defRPr>
            </a:lvl1pPr>
          </a:lstStyle>
          <a:p>
            <a:pPr indent="0" marL="0">
              <a:buNone/>
            </a:pPr>
            <a:endParaRPr lang="en-US" sz="1300" dirty="0"/>
          </a:p>
        </p:txBody>
      </p:sp>
      <p:sp>
        <p:nvSpPr>
          <p:cNvPr id="3" name="Text 0"/>
          <p:cNvSpPr/>
          <p:nvPr>
            <p:ph idx="101" type="title" hasCustomPrompt="1"/>
          </p:nvPr>
        </p:nvSpPr>
        <p:spPr>
          <a:xfrm>
            <a:off x="548640" y="1371600"/>
            <a:ext cx="5120640" cy="251460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4" name="Text 0"/>
          <p:cNvSpPr/>
          <p:nvPr>
            <p:ph idx="102" type="body" hasCustomPrompt="1"/>
          </p:nvPr>
        </p:nvSpPr>
        <p:spPr>
          <a:xfrm>
            <a:off x="548640" y="3977640"/>
            <a:ext cx="4846320" cy="1371600"/>
          </a:xfrm>
          <a:prstGeom prst="rect">
            <a:avLst/>
          </a:prstGeom>
          <a:noFill/>
          <a:ln/>
        </p:spPr>
        <p:txBody>
          <a:bodyPr wrap="square" rtlCol="0"/>
          <a:lstStyle>
            <a:lvl1pPr indent="0" marL="0">
              <a:buNone/>
              <a:defRPr lang="en-US" sz="1700" dirty="0">
                <a:solidFill>
                  <a:schemeClr val="bg2"/>
                </a:solidFill>
              </a:defRPr>
            </a:lvl1pPr>
          </a:lstStyle>
          <a:p>
            <a:pPr indent="0" marL="0">
              <a:buNone/>
            </a:pPr>
            <a:endParaRPr lang="en-US" sz="1700" dirty="0"/>
          </a:p>
        </p:txBody>
      </p:sp>
      <p:sp>
        <p:nvSpPr>
          <p:cNvPr id="5" name="Text 0"/>
          <p:cNvSpPr/>
          <p:nvPr>
            <p:ph idx="103" type="body" hasCustomPrompt="1"/>
          </p:nvPr>
        </p:nvSpPr>
        <p:spPr>
          <a:xfrm>
            <a:off x="548640" y="5989320"/>
            <a:ext cx="4846320" cy="365760"/>
          </a:xfrm>
          <a:prstGeom prst="rect">
            <a:avLst/>
          </a:prstGeom>
          <a:noFill/>
          <a:ln/>
        </p:spPr>
        <p:txBody>
          <a:bodyPr wrap="square" rtlCol="0"/>
          <a:lstStyle>
            <a:lvl1pPr indent="0" marL="0">
              <a:buNone/>
              <a:defRPr lang="en-US" sz="1300" dirty="0">
                <a:solidFill>
                  <a:schemeClr val="bg2"/>
                </a:solidFill>
              </a:defRPr>
            </a:lvl1pPr>
          </a:lstStyle>
          <a:p>
            <a:pPr indent="0" marL="0">
              <a:buNone/>
            </a:pPr>
            <a:endParaRPr lang="en-US" sz="13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600200"/>
            <a:ext cx="2743200" cy="914400"/>
          </a:xfrm>
          <a:prstGeom prst="rect">
            <a:avLst/>
          </a:prstGeom>
          <a:noFill/>
          <a:ln/>
        </p:spPr>
        <p:txBody>
          <a:bodyPr wrap="square" rtlCol="0"/>
          <a:lstStyle>
            <a:lvl1pPr indent="0" marL="0">
              <a:buNone/>
              <a:defRPr lang="en-US" sz="6000" b="1" dirty="0">
                <a:solidFill>
                  <a:schemeClr val="accent2"/>
                </a:solidFill>
              </a:defRPr>
            </a:lvl1pPr>
          </a:lstStyle>
          <a:p>
            <a:pPr indent="0" marL="0">
              <a:buNone/>
            </a:pPr>
            <a:endParaRPr lang="en-US" sz="6000" dirty="0"/>
          </a:p>
        </p:txBody>
      </p:sp>
      <p:sp>
        <p:nvSpPr>
          <p:cNvPr id="3" name="Text 0"/>
          <p:cNvSpPr/>
          <p:nvPr>
            <p:ph idx="101" type="title" hasCustomPrompt="1"/>
          </p:nvPr>
        </p:nvSpPr>
        <p:spPr>
          <a:xfrm>
            <a:off x="548640" y="2560320"/>
            <a:ext cx="5486400" cy="132588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4" name="Text 0"/>
          <p:cNvSpPr/>
          <p:nvPr>
            <p:ph idx="102" type="body" hasCustomPrompt="1"/>
          </p:nvPr>
        </p:nvSpPr>
        <p:spPr>
          <a:xfrm>
            <a:off x="548640" y="4069080"/>
            <a:ext cx="5029200" cy="1371600"/>
          </a:xfrm>
          <a:prstGeom prst="rect">
            <a:avLst/>
          </a:prstGeom>
          <a:noFill/>
          <a:ln/>
        </p:spPr>
        <p:txBody>
          <a:bodyPr wrap="square" rtlCol="0"/>
          <a:lstStyle>
            <a:lvl1pPr algn="l" indent="0" marL="0">
              <a:buNone/>
              <a:defRPr lang="en-US" sz="1800" dirty="0">
                <a:solidFill>
                  <a:schemeClr val="bg2"/>
                </a:solidFill>
              </a:defRPr>
            </a:lvl1pPr>
          </a:lstStyle>
          <a:p>
            <a:pPr algn="l" indent="0" marL="0">
              <a:buNone/>
            </a:pPr>
            <a:endParaRPr lang="en-US" sz="1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U">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274320"/>
          </a:xfrm>
          <a:prstGeom prst="rect">
            <a:avLst/>
          </a:prstGeom>
          <a:noFill/>
          <a:ln/>
        </p:spPr>
        <p:txBody>
          <a:bodyPr wrap="square" rtlCol="0"/>
          <a:lstStyle>
            <a:lvl1pPr indent="0" marL="0">
              <a:buNone/>
              <a:defRPr lang="en-US" sz="1200" b="1" spc="10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603504"/>
            <a:ext cx="11091672" cy="68580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4" name="Text 0"/>
          <p:cNvSpPr/>
          <p:nvPr/>
        </p:nvSpPr>
        <p:spPr>
          <a:xfrm>
            <a:off x="548640" y="6446520"/>
            <a:ext cx="6400800" cy="256032"/>
          </a:xfrm>
          <a:prstGeom prst="rect">
            <a:avLst/>
          </a:prstGeom>
          <a:noFill/>
          <a:ln/>
        </p:spPr>
        <p:txBody>
          <a:bodyPr wrap="square" lIns="0" tIns="0" rIns="0" bIns="0" rtlCol="0" anchor="ctr"/>
          <a:lstStyle/>
          <a:p>
            <a:pPr indent="0" marL="0">
              <a:buNone/>
            </a:pPr>
            <a:r>
              <a:rPr lang="en-US" sz="1000" dirty="0">
                <a:solidFill>
                  <a:schemeClr val="accent3"/>
                </a:solidFill>
              </a:rPr>
              <a:t>Makor Telecoms · Plateforme de gestion des réclamations</a:t>
            </a:r>
            <a:endParaRPr lang="en-US" sz="1000" dirty="0"/>
          </a:p>
        </p:txBody>
      </p:sp>
      <p:sp>
        <p:nvSpPr>
          <p:cNvPr id="25" name="Slide Number Placeholder 0"/>
          <p:cNvSpPr>
            <a:spLocks noGrp="1"/>
          </p:cNvSpPr>
          <p:nvPr>
            <p:ph type="sldNum" sz="quarter" idx="4294967295"/>
          </p:nvPr>
        </p:nvSpPr>
        <p:spPr>
          <a:xfrm>
            <a:off x="11183112" y="6446520"/>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46520"/>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slideLayout" Target="../slideLayouts/slideLayout4.xml"/><Relationship Id="rId11"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slideLayout" Target="../slideLayouts/slideLayout4.xml"/><Relationship Id="rId11"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4.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4.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4.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4.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4.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4.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4.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4.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4.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4.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4.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4.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3.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4.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slideLayout" Target="../slideLayouts/slideLayout4.xml"/><Relationship Id="rId7"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slideLayout" Target="../slideLayouts/slideLayout4.xml"/><Relationship Id="rId7"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4.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3.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slideLayout" Target="../slideLayouts/slideLayout4.xml"/><Relationship Id="rId6"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slideLayout" Target="../slideLayouts/slideLayout4.xml"/><Relationship Id="rId6"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slideLayout" Target="../slideLayouts/slideLayout4.xml"/><Relationship Id="rId6"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image" Target="../media/image-29-5.png"/><Relationship Id="rId6" Type="http://schemas.openxmlformats.org/officeDocument/2006/relationships/slideLayout" Target="../slideLayouts/slideLayout4.xml"/><Relationship Id="rId7"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slideLayout" Target="../slideLayouts/slideLayout4.xml"/><Relationship Id="rId6"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3.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image" Target="../media/image-32-4.png"/><Relationship Id="rId5" Type="http://schemas.openxmlformats.org/officeDocument/2006/relationships/image" Target="../media/image-32-5.png"/><Relationship Id="rId6" Type="http://schemas.openxmlformats.org/officeDocument/2006/relationships/slideLayout" Target="../slideLayouts/slideLayout4.xml"/><Relationship Id="rId7"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image" Target="../media/image-33-4.png"/><Relationship Id="rId5" Type="http://schemas.openxmlformats.org/officeDocument/2006/relationships/image" Target="../media/image-33-5.png"/><Relationship Id="rId6" Type="http://schemas.openxmlformats.org/officeDocument/2006/relationships/image" Target="../media/image-33-6.png"/><Relationship Id="rId7" Type="http://schemas.openxmlformats.org/officeDocument/2006/relationships/slideLayout" Target="../slideLayouts/slideLayout4.xml"/><Relationship Id="rId8"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image" Target="../media/image-34-4.png"/><Relationship Id="rId5" Type="http://schemas.openxmlformats.org/officeDocument/2006/relationships/image" Target="../media/image-34-5.png"/><Relationship Id="rId6" Type="http://schemas.openxmlformats.org/officeDocument/2006/relationships/image" Target="../media/image-34-6.png"/><Relationship Id="rId7" Type="http://schemas.openxmlformats.org/officeDocument/2006/relationships/image" Target="../media/image-34-7.png"/><Relationship Id="rId8" Type="http://schemas.openxmlformats.org/officeDocument/2006/relationships/slideLayout" Target="../slideLayouts/slideLayout4.xml"/><Relationship Id="rId9"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image" Target="../media/image-35-4.png"/><Relationship Id="rId5" Type="http://schemas.openxmlformats.org/officeDocument/2006/relationships/image" Target="../media/image-35-5.png"/><Relationship Id="rId6" Type="http://schemas.openxmlformats.org/officeDocument/2006/relationships/slideLayout" Target="../slideLayouts/slideLayout4.xml"/><Relationship Id="rId7"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3.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image" Target="../media/image-37-4.png"/><Relationship Id="rId5" Type="http://schemas.openxmlformats.org/officeDocument/2006/relationships/image" Target="../media/image-37-5.png"/><Relationship Id="rId6" Type="http://schemas.openxmlformats.org/officeDocument/2006/relationships/image" Target="../media/image-37-6.png"/><Relationship Id="rId7" Type="http://schemas.openxmlformats.org/officeDocument/2006/relationships/slideLayout" Target="../slideLayouts/slideLayout4.xml"/><Relationship Id="rId8"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image" Target="../media/image-38-4.png"/><Relationship Id="rId5" Type="http://schemas.openxmlformats.org/officeDocument/2006/relationships/slideLayout" Target="../slideLayouts/slideLayout4.xml"/><Relationship Id="rId6"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image" Target="../media/image-39-3.png"/><Relationship Id="rId4" Type="http://schemas.openxmlformats.org/officeDocument/2006/relationships/image" Target="../media/image-39-4.png"/><Relationship Id="rId5" Type="http://schemas.openxmlformats.org/officeDocument/2006/relationships/image" Target="../media/image-39-5.png"/><Relationship Id="rId6" Type="http://schemas.openxmlformats.org/officeDocument/2006/relationships/image" Target="../media/image-39-6.png"/><Relationship Id="rId7" Type="http://schemas.openxmlformats.org/officeDocument/2006/relationships/slideLayout" Target="../slideLayouts/slideLayout4.xml"/><Relationship Id="rId8"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image" Target="../media/image-40-3.png"/><Relationship Id="rId4" Type="http://schemas.openxmlformats.org/officeDocument/2006/relationships/image" Target="../media/image-40-4.png"/><Relationship Id="rId5" Type="http://schemas.openxmlformats.org/officeDocument/2006/relationships/image" Target="../media/image-40-5.png"/><Relationship Id="rId6" Type="http://schemas.openxmlformats.org/officeDocument/2006/relationships/image" Target="../media/image-40-6.png"/><Relationship Id="rId7" Type="http://schemas.openxmlformats.org/officeDocument/2006/relationships/image" Target="../media/image-40-7.png"/><Relationship Id="rId8" Type="http://schemas.openxmlformats.org/officeDocument/2006/relationships/image" Target="../media/image-40-8.png"/><Relationship Id="rId9" Type="http://schemas.openxmlformats.org/officeDocument/2006/relationships/slideLayout" Target="../slideLayouts/slideLayout4.xml"/><Relationship Id="rId10"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960120"/>
            <a:ext cx="5120640" cy="365760"/>
          </a:xfrm>
          <a:prstGeom prst="rect">
            <a:avLst/>
          </a:prstGeom>
          <a:noFill/>
          <a:ln/>
        </p:spPr>
        <p:txBody>
          <a:bodyPr wrap="square" lIns="0" tIns="0" rIns="0" bIns="0" rtlCol="0" anchor="t"/>
          <a:lstStyle/>
          <a:p>
            <a:pPr indent="0" marL="0">
              <a:buNone/>
            </a:pPr>
            <a:r>
              <a:rPr lang="en-US" sz="1300" b="1" spc="100" kern="0" dirty="0">
                <a:solidFill>
                  <a:schemeClr val="accent2"/>
                </a:solidFill>
              </a:rPr>
              <a:t>MAKOR TELECOMS · SOLUTION SAAS POUR LES BANQUES</a:t>
            </a:r>
            <a:endParaRPr lang="en-US" sz="1300" dirty="0"/>
          </a:p>
        </p:txBody>
      </p:sp>
      <p:sp>
        <p:nvSpPr>
          <p:cNvPr id="3" name="Text 0"/>
          <p:cNvSpPr/>
          <p:nvPr>
            <p:ph idx="101" type="title" hasCustomPrompt="1"/>
          </p:nvPr>
        </p:nvSpPr>
        <p:spPr>
          <a:xfrm>
            <a:off x="548640" y="1371600"/>
            <a:ext cx="5120640" cy="2514600"/>
          </a:xfrm>
          <a:prstGeom prst="rect">
            <a:avLst/>
          </a:prstGeom>
          <a:noFill/>
          <a:ln/>
        </p:spPr>
        <p:txBody>
          <a:bodyPr wrap="square" lIns="0" tIns="0" rIns="0" bIns="0" rtlCol="0" anchor="t"/>
          <a:lstStyle/>
          <a:p>
            <a:pPr algn="l" indent="0" marL="0">
              <a:buNone/>
            </a:pPr>
            <a:r>
              <a:rPr lang="en-US" sz="4000" b="1" dirty="0">
                <a:solidFill>
                  <a:schemeClr val="bg1"/>
                </a:solidFill>
              </a:rPr>
              <a:t>Chaque réclamation suivie, de la plainte à la satisfaction</a:t>
            </a:r>
            <a:endParaRPr lang="en-US" sz="4000" dirty="0"/>
          </a:p>
        </p:txBody>
      </p:sp>
      <p:sp>
        <p:nvSpPr>
          <p:cNvPr id="4" name="Text 0"/>
          <p:cNvSpPr/>
          <p:nvPr>
            <p:ph idx="102" type="body" hasCustomPrompt="1"/>
          </p:nvPr>
        </p:nvSpPr>
        <p:spPr>
          <a:xfrm>
            <a:off x="548640" y="3977640"/>
            <a:ext cx="4846320" cy="1371600"/>
          </a:xfrm>
          <a:prstGeom prst="rect">
            <a:avLst/>
          </a:prstGeom>
          <a:noFill/>
          <a:ln/>
        </p:spPr>
        <p:txBody>
          <a:bodyPr wrap="square" lIns="0" tIns="0" rIns="0" bIns="0" rtlCol="0" anchor="t"/>
          <a:lstStyle/>
          <a:p>
            <a:pPr indent="0" marL="0">
              <a:buNone/>
            </a:pPr>
            <a:r>
              <a:rPr lang="en-US" sz="1700" dirty="0">
                <a:solidFill>
                  <a:schemeClr val="bg2"/>
                </a:solidFill>
              </a:rPr>
              <a:t>Dépôt par QR code, traitement chronométré, chat, assistant IA et tableaux de bord : la gestion des réclamations clients, prête à l'emploi.</a:t>
            </a:r>
            <a:endParaRPr lang="en-US" sz="1700" dirty="0"/>
          </a:p>
        </p:txBody>
      </p:sp>
      <p:sp>
        <p:nvSpPr>
          <p:cNvPr id="5" name="Text 0"/>
          <p:cNvSpPr/>
          <p:nvPr>
            <p:ph idx="103" type="body" hasCustomPrompt="1"/>
          </p:nvPr>
        </p:nvSpPr>
        <p:spPr>
          <a:xfrm>
            <a:off x="548640" y="5989320"/>
            <a:ext cx="4846320" cy="365760"/>
          </a:xfrm>
          <a:prstGeom prst="rect">
            <a:avLst/>
          </a:prstGeom>
          <a:noFill/>
          <a:ln/>
        </p:spPr>
        <p:txBody>
          <a:bodyPr wrap="square" lIns="0" tIns="0" rIns="0" bIns="0" rtlCol="0" anchor="t"/>
          <a:lstStyle/>
          <a:p>
            <a:pPr indent="0" marL="0">
              <a:buNone/>
            </a:pPr>
            <a:r>
              <a:rPr lang="en-US" sz="1300" dirty="0">
                <a:solidFill>
                  <a:schemeClr val="bg2"/>
                </a:solidFill>
              </a:rPr>
              <a:t>Présentation aux banques · octobre 2026</a:t>
            </a:r>
            <a:endParaRPr lang="en-US" sz="1300" dirty="0"/>
          </a:p>
        </p:txBody>
      </p:sp>
      <p:pic>
        <p:nvPicPr>
          <p:cNvPr id="6" name="Image 0" descr="Tableau de bord du superviseur">    </p:cNvPr>
          <p:cNvPicPr>
            <a:picLocks noChangeAspect="1"/>
          </p:cNvPicPr>
          <p:nvPr/>
        </p:nvPicPr>
        <p:blipFill>
          <a:blip r:embed="rId1"/>
          <a:stretch>
            <a:fillRect/>
          </a:stretch>
        </p:blipFill>
        <p:spPr>
          <a:xfrm>
            <a:off x="6148030" y="661630"/>
            <a:ext cx="6814900" cy="4584677"/>
          </a:xfrm>
          <a:prstGeom prst="rect">
            <a:avLst/>
          </a:prstGeom>
        </p:spPr>
      </p:pic>
      <p:pic>
        <p:nvPicPr>
          <p:cNvPr id="7" name="Image 1" descr="Portail mobile : l'assistant prépare la réclamation">    </p:cNvPr>
          <p:cNvPicPr>
            <a:picLocks noChangeAspect="1"/>
          </p:cNvPicPr>
          <p:nvPr/>
        </p:nvPicPr>
        <p:blipFill>
          <a:blip r:embed="rId2"/>
          <a:stretch>
            <a:fillRect/>
          </a:stretch>
        </p:blipFill>
        <p:spPr>
          <a:xfrm>
            <a:off x="5585292" y="2156292"/>
            <a:ext cx="2390330" cy="446565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EN BREF</a:t>
            </a:r>
            <a:endParaRPr lang="en-US" sz="1200" dirty="0"/>
          </a:p>
        </p:txBody>
      </p:sp>
      <p:sp>
        <p:nvSpPr>
          <p:cNvPr id="3" name="Text 0"/>
          <p:cNvSpPr/>
          <p:nvPr>
            <p:ph idx="101" type="title" hasCustomPrompt="1"/>
          </p:nvPr>
        </p:nvSpPr>
        <p:spPr>
          <a:xfrm>
            <a:off x="548640" y="603504"/>
            <a:ext cx="11091672" cy="685800"/>
          </a:xfrm>
          <a:prstGeom prst="rect">
            <a:avLst/>
          </a:prstGeom>
          <a:noFill/>
          <a:ln/>
        </p:spPr>
        <p:txBody>
          <a:bodyPr wrap="square" lIns="0" tIns="0" rIns="0" bIns="0" rtlCol="0" anchor="t"/>
          <a:lstStyle/>
          <a:p>
            <a:pPr algn="l" indent="0" marL="0">
              <a:buNone/>
            </a:pPr>
            <a:r>
              <a:rPr lang="en-US" sz="3600" b="1" dirty="0">
                <a:solidFill>
                  <a:schemeClr val="tx1"/>
                </a:solidFill>
              </a:rPr>
              <a:t>Ce que la plateforme change pour votre banque</a:t>
            </a:r>
            <a:endParaRPr lang="en-US" sz="3600" dirty="0"/>
          </a:p>
        </p:txBody>
      </p:sp>
      <p:sp>
        <p:nvSpPr>
          <p:cNvPr id="5" name="Promesse 1"/>
          <p:cNvSpPr/>
          <p:nvPr/>
        </p:nvSpPr>
        <p:spPr>
          <a:xfrm>
            <a:off x="548640" y="1572768"/>
            <a:ext cx="2567864" cy="3200400"/>
          </a:xfrm>
          <a:prstGeom prst="roundRect">
            <a:avLst>
              <a:gd name="adj" fmla="val 4273"/>
            </a:avLst>
          </a:prstGeom>
          <a:solidFill>
            <a:schemeClr val="bg2"/>
          </a:solidFill>
          <a:ln/>
        </p:spPr>
      </p:sp>
      <p:sp>
        <p:nvSpPr>
          <p:cNvPr id="6" name="Rond LuQrCode"/>
          <p:cNvSpPr/>
          <p:nvPr/>
        </p:nvSpPr>
        <p:spPr>
          <a:xfrm>
            <a:off x="822960" y="1810512"/>
            <a:ext cx="603504" cy="603504"/>
          </a:xfrm>
          <a:prstGeom prst="ellipse">
            <a:avLst/>
          </a:prstGeom>
          <a:solidFill>
            <a:schemeClr val="accent1"/>
          </a:solidFill>
          <a:ln/>
        </p:spPr>
      </p:sp>
      <p:pic>
        <p:nvPicPr>
          <p:cNvPr id="7" name="Image 0" descr="preencoded.png">    </p:cNvPr>
          <p:cNvPicPr>
            <a:picLocks noChangeAspect="1"/>
          </p:cNvPicPr>
          <p:nvPr/>
        </p:nvPicPr>
        <p:blipFill>
          <a:blip r:embed="rId1"/>
          <a:stretch>
            <a:fillRect/>
          </a:stretch>
        </p:blipFill>
        <p:spPr>
          <a:xfrm>
            <a:off x="961766" y="1949318"/>
            <a:ext cx="325892" cy="325892"/>
          </a:xfrm>
          <a:prstGeom prst="rect">
            <a:avLst/>
          </a:prstGeom>
        </p:spPr>
      </p:pic>
      <p:sp>
        <p:nvSpPr>
          <p:cNvPr id="8" name="Text 4"/>
          <p:cNvSpPr txBox="1"/>
          <p:nvPr/>
        </p:nvSpPr>
        <p:spPr>
          <a:xfrm>
            <a:off x="822960" y="2560320"/>
            <a:ext cx="2019224" cy="603504"/>
          </a:xfrm>
          <a:prstGeom prst="rect">
            <a:avLst/>
          </a:prstGeom>
          <a:noFill/>
          <a:ln/>
        </p:spPr>
        <p:txBody>
          <a:bodyPr wrap="square" lIns="0" tIns="0" rIns="0" bIns="0" rtlCol="0" anchor="t"/>
          <a:lstStyle/>
          <a:p>
            <a:pPr indent="0" marL="0">
              <a:buNone/>
            </a:pPr>
            <a:r>
              <a:rPr lang="en-US" sz="1800" b="1" dirty="0">
                <a:solidFill>
                  <a:schemeClr val="tx1"/>
                </a:solidFill>
              </a:rPr>
              <a:t>Un dépôt en une minute</a:t>
            </a:r>
            <a:endParaRPr lang="en-US" sz="1800" dirty="0"/>
          </a:p>
        </p:txBody>
      </p:sp>
      <p:sp>
        <p:nvSpPr>
          <p:cNvPr id="9" name="Text 5"/>
          <p:cNvSpPr txBox="1"/>
          <p:nvPr/>
        </p:nvSpPr>
        <p:spPr>
          <a:xfrm>
            <a:off x="822960" y="3218688"/>
            <a:ext cx="2019224" cy="1463040"/>
          </a:xfrm>
          <a:prstGeom prst="rect">
            <a:avLst/>
          </a:prstGeom>
          <a:noFill/>
          <a:ln/>
        </p:spPr>
        <p:txBody>
          <a:bodyPr wrap="square" lIns="0" tIns="0" rIns="0" bIns="0" rtlCol="0" anchor="t"/>
          <a:lstStyle/>
          <a:p>
            <a:pPr indent="0" marL="0">
              <a:buNone/>
            </a:pPr>
            <a:r>
              <a:rPr lang="en-US" sz="1400" dirty="0">
                <a:solidFill>
                  <a:schemeClr val="accent3"/>
                </a:solidFill>
              </a:rPr>
              <a:t>QR code en agence ou lien sur votre site : sans application ni compte. Numéro de suivi immédiat, par SMS et e-mail.</a:t>
            </a:r>
            <a:endParaRPr lang="en-US" sz="1400" dirty="0"/>
          </a:p>
        </p:txBody>
      </p:sp>
      <p:sp>
        <p:nvSpPr>
          <p:cNvPr id="10" name="Promesse 2"/>
          <p:cNvSpPr/>
          <p:nvPr/>
        </p:nvSpPr>
        <p:spPr>
          <a:xfrm>
            <a:off x="3390824" y="1572768"/>
            <a:ext cx="2567864" cy="3200400"/>
          </a:xfrm>
          <a:prstGeom prst="roundRect">
            <a:avLst>
              <a:gd name="adj" fmla="val 4273"/>
            </a:avLst>
          </a:prstGeom>
          <a:solidFill>
            <a:schemeClr val="bg2"/>
          </a:solidFill>
          <a:ln/>
        </p:spPr>
      </p:sp>
      <p:sp>
        <p:nvSpPr>
          <p:cNvPr id="11" name="Rond LuTimer"/>
          <p:cNvSpPr/>
          <p:nvPr/>
        </p:nvSpPr>
        <p:spPr>
          <a:xfrm>
            <a:off x="3665144" y="1810512"/>
            <a:ext cx="603504" cy="603504"/>
          </a:xfrm>
          <a:prstGeom prst="ellipse">
            <a:avLst/>
          </a:prstGeom>
          <a:solidFill>
            <a:schemeClr val="accent1"/>
          </a:solidFill>
          <a:ln/>
        </p:spPr>
      </p:sp>
      <p:pic>
        <p:nvPicPr>
          <p:cNvPr id="12" name="Image 1" descr="preencoded.png">    </p:cNvPr>
          <p:cNvPicPr>
            <a:picLocks noChangeAspect="1"/>
          </p:cNvPicPr>
          <p:nvPr/>
        </p:nvPicPr>
        <p:blipFill>
          <a:blip r:embed="rId2"/>
          <a:stretch>
            <a:fillRect/>
          </a:stretch>
        </p:blipFill>
        <p:spPr>
          <a:xfrm>
            <a:off x="3803950" y="1949318"/>
            <a:ext cx="325892" cy="325892"/>
          </a:xfrm>
          <a:prstGeom prst="rect">
            <a:avLst/>
          </a:prstGeom>
        </p:spPr>
      </p:pic>
      <p:sp>
        <p:nvSpPr>
          <p:cNvPr id="13" name="Text 8"/>
          <p:cNvSpPr txBox="1"/>
          <p:nvPr/>
        </p:nvSpPr>
        <p:spPr>
          <a:xfrm>
            <a:off x="3665144" y="2560320"/>
            <a:ext cx="2019224" cy="603504"/>
          </a:xfrm>
          <a:prstGeom prst="rect">
            <a:avLst/>
          </a:prstGeom>
          <a:noFill/>
          <a:ln/>
        </p:spPr>
        <p:txBody>
          <a:bodyPr wrap="square" lIns="0" tIns="0" rIns="0" bIns="0" rtlCol="0" anchor="t"/>
          <a:lstStyle/>
          <a:p>
            <a:pPr indent="0" marL="0">
              <a:buNone/>
            </a:pPr>
            <a:r>
              <a:rPr lang="en-US" sz="1800" b="1" dirty="0">
                <a:solidFill>
                  <a:schemeClr val="tx1"/>
                </a:solidFill>
              </a:rPr>
              <a:t>Des délais tenus</a:t>
            </a:r>
            <a:endParaRPr lang="en-US" sz="1800" dirty="0"/>
          </a:p>
        </p:txBody>
      </p:sp>
      <p:sp>
        <p:nvSpPr>
          <p:cNvPr id="14" name="Text 9"/>
          <p:cNvSpPr txBox="1"/>
          <p:nvPr/>
        </p:nvSpPr>
        <p:spPr>
          <a:xfrm>
            <a:off x="3665144" y="3218688"/>
            <a:ext cx="2019224" cy="1463040"/>
          </a:xfrm>
          <a:prstGeom prst="rect">
            <a:avLst/>
          </a:prstGeom>
          <a:noFill/>
          <a:ln/>
        </p:spPr>
        <p:txBody>
          <a:bodyPr wrap="square" lIns="0" tIns="0" rIns="0" bIns="0" rtlCol="0" anchor="t"/>
          <a:lstStyle/>
          <a:p>
            <a:pPr indent="0" marL="0">
              <a:buNone/>
            </a:pPr>
            <a:r>
              <a:rPr lang="en-US" sz="1400" dirty="0">
                <a:solidFill>
                  <a:schemeClr val="accent3"/>
                </a:solidFill>
              </a:rPr>
              <a:t>Un délai par catégorie, compté en heures ouvrées. Alerte à 75 % du délai, escalade au dépassement.</a:t>
            </a:r>
            <a:endParaRPr lang="en-US" sz="1400" dirty="0"/>
          </a:p>
        </p:txBody>
      </p:sp>
      <p:sp>
        <p:nvSpPr>
          <p:cNvPr id="15" name="Promesse 3"/>
          <p:cNvSpPr/>
          <p:nvPr/>
        </p:nvSpPr>
        <p:spPr>
          <a:xfrm>
            <a:off x="6233008" y="1572768"/>
            <a:ext cx="2567864" cy="3200400"/>
          </a:xfrm>
          <a:prstGeom prst="roundRect">
            <a:avLst>
              <a:gd name="adj" fmla="val 4273"/>
            </a:avLst>
          </a:prstGeom>
          <a:solidFill>
            <a:schemeClr val="bg2"/>
          </a:solidFill>
          <a:ln/>
        </p:spPr>
      </p:sp>
      <p:sp>
        <p:nvSpPr>
          <p:cNvPr id="16" name="Rond LuChartColumn"/>
          <p:cNvSpPr/>
          <p:nvPr/>
        </p:nvSpPr>
        <p:spPr>
          <a:xfrm>
            <a:off x="6507328" y="1810512"/>
            <a:ext cx="603504" cy="603504"/>
          </a:xfrm>
          <a:prstGeom prst="ellipse">
            <a:avLst/>
          </a:prstGeom>
          <a:solidFill>
            <a:schemeClr val="accent1"/>
          </a:solidFill>
          <a:ln/>
        </p:spPr>
      </p:sp>
      <p:pic>
        <p:nvPicPr>
          <p:cNvPr id="17" name="Image 2" descr="preencoded.png">    </p:cNvPr>
          <p:cNvPicPr>
            <a:picLocks noChangeAspect="1"/>
          </p:cNvPicPr>
          <p:nvPr/>
        </p:nvPicPr>
        <p:blipFill>
          <a:blip r:embed="rId3"/>
          <a:stretch>
            <a:fillRect/>
          </a:stretch>
        </p:blipFill>
        <p:spPr>
          <a:xfrm>
            <a:off x="6646134" y="1949318"/>
            <a:ext cx="325892" cy="325892"/>
          </a:xfrm>
          <a:prstGeom prst="rect">
            <a:avLst/>
          </a:prstGeom>
        </p:spPr>
      </p:pic>
      <p:sp>
        <p:nvSpPr>
          <p:cNvPr id="18" name="Text 12"/>
          <p:cNvSpPr txBox="1"/>
          <p:nvPr/>
        </p:nvSpPr>
        <p:spPr>
          <a:xfrm>
            <a:off x="6507328" y="2560320"/>
            <a:ext cx="2019224" cy="603504"/>
          </a:xfrm>
          <a:prstGeom prst="rect">
            <a:avLst/>
          </a:prstGeom>
          <a:noFill/>
          <a:ln/>
        </p:spPr>
        <p:txBody>
          <a:bodyPr wrap="square" lIns="0" tIns="0" rIns="0" bIns="0" rtlCol="0" anchor="t"/>
          <a:lstStyle/>
          <a:p>
            <a:pPr indent="0" marL="0">
              <a:buNone/>
            </a:pPr>
            <a:r>
              <a:rPr lang="en-US" sz="1800" b="1" dirty="0">
                <a:solidFill>
                  <a:schemeClr val="tx1"/>
                </a:solidFill>
              </a:rPr>
              <a:t>Une direction informée</a:t>
            </a:r>
            <a:endParaRPr lang="en-US" sz="1800" dirty="0"/>
          </a:p>
        </p:txBody>
      </p:sp>
      <p:sp>
        <p:nvSpPr>
          <p:cNvPr id="19" name="Text 13"/>
          <p:cNvSpPr txBox="1"/>
          <p:nvPr/>
        </p:nvSpPr>
        <p:spPr>
          <a:xfrm>
            <a:off x="6507328" y="3218688"/>
            <a:ext cx="2019224" cy="1463040"/>
          </a:xfrm>
          <a:prstGeom prst="rect">
            <a:avLst/>
          </a:prstGeom>
          <a:noFill/>
          <a:ln/>
        </p:spPr>
        <p:txBody>
          <a:bodyPr wrap="square" lIns="0" tIns="0" rIns="0" bIns="0" rtlCol="0" anchor="t"/>
          <a:lstStyle/>
          <a:p>
            <a:pPr indent="0" marL="0">
              <a:buNone/>
            </a:pPr>
            <a:r>
              <a:rPr lang="en-US" sz="1400" dirty="0">
                <a:solidFill>
                  <a:schemeClr val="accent3"/>
                </a:solidFill>
              </a:rPr>
              <a:t>Délais, respect du SLA, premier contact, satisfaction et NPS, agence par agence, en temps réel et en CSV.</a:t>
            </a:r>
            <a:endParaRPr lang="en-US" sz="1400" dirty="0"/>
          </a:p>
        </p:txBody>
      </p:sp>
      <p:sp>
        <p:nvSpPr>
          <p:cNvPr id="20" name="Promesse 4"/>
          <p:cNvSpPr/>
          <p:nvPr/>
        </p:nvSpPr>
        <p:spPr>
          <a:xfrm>
            <a:off x="9075191" y="1572768"/>
            <a:ext cx="2567864" cy="3200400"/>
          </a:xfrm>
          <a:prstGeom prst="roundRect">
            <a:avLst>
              <a:gd name="adj" fmla="val 4273"/>
            </a:avLst>
          </a:prstGeom>
          <a:solidFill>
            <a:schemeClr val="bg2"/>
          </a:solidFill>
          <a:ln/>
        </p:spPr>
      </p:sp>
      <p:sp>
        <p:nvSpPr>
          <p:cNvPr id="21" name="Rond LuShieldCheck"/>
          <p:cNvSpPr/>
          <p:nvPr/>
        </p:nvSpPr>
        <p:spPr>
          <a:xfrm>
            <a:off x="9349511" y="1810512"/>
            <a:ext cx="603504" cy="603504"/>
          </a:xfrm>
          <a:prstGeom prst="ellipse">
            <a:avLst/>
          </a:prstGeom>
          <a:solidFill>
            <a:schemeClr val="accent1"/>
          </a:solidFill>
          <a:ln/>
        </p:spPr>
      </p:sp>
      <p:pic>
        <p:nvPicPr>
          <p:cNvPr id="22" name="Image 3" descr="preencoded.png">    </p:cNvPr>
          <p:cNvPicPr>
            <a:picLocks noChangeAspect="1"/>
          </p:cNvPicPr>
          <p:nvPr/>
        </p:nvPicPr>
        <p:blipFill>
          <a:blip r:embed="rId4"/>
          <a:stretch>
            <a:fillRect/>
          </a:stretch>
        </p:blipFill>
        <p:spPr>
          <a:xfrm>
            <a:off x="9488317" y="1949318"/>
            <a:ext cx="325892" cy="325892"/>
          </a:xfrm>
          <a:prstGeom prst="rect">
            <a:avLst/>
          </a:prstGeom>
        </p:spPr>
      </p:pic>
      <p:sp>
        <p:nvSpPr>
          <p:cNvPr id="23" name="Text 16"/>
          <p:cNvSpPr txBox="1"/>
          <p:nvPr/>
        </p:nvSpPr>
        <p:spPr>
          <a:xfrm>
            <a:off x="9349511" y="2560320"/>
            <a:ext cx="2019224" cy="603504"/>
          </a:xfrm>
          <a:prstGeom prst="rect">
            <a:avLst/>
          </a:prstGeom>
          <a:noFill/>
          <a:ln/>
        </p:spPr>
        <p:txBody>
          <a:bodyPr wrap="square" lIns="0" tIns="0" rIns="0" bIns="0" rtlCol="0" anchor="t"/>
          <a:lstStyle/>
          <a:p>
            <a:pPr indent="0" marL="0">
              <a:buNone/>
            </a:pPr>
            <a:r>
              <a:rPr lang="en-US" sz="1800" b="1" dirty="0">
                <a:solidFill>
                  <a:schemeClr val="tx1"/>
                </a:solidFill>
              </a:rPr>
              <a:t>Des données protégées</a:t>
            </a:r>
            <a:endParaRPr lang="en-US" sz="1800" dirty="0"/>
          </a:p>
        </p:txBody>
      </p:sp>
      <p:sp>
        <p:nvSpPr>
          <p:cNvPr id="24" name="Text 17"/>
          <p:cNvSpPr txBox="1"/>
          <p:nvPr/>
        </p:nvSpPr>
        <p:spPr>
          <a:xfrm>
            <a:off x="9349511" y="3218688"/>
            <a:ext cx="2019224" cy="1463040"/>
          </a:xfrm>
          <a:prstGeom prst="rect">
            <a:avLst/>
          </a:prstGeom>
          <a:noFill/>
          <a:ln/>
        </p:spPr>
        <p:txBody>
          <a:bodyPr wrap="square" lIns="0" tIns="0" rIns="0" bIns="0" rtlCol="0" anchor="t"/>
          <a:lstStyle/>
          <a:p>
            <a:pPr indent="0" marL="0">
              <a:buNone/>
            </a:pPr>
            <a:r>
              <a:rPr lang="en-US" sz="1400" dirty="0">
                <a:solidFill>
                  <a:schemeClr val="accent3"/>
                </a:solidFill>
              </a:rPr>
              <a:t>Chaque banque est cloisonnée, chaque action tracée dans un journal que personne ne peut modifier.</a:t>
            </a:r>
            <a:endParaRPr lang="en-US" sz="1400" dirty="0"/>
          </a:p>
        </p:txBody>
      </p:sp>
      <p:sp>
        <p:nvSpPr>
          <p:cNvPr id="25" name="Text 18"/>
          <p:cNvSpPr txBox="1"/>
          <p:nvPr/>
        </p:nvSpPr>
        <p:spPr>
          <a:xfrm>
            <a:off x="548640" y="4956048"/>
            <a:ext cx="5486400" cy="292608"/>
          </a:xfrm>
          <a:prstGeom prst="rect">
            <a:avLst/>
          </a:prstGeom>
          <a:noFill/>
          <a:ln/>
        </p:spPr>
        <p:txBody>
          <a:bodyPr wrap="square" lIns="0" tIns="0" rIns="0" bIns="0" rtlCol="0" anchor="ctr"/>
          <a:lstStyle/>
          <a:p>
            <a:pPr indent="0" marL="0">
              <a:buNone/>
            </a:pPr>
            <a:r>
              <a:rPr lang="en-US" sz="1500" b="1" dirty="0">
                <a:solidFill>
                  <a:schemeClr val="tx1"/>
                </a:solidFill>
              </a:rPr>
              <a:t>Un écran pour chaque rôle</a:t>
            </a:r>
            <a:endParaRPr lang="en-US" sz="1500" dirty="0"/>
          </a:p>
        </p:txBody>
      </p:sp>
      <p:sp>
        <p:nvSpPr>
          <p:cNvPr id="26" name="Rôle Client"/>
          <p:cNvSpPr/>
          <p:nvPr/>
        </p:nvSpPr>
        <p:spPr>
          <a:xfrm>
            <a:off x="548640" y="5349240"/>
            <a:ext cx="2072579" cy="804672"/>
          </a:xfrm>
          <a:prstGeom prst="roundRect">
            <a:avLst>
              <a:gd name="adj" fmla="val 13636"/>
            </a:avLst>
          </a:prstGeom>
          <a:solidFill>
            <a:schemeClr val="bg1"/>
          </a:solidFill>
          <a:ln w="12700">
            <a:solidFill>
              <a:schemeClr val="accent5"/>
            </a:solidFill>
            <a:prstDash val="solid"/>
          </a:ln>
        </p:spPr>
      </p:sp>
      <p:sp>
        <p:nvSpPr>
          <p:cNvPr id="27" name="Rond LuSmartphone"/>
          <p:cNvSpPr/>
          <p:nvPr/>
        </p:nvSpPr>
        <p:spPr>
          <a:xfrm>
            <a:off x="713232" y="5559552"/>
            <a:ext cx="384048" cy="384048"/>
          </a:xfrm>
          <a:prstGeom prst="ellipse">
            <a:avLst/>
          </a:prstGeom>
          <a:solidFill>
            <a:schemeClr val="accent4"/>
          </a:solidFill>
          <a:ln/>
        </p:spPr>
      </p:sp>
      <p:pic>
        <p:nvPicPr>
          <p:cNvPr id="28" name="Image 4" descr="preencoded.png">    </p:cNvPr>
          <p:cNvPicPr>
            <a:picLocks noChangeAspect="1"/>
          </p:cNvPicPr>
          <p:nvPr/>
        </p:nvPicPr>
        <p:blipFill>
          <a:blip r:embed="rId5"/>
          <a:stretch>
            <a:fillRect/>
          </a:stretch>
        </p:blipFill>
        <p:spPr>
          <a:xfrm>
            <a:off x="801563" y="5647883"/>
            <a:ext cx="207386" cy="207386"/>
          </a:xfrm>
          <a:prstGeom prst="rect">
            <a:avLst/>
          </a:prstGeom>
        </p:spPr>
      </p:pic>
      <p:sp>
        <p:nvSpPr>
          <p:cNvPr id="29" name="Text 21"/>
          <p:cNvSpPr txBox="1"/>
          <p:nvPr/>
        </p:nvSpPr>
        <p:spPr>
          <a:xfrm>
            <a:off x="1207008" y="5394960"/>
            <a:ext cx="1341059" cy="713232"/>
          </a:xfrm>
          <a:prstGeom prst="rect">
            <a:avLst/>
          </a:prstGeom>
          <a:noFill/>
          <a:ln/>
        </p:spPr>
        <p:txBody>
          <a:bodyPr wrap="square" lIns="0" tIns="0" rIns="0" bIns="0" rtlCol="0" anchor="ctr"/>
          <a:lstStyle/>
          <a:p>
            <a:pPr indent="0" marL="0">
              <a:buNone/>
            </a:pPr>
            <a:r>
              <a:rPr lang="en-US" sz="1400" b="1" dirty="0">
                <a:solidFill>
                  <a:schemeClr val="tx1"/>
                </a:solidFill>
              </a:rPr>
              <a:t>Client</a:t>
            </a:r>
            <a:endParaRPr lang="en-US" sz="1400" dirty="0"/>
          </a:p>
          <a:p>
            <a:pPr indent="0" marL="0">
              <a:buNone/>
            </a:pPr>
            <a:r>
              <a:rPr lang="en-US" sz="1400" dirty="0">
                <a:solidFill>
                  <a:schemeClr val="accent3"/>
                </a:solidFill>
              </a:rPr>
              <a:t>dépose et suit</a:t>
            </a:r>
            <a:endParaRPr lang="en-US" sz="1400" dirty="0"/>
          </a:p>
        </p:txBody>
      </p:sp>
      <p:sp>
        <p:nvSpPr>
          <p:cNvPr id="30" name="Rôle Agent"/>
          <p:cNvSpPr/>
          <p:nvPr/>
        </p:nvSpPr>
        <p:spPr>
          <a:xfrm>
            <a:off x="2804099" y="5349240"/>
            <a:ext cx="2072579" cy="804672"/>
          </a:xfrm>
          <a:prstGeom prst="roundRect">
            <a:avLst>
              <a:gd name="adj" fmla="val 13636"/>
            </a:avLst>
          </a:prstGeom>
          <a:solidFill>
            <a:schemeClr val="bg1"/>
          </a:solidFill>
          <a:ln w="12700">
            <a:solidFill>
              <a:schemeClr val="accent5"/>
            </a:solidFill>
            <a:prstDash val="solid"/>
          </a:ln>
        </p:spPr>
      </p:sp>
      <p:sp>
        <p:nvSpPr>
          <p:cNvPr id="31" name="Rond LuUserCheck"/>
          <p:cNvSpPr/>
          <p:nvPr/>
        </p:nvSpPr>
        <p:spPr>
          <a:xfrm>
            <a:off x="2968691" y="5559552"/>
            <a:ext cx="384048" cy="384048"/>
          </a:xfrm>
          <a:prstGeom prst="ellipse">
            <a:avLst/>
          </a:prstGeom>
          <a:solidFill>
            <a:schemeClr val="accent4"/>
          </a:solidFill>
          <a:ln/>
        </p:spPr>
      </p:sp>
      <p:pic>
        <p:nvPicPr>
          <p:cNvPr id="32" name="Image 5" descr="preencoded.png">    </p:cNvPr>
          <p:cNvPicPr>
            <a:picLocks noChangeAspect="1"/>
          </p:cNvPicPr>
          <p:nvPr/>
        </p:nvPicPr>
        <p:blipFill>
          <a:blip r:embed="rId6"/>
          <a:stretch>
            <a:fillRect/>
          </a:stretch>
        </p:blipFill>
        <p:spPr>
          <a:xfrm>
            <a:off x="3057022" y="5647883"/>
            <a:ext cx="207386" cy="207386"/>
          </a:xfrm>
          <a:prstGeom prst="rect">
            <a:avLst/>
          </a:prstGeom>
        </p:spPr>
      </p:pic>
      <p:sp>
        <p:nvSpPr>
          <p:cNvPr id="33" name="Text 24"/>
          <p:cNvSpPr txBox="1"/>
          <p:nvPr/>
        </p:nvSpPr>
        <p:spPr>
          <a:xfrm>
            <a:off x="3462467" y="5394960"/>
            <a:ext cx="1341059" cy="713232"/>
          </a:xfrm>
          <a:prstGeom prst="rect">
            <a:avLst/>
          </a:prstGeom>
          <a:noFill/>
          <a:ln/>
        </p:spPr>
        <p:txBody>
          <a:bodyPr wrap="square" lIns="0" tIns="0" rIns="0" bIns="0" rtlCol="0" anchor="ctr"/>
          <a:lstStyle/>
          <a:p>
            <a:pPr indent="0" marL="0">
              <a:buNone/>
            </a:pPr>
            <a:r>
              <a:rPr lang="en-US" sz="1400" b="1" dirty="0">
                <a:solidFill>
                  <a:schemeClr val="tx1"/>
                </a:solidFill>
              </a:rPr>
              <a:t>Agent</a:t>
            </a:r>
            <a:endParaRPr lang="en-US" sz="1400" dirty="0"/>
          </a:p>
          <a:p>
            <a:pPr indent="0" marL="0">
              <a:buNone/>
            </a:pPr>
            <a:r>
              <a:rPr lang="en-US" sz="1400" dirty="0">
                <a:solidFill>
                  <a:schemeClr val="accent3"/>
                </a:solidFill>
              </a:rPr>
              <a:t>traite et répond</a:t>
            </a:r>
            <a:endParaRPr lang="en-US" sz="1400" dirty="0"/>
          </a:p>
        </p:txBody>
      </p:sp>
      <p:sp>
        <p:nvSpPr>
          <p:cNvPr id="34" name="Rôle Superviseur"/>
          <p:cNvSpPr/>
          <p:nvPr/>
        </p:nvSpPr>
        <p:spPr>
          <a:xfrm>
            <a:off x="5059558" y="5349240"/>
            <a:ext cx="2072579" cy="804672"/>
          </a:xfrm>
          <a:prstGeom prst="roundRect">
            <a:avLst>
              <a:gd name="adj" fmla="val 13636"/>
            </a:avLst>
          </a:prstGeom>
          <a:solidFill>
            <a:schemeClr val="bg1"/>
          </a:solidFill>
          <a:ln w="12700">
            <a:solidFill>
              <a:schemeClr val="accent5"/>
            </a:solidFill>
            <a:prstDash val="solid"/>
          </a:ln>
        </p:spPr>
      </p:sp>
      <p:sp>
        <p:nvSpPr>
          <p:cNvPr id="35" name="Rond LuUsers"/>
          <p:cNvSpPr/>
          <p:nvPr/>
        </p:nvSpPr>
        <p:spPr>
          <a:xfrm>
            <a:off x="5224150" y="5559552"/>
            <a:ext cx="384048" cy="384048"/>
          </a:xfrm>
          <a:prstGeom prst="ellipse">
            <a:avLst/>
          </a:prstGeom>
          <a:solidFill>
            <a:schemeClr val="accent4"/>
          </a:solidFill>
          <a:ln/>
        </p:spPr>
      </p:sp>
      <p:pic>
        <p:nvPicPr>
          <p:cNvPr id="36" name="Image 6" descr="preencoded.png">    </p:cNvPr>
          <p:cNvPicPr>
            <a:picLocks noChangeAspect="1"/>
          </p:cNvPicPr>
          <p:nvPr/>
        </p:nvPicPr>
        <p:blipFill>
          <a:blip r:embed="rId7"/>
          <a:stretch>
            <a:fillRect/>
          </a:stretch>
        </p:blipFill>
        <p:spPr>
          <a:xfrm>
            <a:off x="5312481" y="5647883"/>
            <a:ext cx="207386" cy="207386"/>
          </a:xfrm>
          <a:prstGeom prst="rect">
            <a:avLst/>
          </a:prstGeom>
        </p:spPr>
      </p:pic>
      <p:sp>
        <p:nvSpPr>
          <p:cNvPr id="37" name="Text 27"/>
          <p:cNvSpPr txBox="1"/>
          <p:nvPr/>
        </p:nvSpPr>
        <p:spPr>
          <a:xfrm>
            <a:off x="5717926" y="5394960"/>
            <a:ext cx="1341059" cy="713232"/>
          </a:xfrm>
          <a:prstGeom prst="rect">
            <a:avLst/>
          </a:prstGeom>
          <a:noFill/>
          <a:ln/>
        </p:spPr>
        <p:txBody>
          <a:bodyPr wrap="square" lIns="0" tIns="0" rIns="0" bIns="0" rtlCol="0" anchor="ctr"/>
          <a:lstStyle/>
          <a:p>
            <a:pPr indent="0" marL="0">
              <a:buNone/>
            </a:pPr>
            <a:r>
              <a:rPr lang="en-US" sz="1400" b="1" dirty="0">
                <a:solidFill>
                  <a:schemeClr val="tx1"/>
                </a:solidFill>
              </a:rPr>
              <a:t>Superviseur</a:t>
            </a:r>
            <a:endParaRPr lang="en-US" sz="1400" dirty="0"/>
          </a:p>
          <a:p>
            <a:pPr indent="0" marL="0">
              <a:buNone/>
            </a:pPr>
            <a:r>
              <a:rPr lang="en-US" sz="1400" dirty="0">
                <a:solidFill>
                  <a:schemeClr val="accent3"/>
                </a:solidFill>
              </a:rPr>
              <a:t>répartit et pilote</a:t>
            </a:r>
            <a:endParaRPr lang="en-US" sz="1400" dirty="0"/>
          </a:p>
        </p:txBody>
      </p:sp>
      <p:sp>
        <p:nvSpPr>
          <p:cNvPr id="38" name="Rôle Admin Entreprise"/>
          <p:cNvSpPr/>
          <p:nvPr/>
        </p:nvSpPr>
        <p:spPr>
          <a:xfrm>
            <a:off x="7315017" y="5349240"/>
            <a:ext cx="2072579" cy="804672"/>
          </a:xfrm>
          <a:prstGeom prst="roundRect">
            <a:avLst>
              <a:gd name="adj" fmla="val 13636"/>
            </a:avLst>
          </a:prstGeom>
          <a:solidFill>
            <a:schemeClr val="bg1"/>
          </a:solidFill>
          <a:ln w="12700">
            <a:solidFill>
              <a:schemeClr val="accent5"/>
            </a:solidFill>
            <a:prstDash val="solid"/>
          </a:ln>
        </p:spPr>
      </p:sp>
      <p:sp>
        <p:nvSpPr>
          <p:cNvPr id="39" name="Rond LuSettings"/>
          <p:cNvSpPr/>
          <p:nvPr/>
        </p:nvSpPr>
        <p:spPr>
          <a:xfrm>
            <a:off x="7479609" y="5559552"/>
            <a:ext cx="384048" cy="384048"/>
          </a:xfrm>
          <a:prstGeom prst="ellipse">
            <a:avLst/>
          </a:prstGeom>
          <a:solidFill>
            <a:schemeClr val="accent4"/>
          </a:solidFill>
          <a:ln/>
        </p:spPr>
      </p:sp>
      <p:pic>
        <p:nvPicPr>
          <p:cNvPr id="40" name="Image 7" descr="preencoded.png">    </p:cNvPr>
          <p:cNvPicPr>
            <a:picLocks noChangeAspect="1"/>
          </p:cNvPicPr>
          <p:nvPr/>
        </p:nvPicPr>
        <p:blipFill>
          <a:blip r:embed="rId8"/>
          <a:stretch>
            <a:fillRect/>
          </a:stretch>
        </p:blipFill>
        <p:spPr>
          <a:xfrm>
            <a:off x="7567940" y="5647883"/>
            <a:ext cx="207386" cy="207386"/>
          </a:xfrm>
          <a:prstGeom prst="rect">
            <a:avLst/>
          </a:prstGeom>
        </p:spPr>
      </p:pic>
      <p:sp>
        <p:nvSpPr>
          <p:cNvPr id="41" name="Text 30"/>
          <p:cNvSpPr txBox="1"/>
          <p:nvPr/>
        </p:nvSpPr>
        <p:spPr>
          <a:xfrm>
            <a:off x="7973385" y="5394960"/>
            <a:ext cx="1341059" cy="713232"/>
          </a:xfrm>
          <a:prstGeom prst="rect">
            <a:avLst/>
          </a:prstGeom>
          <a:noFill/>
          <a:ln/>
        </p:spPr>
        <p:txBody>
          <a:bodyPr wrap="square" lIns="0" tIns="0" rIns="0" bIns="0" rtlCol="0" anchor="ctr"/>
          <a:lstStyle/>
          <a:p>
            <a:pPr indent="0" marL="0">
              <a:buNone/>
            </a:pPr>
            <a:r>
              <a:rPr lang="en-US" sz="1400" b="1" dirty="0">
                <a:solidFill>
                  <a:schemeClr val="tx1"/>
                </a:solidFill>
              </a:rPr>
              <a:t>Admin Entreprise</a:t>
            </a:r>
            <a:endParaRPr lang="en-US" sz="1400" dirty="0"/>
          </a:p>
          <a:p>
            <a:pPr indent="0" marL="0">
              <a:buNone/>
            </a:pPr>
            <a:r>
              <a:rPr lang="en-US" sz="1400" dirty="0">
                <a:solidFill>
                  <a:schemeClr val="accent3"/>
                </a:solidFill>
              </a:rPr>
              <a:t>paramètre la banque</a:t>
            </a:r>
            <a:endParaRPr lang="en-US" sz="1400" dirty="0"/>
          </a:p>
        </p:txBody>
      </p:sp>
      <p:sp>
        <p:nvSpPr>
          <p:cNvPr id="42" name="Rôle Makor Telecoms"/>
          <p:cNvSpPr/>
          <p:nvPr/>
        </p:nvSpPr>
        <p:spPr>
          <a:xfrm>
            <a:off x="9570476" y="5349240"/>
            <a:ext cx="2072579" cy="804672"/>
          </a:xfrm>
          <a:prstGeom prst="roundRect">
            <a:avLst>
              <a:gd name="adj" fmla="val 13636"/>
            </a:avLst>
          </a:prstGeom>
          <a:solidFill>
            <a:schemeClr val="bg1"/>
          </a:solidFill>
          <a:ln w="12700">
            <a:solidFill>
              <a:schemeClr val="accent5"/>
            </a:solidFill>
            <a:prstDash val="solid"/>
          </a:ln>
        </p:spPr>
      </p:sp>
      <p:sp>
        <p:nvSpPr>
          <p:cNvPr id="43" name="Rond LuServer"/>
          <p:cNvSpPr/>
          <p:nvPr/>
        </p:nvSpPr>
        <p:spPr>
          <a:xfrm>
            <a:off x="9735068" y="5559552"/>
            <a:ext cx="384048" cy="384048"/>
          </a:xfrm>
          <a:prstGeom prst="ellipse">
            <a:avLst/>
          </a:prstGeom>
          <a:solidFill>
            <a:schemeClr val="accent4"/>
          </a:solidFill>
          <a:ln/>
        </p:spPr>
      </p:sp>
      <p:pic>
        <p:nvPicPr>
          <p:cNvPr id="44" name="Image 8" descr="preencoded.png">    </p:cNvPr>
          <p:cNvPicPr>
            <a:picLocks noChangeAspect="1"/>
          </p:cNvPicPr>
          <p:nvPr/>
        </p:nvPicPr>
        <p:blipFill>
          <a:blip r:embed="rId9"/>
          <a:stretch>
            <a:fillRect/>
          </a:stretch>
        </p:blipFill>
        <p:spPr>
          <a:xfrm>
            <a:off x="9823399" y="5647883"/>
            <a:ext cx="207386" cy="207386"/>
          </a:xfrm>
          <a:prstGeom prst="rect">
            <a:avLst/>
          </a:prstGeom>
        </p:spPr>
      </p:pic>
      <p:sp>
        <p:nvSpPr>
          <p:cNvPr id="45" name="Text 33"/>
          <p:cNvSpPr txBox="1"/>
          <p:nvPr/>
        </p:nvSpPr>
        <p:spPr>
          <a:xfrm>
            <a:off x="10228844" y="5394960"/>
            <a:ext cx="1341059" cy="713232"/>
          </a:xfrm>
          <a:prstGeom prst="rect">
            <a:avLst/>
          </a:prstGeom>
          <a:noFill/>
          <a:ln/>
        </p:spPr>
        <p:txBody>
          <a:bodyPr wrap="square" lIns="0" tIns="0" rIns="0" bIns="0" rtlCol="0" anchor="ctr"/>
          <a:lstStyle/>
          <a:p>
            <a:pPr indent="0" marL="0">
              <a:buNone/>
            </a:pPr>
            <a:r>
              <a:rPr lang="en-US" sz="1400" b="1" dirty="0">
                <a:solidFill>
                  <a:schemeClr val="tx1"/>
                </a:solidFill>
              </a:rPr>
              <a:t>Makor Telecoms</a:t>
            </a:r>
            <a:endParaRPr lang="en-US" sz="1400" dirty="0"/>
          </a:p>
          <a:p>
            <a:pPr indent="0" marL="0">
              <a:buNone/>
            </a:pPr>
            <a:r>
              <a:rPr lang="en-US" sz="1400" dirty="0">
                <a:solidFill>
                  <a:schemeClr val="accent3"/>
                </a:solidFill>
              </a:rPr>
              <a:t>héberge et exploite</a:t>
            </a:r>
            <a:endParaRPr lang="en-US" sz="1400" dirty="0"/>
          </a:p>
        </p:txBody>
      </p:sp>
      <p:sp>
        <p:nvSpPr>
          <p:cNvPr id="25" name="Slide Number Placeholder 0"/>
          <p:cNvSpPr>
            <a:spLocks noGrp="1"/>
          </p:cNvSpPr>
          <p:nvPr>
            <p:ph type="sldNum" sz="quarter" idx="4294967295"/>
          </p:nvPr>
        </p:nvSpPr>
        <p:spPr>
          <a:xfrm>
            <a:off x="11183112" y="6446520"/>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LE PARCOURS</a:t>
            </a:r>
            <a:endParaRPr lang="en-US" sz="1200" dirty="0"/>
          </a:p>
        </p:txBody>
      </p:sp>
      <p:sp>
        <p:nvSpPr>
          <p:cNvPr id="3" name="Text 0"/>
          <p:cNvSpPr/>
          <p:nvPr>
            <p:ph idx="101" type="title" hasCustomPrompt="1"/>
          </p:nvPr>
        </p:nvSpPr>
        <p:spPr>
          <a:xfrm>
            <a:off x="548640" y="603504"/>
            <a:ext cx="11091672" cy="685800"/>
          </a:xfrm>
          <a:prstGeom prst="rect">
            <a:avLst/>
          </a:prstGeom>
          <a:noFill/>
          <a:ln/>
        </p:spPr>
        <p:txBody>
          <a:bodyPr wrap="square" lIns="0" tIns="0" rIns="0" bIns="0" rtlCol="0" anchor="t"/>
          <a:lstStyle/>
          <a:p>
            <a:pPr algn="l" indent="0" marL="0">
              <a:buNone/>
            </a:pPr>
            <a:r>
              <a:rPr lang="en-US" sz="3600" b="1" dirty="0">
                <a:solidFill>
                  <a:schemeClr val="tx1"/>
                </a:solidFill>
              </a:rPr>
              <a:t>Le parcours d'une réclamation, de bout en bout</a:t>
            </a:r>
            <a:endParaRPr lang="en-US" sz="3600" dirty="0"/>
          </a:p>
        </p:txBody>
      </p:sp>
      <p:sp>
        <p:nvSpPr>
          <p:cNvPr id="5" name="Liaison des étapes"/>
          <p:cNvSpPr/>
          <p:nvPr/>
        </p:nvSpPr>
        <p:spPr>
          <a:xfrm>
            <a:off x="1473175" y="2125980"/>
            <a:ext cx="9245346" cy="0"/>
          </a:xfrm>
          <a:prstGeom prst="line">
            <a:avLst/>
          </a:prstGeom>
          <a:noFill/>
          <a:ln w="38100">
            <a:solidFill>
              <a:schemeClr val="accent5"/>
            </a:solidFill>
            <a:prstDash val="solid"/>
          </a:ln>
        </p:spPr>
      </p:sp>
      <p:sp>
        <p:nvSpPr>
          <p:cNvPr id="6" name="Rond LuQrCode"/>
          <p:cNvSpPr/>
          <p:nvPr/>
        </p:nvSpPr>
        <p:spPr>
          <a:xfrm>
            <a:off x="1038835" y="1691640"/>
            <a:ext cx="868680" cy="868680"/>
          </a:xfrm>
          <a:prstGeom prst="ellipse">
            <a:avLst/>
          </a:prstGeom>
          <a:solidFill>
            <a:schemeClr val="accent1"/>
          </a:solidFill>
          <a:ln/>
        </p:spPr>
      </p:sp>
      <p:pic>
        <p:nvPicPr>
          <p:cNvPr id="7" name="Image 0" descr="preencoded.png">    </p:cNvPr>
          <p:cNvPicPr>
            <a:picLocks noChangeAspect="1"/>
          </p:cNvPicPr>
          <p:nvPr/>
        </p:nvPicPr>
        <p:blipFill>
          <a:blip r:embed="rId1"/>
          <a:stretch>
            <a:fillRect/>
          </a:stretch>
        </p:blipFill>
        <p:spPr>
          <a:xfrm>
            <a:off x="1238631" y="1891436"/>
            <a:ext cx="469087" cy="469087"/>
          </a:xfrm>
          <a:prstGeom prst="rect">
            <a:avLst/>
          </a:prstGeom>
        </p:spPr>
      </p:pic>
      <p:sp>
        <p:nvSpPr>
          <p:cNvPr id="8" name="Pastille 1"/>
          <p:cNvSpPr/>
          <p:nvPr/>
        </p:nvSpPr>
        <p:spPr>
          <a:xfrm>
            <a:off x="1697203" y="1627632"/>
            <a:ext cx="310896" cy="310896"/>
          </a:xfrm>
          <a:prstGeom prst="ellipse">
            <a:avLst/>
          </a:prstGeom>
          <a:solidFill>
            <a:schemeClr val="accent2"/>
          </a:solidFill>
          <a:ln w="19050">
            <a:solidFill>
              <a:schemeClr val="bg1"/>
            </a:solidFill>
            <a:prstDash val="solid"/>
          </a:ln>
          <a:effectLst>
            <a:outerShdw sx="100000" sy="100000" kx="0" ky="0" algn="bl" rotWithShape="0" blurRad="38100" dist="12700" dir="5400000">
              <a:srgbClr val="0E1C24">
                <a:alpha val="30000"/>
              </a:srgbClr>
            </a:outerShdw>
          </a:effectLst>
        </p:spPr>
      </p:sp>
      <p:sp>
        <p:nvSpPr>
          <p:cNvPr id="9" name="Text 5"/>
          <p:cNvSpPr txBox="1"/>
          <p:nvPr/>
        </p:nvSpPr>
        <p:spPr>
          <a:xfrm>
            <a:off x="1697203" y="1627632"/>
            <a:ext cx="310896" cy="310896"/>
          </a:xfrm>
          <a:prstGeom prst="rect">
            <a:avLst/>
          </a:prstGeom>
          <a:noFill/>
          <a:ln/>
        </p:spPr>
        <p:txBody>
          <a:bodyPr wrap="square" lIns="0" tIns="0" rIns="0" bIns="0" rtlCol="0" anchor="ctr"/>
          <a:lstStyle/>
          <a:p>
            <a:pPr algn="ctr" indent="0" marL="0">
              <a:buNone/>
            </a:pPr>
            <a:r>
              <a:rPr lang="en-US" sz="1400" b="1" dirty="0">
                <a:solidFill>
                  <a:schemeClr val="tx2"/>
                </a:solidFill>
              </a:rPr>
              <a:t>1</a:t>
            </a:r>
            <a:endParaRPr lang="en-US" sz="1400" dirty="0"/>
          </a:p>
        </p:txBody>
      </p:sp>
      <p:sp>
        <p:nvSpPr>
          <p:cNvPr id="10" name="Text 6"/>
          <p:cNvSpPr txBox="1"/>
          <p:nvPr/>
        </p:nvSpPr>
        <p:spPr>
          <a:xfrm>
            <a:off x="621792" y="2697480"/>
            <a:ext cx="1702765" cy="365760"/>
          </a:xfrm>
          <a:prstGeom prst="rect">
            <a:avLst/>
          </a:prstGeom>
          <a:noFill/>
          <a:ln/>
        </p:spPr>
        <p:txBody>
          <a:bodyPr wrap="square" lIns="0" tIns="0" rIns="0" bIns="0" rtlCol="0" anchor="ctr"/>
          <a:lstStyle/>
          <a:p>
            <a:pPr algn="ctr" indent="0" marL="0">
              <a:buNone/>
            </a:pPr>
            <a:r>
              <a:rPr lang="en-US" sz="1800" b="1" dirty="0">
                <a:solidFill>
                  <a:schemeClr val="tx1"/>
                </a:solidFill>
              </a:rPr>
              <a:t>Dépôt</a:t>
            </a:r>
            <a:endParaRPr lang="en-US" sz="1800" dirty="0"/>
          </a:p>
        </p:txBody>
      </p:sp>
      <p:sp>
        <p:nvSpPr>
          <p:cNvPr id="11" name="Text 7"/>
          <p:cNvSpPr txBox="1"/>
          <p:nvPr/>
        </p:nvSpPr>
        <p:spPr>
          <a:xfrm>
            <a:off x="658368" y="3081528"/>
            <a:ext cx="1629613" cy="868680"/>
          </a:xfrm>
          <a:prstGeom prst="rect">
            <a:avLst/>
          </a:prstGeom>
          <a:noFill/>
          <a:ln/>
        </p:spPr>
        <p:txBody>
          <a:bodyPr wrap="square" lIns="0" tIns="0" rIns="0" bIns="0" rtlCol="0" anchor="t"/>
          <a:lstStyle/>
          <a:p>
            <a:pPr algn="ctr" indent="0" marL="0">
              <a:buNone/>
            </a:pPr>
            <a:r>
              <a:rPr lang="en-US" sz="1400" dirty="0">
                <a:solidFill>
                  <a:schemeClr val="accent3"/>
                </a:solidFill>
              </a:rPr>
              <a:t>QR code, lien ou assistant ; numéro immédiat</a:t>
            </a:r>
            <a:endParaRPr lang="en-US" sz="1400" dirty="0"/>
          </a:p>
        </p:txBody>
      </p:sp>
      <p:sp>
        <p:nvSpPr>
          <p:cNvPr id="12" name="Rôle étape 1"/>
          <p:cNvSpPr/>
          <p:nvPr/>
        </p:nvSpPr>
        <p:spPr>
          <a:xfrm>
            <a:off x="741655" y="4023360"/>
            <a:ext cx="1463040" cy="329184"/>
          </a:xfrm>
          <a:prstGeom prst="roundRect">
            <a:avLst>
              <a:gd name="adj" fmla="val 50000"/>
            </a:avLst>
          </a:prstGeom>
          <a:solidFill>
            <a:schemeClr val="accent4"/>
          </a:solidFill>
          <a:ln/>
        </p:spPr>
      </p:sp>
      <p:sp>
        <p:nvSpPr>
          <p:cNvPr id="13" name="Text 9"/>
          <p:cNvSpPr txBox="1"/>
          <p:nvPr/>
        </p:nvSpPr>
        <p:spPr>
          <a:xfrm>
            <a:off x="741655" y="4023360"/>
            <a:ext cx="1463040" cy="329184"/>
          </a:xfrm>
          <a:prstGeom prst="rect">
            <a:avLst/>
          </a:prstGeom>
          <a:noFill/>
          <a:ln/>
        </p:spPr>
        <p:txBody>
          <a:bodyPr wrap="square" lIns="0" tIns="0" rIns="0" bIns="0" rtlCol="0" anchor="ctr"/>
          <a:lstStyle/>
          <a:p>
            <a:pPr algn="ctr" indent="0" marL="0">
              <a:buNone/>
            </a:pPr>
            <a:r>
              <a:rPr lang="en-US" sz="1200" b="1" dirty="0">
                <a:solidFill>
                  <a:schemeClr val="accent1"/>
                </a:solidFill>
              </a:rPr>
              <a:t>Client</a:t>
            </a:r>
            <a:endParaRPr lang="en-US" sz="1200" dirty="0"/>
          </a:p>
        </p:txBody>
      </p:sp>
      <p:sp>
        <p:nvSpPr>
          <p:cNvPr id="14" name="Rond LuBellRing"/>
          <p:cNvSpPr/>
          <p:nvPr/>
        </p:nvSpPr>
        <p:spPr>
          <a:xfrm>
            <a:off x="2887904" y="1691640"/>
            <a:ext cx="868680" cy="868680"/>
          </a:xfrm>
          <a:prstGeom prst="ellipse">
            <a:avLst/>
          </a:prstGeom>
          <a:solidFill>
            <a:schemeClr val="accent1"/>
          </a:solidFill>
          <a:ln/>
        </p:spPr>
      </p:sp>
      <p:pic>
        <p:nvPicPr>
          <p:cNvPr id="15" name="Image 1" descr="preencoded.png">    </p:cNvPr>
          <p:cNvPicPr>
            <a:picLocks noChangeAspect="1"/>
          </p:cNvPicPr>
          <p:nvPr/>
        </p:nvPicPr>
        <p:blipFill>
          <a:blip r:embed="rId2"/>
          <a:stretch>
            <a:fillRect/>
          </a:stretch>
        </p:blipFill>
        <p:spPr>
          <a:xfrm>
            <a:off x="3087700" y="1891436"/>
            <a:ext cx="469087" cy="469087"/>
          </a:xfrm>
          <a:prstGeom prst="rect">
            <a:avLst/>
          </a:prstGeom>
        </p:spPr>
      </p:pic>
      <p:sp>
        <p:nvSpPr>
          <p:cNvPr id="16" name="Pastille 2"/>
          <p:cNvSpPr/>
          <p:nvPr/>
        </p:nvSpPr>
        <p:spPr>
          <a:xfrm>
            <a:off x="3546272" y="1627632"/>
            <a:ext cx="310896" cy="310896"/>
          </a:xfrm>
          <a:prstGeom prst="ellipse">
            <a:avLst/>
          </a:prstGeom>
          <a:solidFill>
            <a:schemeClr val="accent2"/>
          </a:solidFill>
          <a:ln w="19050">
            <a:solidFill>
              <a:schemeClr val="bg1"/>
            </a:solidFill>
            <a:prstDash val="solid"/>
          </a:ln>
          <a:effectLst>
            <a:outerShdw sx="100000" sy="100000" kx="0" ky="0" algn="bl" rotWithShape="0" blurRad="38100" dist="12700" dir="5400000">
              <a:srgbClr val="0E1C24">
                <a:alpha val="30000"/>
              </a:srgbClr>
            </a:outerShdw>
          </a:effectLst>
        </p:spPr>
      </p:sp>
      <p:sp>
        <p:nvSpPr>
          <p:cNvPr id="17" name="Text 12"/>
          <p:cNvSpPr txBox="1"/>
          <p:nvPr/>
        </p:nvSpPr>
        <p:spPr>
          <a:xfrm>
            <a:off x="3546272" y="1627632"/>
            <a:ext cx="310896" cy="310896"/>
          </a:xfrm>
          <a:prstGeom prst="rect">
            <a:avLst/>
          </a:prstGeom>
          <a:noFill/>
          <a:ln/>
        </p:spPr>
        <p:txBody>
          <a:bodyPr wrap="square" lIns="0" tIns="0" rIns="0" bIns="0" rtlCol="0" anchor="ctr"/>
          <a:lstStyle/>
          <a:p>
            <a:pPr algn="ctr" indent="0" marL="0">
              <a:buNone/>
            </a:pPr>
            <a:r>
              <a:rPr lang="en-US" sz="1400" b="1" dirty="0">
                <a:solidFill>
                  <a:schemeClr val="tx2"/>
                </a:solidFill>
              </a:rPr>
              <a:t>2</a:t>
            </a:r>
            <a:endParaRPr lang="en-US" sz="1400" dirty="0"/>
          </a:p>
        </p:txBody>
      </p:sp>
      <p:sp>
        <p:nvSpPr>
          <p:cNvPr id="18" name="Text 13"/>
          <p:cNvSpPr txBox="1"/>
          <p:nvPr/>
        </p:nvSpPr>
        <p:spPr>
          <a:xfrm>
            <a:off x="2470861" y="2697480"/>
            <a:ext cx="1702765" cy="365760"/>
          </a:xfrm>
          <a:prstGeom prst="rect">
            <a:avLst/>
          </a:prstGeom>
          <a:noFill/>
          <a:ln/>
        </p:spPr>
        <p:txBody>
          <a:bodyPr wrap="square" lIns="0" tIns="0" rIns="0" bIns="0" rtlCol="0" anchor="ctr"/>
          <a:lstStyle/>
          <a:p>
            <a:pPr algn="ctr" indent="0" marL="0">
              <a:buNone/>
            </a:pPr>
            <a:r>
              <a:rPr lang="en-US" sz="1800" b="1" dirty="0">
                <a:solidFill>
                  <a:schemeClr val="tx1"/>
                </a:solidFill>
              </a:rPr>
              <a:t>Accusé</a:t>
            </a:r>
            <a:endParaRPr lang="en-US" sz="1800" dirty="0"/>
          </a:p>
        </p:txBody>
      </p:sp>
      <p:sp>
        <p:nvSpPr>
          <p:cNvPr id="19" name="Text 14"/>
          <p:cNvSpPr txBox="1"/>
          <p:nvPr/>
        </p:nvSpPr>
        <p:spPr>
          <a:xfrm>
            <a:off x="2507437" y="3081528"/>
            <a:ext cx="1629613" cy="868680"/>
          </a:xfrm>
          <a:prstGeom prst="rect">
            <a:avLst/>
          </a:prstGeom>
          <a:noFill/>
          <a:ln/>
        </p:spPr>
        <p:txBody>
          <a:bodyPr wrap="square" lIns="0" tIns="0" rIns="0" bIns="0" rtlCol="0" anchor="t"/>
          <a:lstStyle/>
          <a:p>
            <a:pPr algn="ctr" indent="0" marL="0">
              <a:buNone/>
            </a:pPr>
            <a:r>
              <a:rPr lang="en-US" sz="1400" dirty="0">
                <a:solidFill>
                  <a:schemeClr val="accent3"/>
                </a:solidFill>
              </a:rPr>
              <a:t>SMS et e-mail avec le lien de suivi</a:t>
            </a:r>
            <a:endParaRPr lang="en-US" sz="1400" dirty="0"/>
          </a:p>
        </p:txBody>
      </p:sp>
      <p:sp>
        <p:nvSpPr>
          <p:cNvPr id="20" name="Rôle étape 2"/>
          <p:cNvSpPr/>
          <p:nvPr/>
        </p:nvSpPr>
        <p:spPr>
          <a:xfrm>
            <a:off x="2590724" y="4023360"/>
            <a:ext cx="1463040" cy="329184"/>
          </a:xfrm>
          <a:prstGeom prst="roundRect">
            <a:avLst>
              <a:gd name="adj" fmla="val 50000"/>
            </a:avLst>
          </a:prstGeom>
          <a:solidFill>
            <a:schemeClr val="accent4"/>
          </a:solidFill>
          <a:ln/>
        </p:spPr>
      </p:sp>
      <p:sp>
        <p:nvSpPr>
          <p:cNvPr id="21" name="Text 16"/>
          <p:cNvSpPr txBox="1"/>
          <p:nvPr/>
        </p:nvSpPr>
        <p:spPr>
          <a:xfrm>
            <a:off x="2590724" y="4023360"/>
            <a:ext cx="1463040" cy="329184"/>
          </a:xfrm>
          <a:prstGeom prst="rect">
            <a:avLst/>
          </a:prstGeom>
          <a:noFill/>
          <a:ln/>
        </p:spPr>
        <p:txBody>
          <a:bodyPr wrap="square" lIns="0" tIns="0" rIns="0" bIns="0" rtlCol="0" anchor="ctr"/>
          <a:lstStyle/>
          <a:p>
            <a:pPr algn="ctr" indent="0" marL="0">
              <a:buNone/>
            </a:pPr>
            <a:r>
              <a:rPr lang="en-US" sz="1200" b="1" dirty="0">
                <a:solidFill>
                  <a:schemeClr val="accent1"/>
                </a:solidFill>
              </a:rPr>
              <a:t>Automatique</a:t>
            </a:r>
            <a:endParaRPr lang="en-US" sz="1200" dirty="0"/>
          </a:p>
        </p:txBody>
      </p:sp>
      <p:sp>
        <p:nvSpPr>
          <p:cNvPr id="22" name="Rond LuShuffle"/>
          <p:cNvSpPr/>
          <p:nvPr/>
        </p:nvSpPr>
        <p:spPr>
          <a:xfrm>
            <a:off x="4736973" y="1691640"/>
            <a:ext cx="868680" cy="868680"/>
          </a:xfrm>
          <a:prstGeom prst="ellipse">
            <a:avLst/>
          </a:prstGeom>
          <a:solidFill>
            <a:schemeClr val="accent1"/>
          </a:solidFill>
          <a:ln/>
        </p:spPr>
      </p:sp>
      <p:pic>
        <p:nvPicPr>
          <p:cNvPr id="23" name="Image 2" descr="preencoded.png">    </p:cNvPr>
          <p:cNvPicPr>
            <a:picLocks noChangeAspect="1"/>
          </p:cNvPicPr>
          <p:nvPr/>
        </p:nvPicPr>
        <p:blipFill>
          <a:blip r:embed="rId3"/>
          <a:stretch>
            <a:fillRect/>
          </a:stretch>
        </p:blipFill>
        <p:spPr>
          <a:xfrm>
            <a:off x="4936769" y="1891436"/>
            <a:ext cx="469087" cy="469087"/>
          </a:xfrm>
          <a:prstGeom prst="rect">
            <a:avLst/>
          </a:prstGeom>
        </p:spPr>
      </p:pic>
      <p:sp>
        <p:nvSpPr>
          <p:cNvPr id="24" name="Pastille 3"/>
          <p:cNvSpPr/>
          <p:nvPr/>
        </p:nvSpPr>
        <p:spPr>
          <a:xfrm>
            <a:off x="5395341" y="1627632"/>
            <a:ext cx="310896" cy="310896"/>
          </a:xfrm>
          <a:prstGeom prst="ellipse">
            <a:avLst/>
          </a:prstGeom>
          <a:solidFill>
            <a:schemeClr val="accent2"/>
          </a:solidFill>
          <a:ln w="19050">
            <a:solidFill>
              <a:schemeClr val="bg1"/>
            </a:solidFill>
            <a:prstDash val="solid"/>
          </a:ln>
          <a:effectLst>
            <a:outerShdw sx="100000" sy="100000" kx="0" ky="0" algn="bl" rotWithShape="0" blurRad="38100" dist="12700" dir="5400000">
              <a:srgbClr val="0E1C24">
                <a:alpha val="30000"/>
              </a:srgbClr>
            </a:outerShdw>
          </a:effectLst>
        </p:spPr>
      </p:sp>
      <p:sp>
        <p:nvSpPr>
          <p:cNvPr id="25" name="Text 19"/>
          <p:cNvSpPr txBox="1"/>
          <p:nvPr/>
        </p:nvSpPr>
        <p:spPr>
          <a:xfrm>
            <a:off x="5395341" y="1627632"/>
            <a:ext cx="310896" cy="310896"/>
          </a:xfrm>
          <a:prstGeom prst="rect">
            <a:avLst/>
          </a:prstGeom>
          <a:noFill/>
          <a:ln/>
        </p:spPr>
        <p:txBody>
          <a:bodyPr wrap="square" lIns="0" tIns="0" rIns="0" bIns="0" rtlCol="0" anchor="ctr"/>
          <a:lstStyle/>
          <a:p>
            <a:pPr algn="ctr" indent="0" marL="0">
              <a:buNone/>
            </a:pPr>
            <a:r>
              <a:rPr lang="en-US" sz="1400" b="1" dirty="0">
                <a:solidFill>
                  <a:schemeClr val="tx2"/>
                </a:solidFill>
              </a:rPr>
              <a:t>3</a:t>
            </a:r>
            <a:endParaRPr lang="en-US" sz="1400" dirty="0"/>
          </a:p>
        </p:txBody>
      </p:sp>
      <p:sp>
        <p:nvSpPr>
          <p:cNvPr id="26" name="Text 20"/>
          <p:cNvSpPr txBox="1"/>
          <p:nvPr/>
        </p:nvSpPr>
        <p:spPr>
          <a:xfrm>
            <a:off x="4319930" y="2697480"/>
            <a:ext cx="1702765" cy="365760"/>
          </a:xfrm>
          <a:prstGeom prst="rect">
            <a:avLst/>
          </a:prstGeom>
          <a:noFill/>
          <a:ln/>
        </p:spPr>
        <p:txBody>
          <a:bodyPr wrap="square" lIns="0" tIns="0" rIns="0" bIns="0" rtlCol="0" anchor="ctr"/>
          <a:lstStyle/>
          <a:p>
            <a:pPr algn="ctr" indent="0" marL="0">
              <a:buNone/>
            </a:pPr>
            <a:r>
              <a:rPr lang="en-US" sz="1800" b="1" dirty="0">
                <a:solidFill>
                  <a:schemeClr val="tx1"/>
                </a:solidFill>
              </a:rPr>
              <a:t>Attribution</a:t>
            </a:r>
            <a:endParaRPr lang="en-US" sz="1800" dirty="0"/>
          </a:p>
        </p:txBody>
      </p:sp>
      <p:sp>
        <p:nvSpPr>
          <p:cNvPr id="27" name="Text 21"/>
          <p:cNvSpPr txBox="1"/>
          <p:nvPr/>
        </p:nvSpPr>
        <p:spPr>
          <a:xfrm>
            <a:off x="4356506" y="3081528"/>
            <a:ext cx="1629613" cy="868680"/>
          </a:xfrm>
          <a:prstGeom prst="rect">
            <a:avLst/>
          </a:prstGeom>
          <a:noFill/>
          <a:ln/>
        </p:spPr>
        <p:txBody>
          <a:bodyPr wrap="square" lIns="0" tIns="0" rIns="0" bIns="0" rtlCol="0" anchor="t"/>
          <a:lstStyle/>
          <a:p>
            <a:pPr algn="ctr" indent="0" marL="0">
              <a:buNone/>
            </a:pPr>
            <a:r>
              <a:rPr lang="en-US" sz="1400" dirty="0">
                <a:solidFill>
                  <a:schemeClr val="accent3"/>
                </a:solidFill>
              </a:rPr>
              <a:t>L'agent le moins chargé, suggéré ou automatique</a:t>
            </a:r>
            <a:endParaRPr lang="en-US" sz="1400" dirty="0"/>
          </a:p>
        </p:txBody>
      </p:sp>
      <p:sp>
        <p:nvSpPr>
          <p:cNvPr id="28" name="Rôle étape 3"/>
          <p:cNvSpPr/>
          <p:nvPr/>
        </p:nvSpPr>
        <p:spPr>
          <a:xfrm>
            <a:off x="4439793" y="4023360"/>
            <a:ext cx="1463040" cy="329184"/>
          </a:xfrm>
          <a:prstGeom prst="roundRect">
            <a:avLst>
              <a:gd name="adj" fmla="val 50000"/>
            </a:avLst>
          </a:prstGeom>
          <a:solidFill>
            <a:schemeClr val="accent4"/>
          </a:solidFill>
          <a:ln/>
        </p:spPr>
      </p:sp>
      <p:sp>
        <p:nvSpPr>
          <p:cNvPr id="29" name="Text 23"/>
          <p:cNvSpPr txBox="1"/>
          <p:nvPr/>
        </p:nvSpPr>
        <p:spPr>
          <a:xfrm>
            <a:off x="4439793" y="4023360"/>
            <a:ext cx="1463040" cy="329184"/>
          </a:xfrm>
          <a:prstGeom prst="rect">
            <a:avLst/>
          </a:prstGeom>
          <a:noFill/>
          <a:ln/>
        </p:spPr>
        <p:txBody>
          <a:bodyPr wrap="square" lIns="0" tIns="0" rIns="0" bIns="0" rtlCol="0" anchor="ctr"/>
          <a:lstStyle/>
          <a:p>
            <a:pPr algn="ctr" indent="0" marL="0">
              <a:buNone/>
            </a:pPr>
            <a:r>
              <a:rPr lang="en-US" sz="1200" b="1" dirty="0">
                <a:solidFill>
                  <a:schemeClr val="accent1"/>
                </a:solidFill>
              </a:rPr>
              <a:t>Superviseur</a:t>
            </a:r>
            <a:endParaRPr lang="en-US" sz="1200" dirty="0"/>
          </a:p>
        </p:txBody>
      </p:sp>
      <p:sp>
        <p:nvSpPr>
          <p:cNvPr id="30" name="Rond LuMessagesSquare"/>
          <p:cNvSpPr/>
          <p:nvPr/>
        </p:nvSpPr>
        <p:spPr>
          <a:xfrm>
            <a:off x="6586042" y="1691640"/>
            <a:ext cx="868680" cy="868680"/>
          </a:xfrm>
          <a:prstGeom prst="ellipse">
            <a:avLst/>
          </a:prstGeom>
          <a:solidFill>
            <a:schemeClr val="accent1"/>
          </a:solidFill>
          <a:ln/>
        </p:spPr>
      </p:sp>
      <p:pic>
        <p:nvPicPr>
          <p:cNvPr id="31" name="Image 3" descr="preencoded.png">    </p:cNvPr>
          <p:cNvPicPr>
            <a:picLocks noChangeAspect="1"/>
          </p:cNvPicPr>
          <p:nvPr/>
        </p:nvPicPr>
        <p:blipFill>
          <a:blip r:embed="rId4"/>
          <a:stretch>
            <a:fillRect/>
          </a:stretch>
        </p:blipFill>
        <p:spPr>
          <a:xfrm>
            <a:off x="6785839" y="1891436"/>
            <a:ext cx="469087" cy="469087"/>
          </a:xfrm>
          <a:prstGeom prst="rect">
            <a:avLst/>
          </a:prstGeom>
        </p:spPr>
      </p:pic>
      <p:sp>
        <p:nvSpPr>
          <p:cNvPr id="32" name="Pastille 4"/>
          <p:cNvSpPr/>
          <p:nvPr/>
        </p:nvSpPr>
        <p:spPr>
          <a:xfrm>
            <a:off x="7244410" y="1627632"/>
            <a:ext cx="310896" cy="310896"/>
          </a:xfrm>
          <a:prstGeom prst="ellipse">
            <a:avLst/>
          </a:prstGeom>
          <a:solidFill>
            <a:schemeClr val="accent2"/>
          </a:solidFill>
          <a:ln w="19050">
            <a:solidFill>
              <a:schemeClr val="bg1"/>
            </a:solidFill>
            <a:prstDash val="solid"/>
          </a:ln>
          <a:effectLst>
            <a:outerShdw sx="100000" sy="100000" kx="0" ky="0" algn="bl" rotWithShape="0" blurRad="38100" dist="12700" dir="5400000">
              <a:srgbClr val="0E1C24">
                <a:alpha val="30000"/>
              </a:srgbClr>
            </a:outerShdw>
          </a:effectLst>
        </p:spPr>
      </p:sp>
      <p:sp>
        <p:nvSpPr>
          <p:cNvPr id="33" name="Text 26"/>
          <p:cNvSpPr txBox="1"/>
          <p:nvPr/>
        </p:nvSpPr>
        <p:spPr>
          <a:xfrm>
            <a:off x="7244410" y="1627632"/>
            <a:ext cx="310896" cy="310896"/>
          </a:xfrm>
          <a:prstGeom prst="rect">
            <a:avLst/>
          </a:prstGeom>
          <a:noFill/>
          <a:ln/>
        </p:spPr>
        <p:txBody>
          <a:bodyPr wrap="square" lIns="0" tIns="0" rIns="0" bIns="0" rtlCol="0" anchor="ctr"/>
          <a:lstStyle/>
          <a:p>
            <a:pPr algn="ctr" indent="0" marL="0">
              <a:buNone/>
            </a:pPr>
            <a:r>
              <a:rPr lang="en-US" sz="1400" b="1" dirty="0">
                <a:solidFill>
                  <a:schemeClr val="tx2"/>
                </a:solidFill>
              </a:rPr>
              <a:t>4</a:t>
            </a:r>
            <a:endParaRPr lang="en-US" sz="1400" dirty="0"/>
          </a:p>
        </p:txBody>
      </p:sp>
      <p:sp>
        <p:nvSpPr>
          <p:cNvPr id="34" name="Text 27"/>
          <p:cNvSpPr txBox="1"/>
          <p:nvPr/>
        </p:nvSpPr>
        <p:spPr>
          <a:xfrm>
            <a:off x="6169000" y="2697480"/>
            <a:ext cx="1702765" cy="365760"/>
          </a:xfrm>
          <a:prstGeom prst="rect">
            <a:avLst/>
          </a:prstGeom>
          <a:noFill/>
          <a:ln/>
        </p:spPr>
        <p:txBody>
          <a:bodyPr wrap="square" lIns="0" tIns="0" rIns="0" bIns="0" rtlCol="0" anchor="ctr"/>
          <a:lstStyle/>
          <a:p>
            <a:pPr algn="ctr" indent="0" marL="0">
              <a:buNone/>
            </a:pPr>
            <a:r>
              <a:rPr lang="en-US" sz="1800" b="1" dirty="0">
                <a:solidFill>
                  <a:schemeClr val="tx1"/>
                </a:solidFill>
              </a:rPr>
              <a:t>Traitement</a:t>
            </a:r>
            <a:endParaRPr lang="en-US" sz="1800" dirty="0"/>
          </a:p>
        </p:txBody>
      </p:sp>
      <p:sp>
        <p:nvSpPr>
          <p:cNvPr id="35" name="Text 28"/>
          <p:cNvSpPr txBox="1"/>
          <p:nvPr/>
        </p:nvSpPr>
        <p:spPr>
          <a:xfrm>
            <a:off x="6205576" y="3081528"/>
            <a:ext cx="1629613" cy="868680"/>
          </a:xfrm>
          <a:prstGeom prst="rect">
            <a:avLst/>
          </a:prstGeom>
          <a:noFill/>
          <a:ln/>
        </p:spPr>
        <p:txBody>
          <a:bodyPr wrap="square" lIns="0" tIns="0" rIns="0" bIns="0" rtlCol="0" anchor="t"/>
          <a:lstStyle/>
          <a:p>
            <a:pPr algn="ctr" indent="0" marL="0">
              <a:buNone/>
            </a:pPr>
            <a:r>
              <a:rPr lang="en-US" sz="1400" dirty="0">
                <a:solidFill>
                  <a:schemeClr val="accent3"/>
                </a:solidFill>
              </a:rPr>
              <a:t>Réponses, chat, notes internes, brouillon IA</a:t>
            </a:r>
            <a:endParaRPr lang="en-US" sz="1400" dirty="0"/>
          </a:p>
        </p:txBody>
      </p:sp>
      <p:sp>
        <p:nvSpPr>
          <p:cNvPr id="36" name="Rôle étape 4"/>
          <p:cNvSpPr/>
          <p:nvPr/>
        </p:nvSpPr>
        <p:spPr>
          <a:xfrm>
            <a:off x="6288862" y="4023360"/>
            <a:ext cx="1463040" cy="329184"/>
          </a:xfrm>
          <a:prstGeom prst="roundRect">
            <a:avLst>
              <a:gd name="adj" fmla="val 50000"/>
            </a:avLst>
          </a:prstGeom>
          <a:solidFill>
            <a:schemeClr val="accent4"/>
          </a:solidFill>
          <a:ln/>
        </p:spPr>
      </p:sp>
      <p:sp>
        <p:nvSpPr>
          <p:cNvPr id="37" name="Text 30"/>
          <p:cNvSpPr txBox="1"/>
          <p:nvPr/>
        </p:nvSpPr>
        <p:spPr>
          <a:xfrm>
            <a:off x="6288862" y="4023360"/>
            <a:ext cx="1463040" cy="329184"/>
          </a:xfrm>
          <a:prstGeom prst="rect">
            <a:avLst/>
          </a:prstGeom>
          <a:noFill/>
          <a:ln/>
        </p:spPr>
        <p:txBody>
          <a:bodyPr wrap="square" lIns="0" tIns="0" rIns="0" bIns="0" rtlCol="0" anchor="ctr"/>
          <a:lstStyle/>
          <a:p>
            <a:pPr algn="ctr" indent="0" marL="0">
              <a:buNone/>
            </a:pPr>
            <a:r>
              <a:rPr lang="en-US" sz="1200" b="1" dirty="0">
                <a:solidFill>
                  <a:schemeClr val="accent1"/>
                </a:solidFill>
              </a:rPr>
              <a:t>Agent</a:t>
            </a:r>
            <a:endParaRPr lang="en-US" sz="1200" dirty="0"/>
          </a:p>
        </p:txBody>
      </p:sp>
      <p:sp>
        <p:nvSpPr>
          <p:cNvPr id="38" name="Rond LuCircleCheck"/>
          <p:cNvSpPr/>
          <p:nvPr/>
        </p:nvSpPr>
        <p:spPr>
          <a:xfrm>
            <a:off x="8435111" y="1691640"/>
            <a:ext cx="868680" cy="868680"/>
          </a:xfrm>
          <a:prstGeom prst="ellipse">
            <a:avLst/>
          </a:prstGeom>
          <a:solidFill>
            <a:schemeClr val="accent1"/>
          </a:solidFill>
          <a:ln/>
        </p:spPr>
      </p:sp>
      <p:pic>
        <p:nvPicPr>
          <p:cNvPr id="39" name="Image 4" descr="preencoded.png">    </p:cNvPr>
          <p:cNvPicPr>
            <a:picLocks noChangeAspect="1"/>
          </p:cNvPicPr>
          <p:nvPr/>
        </p:nvPicPr>
        <p:blipFill>
          <a:blip r:embed="rId5"/>
          <a:stretch>
            <a:fillRect/>
          </a:stretch>
        </p:blipFill>
        <p:spPr>
          <a:xfrm>
            <a:off x="8634908" y="1891436"/>
            <a:ext cx="469087" cy="469087"/>
          </a:xfrm>
          <a:prstGeom prst="rect">
            <a:avLst/>
          </a:prstGeom>
        </p:spPr>
      </p:pic>
      <p:sp>
        <p:nvSpPr>
          <p:cNvPr id="40" name="Pastille 5"/>
          <p:cNvSpPr/>
          <p:nvPr/>
        </p:nvSpPr>
        <p:spPr>
          <a:xfrm>
            <a:off x="9093479" y="1627632"/>
            <a:ext cx="310896" cy="310896"/>
          </a:xfrm>
          <a:prstGeom prst="ellipse">
            <a:avLst/>
          </a:prstGeom>
          <a:solidFill>
            <a:schemeClr val="accent2"/>
          </a:solidFill>
          <a:ln w="19050">
            <a:solidFill>
              <a:schemeClr val="bg1"/>
            </a:solidFill>
            <a:prstDash val="solid"/>
          </a:ln>
          <a:effectLst>
            <a:outerShdw sx="100000" sy="100000" kx="0" ky="0" algn="bl" rotWithShape="0" blurRad="38100" dist="12700" dir="5400000">
              <a:srgbClr val="0E1C24">
                <a:alpha val="30000"/>
              </a:srgbClr>
            </a:outerShdw>
          </a:effectLst>
        </p:spPr>
      </p:sp>
      <p:sp>
        <p:nvSpPr>
          <p:cNvPr id="41" name="Text 33"/>
          <p:cNvSpPr txBox="1"/>
          <p:nvPr/>
        </p:nvSpPr>
        <p:spPr>
          <a:xfrm>
            <a:off x="9093479" y="1627632"/>
            <a:ext cx="310896" cy="310896"/>
          </a:xfrm>
          <a:prstGeom prst="rect">
            <a:avLst/>
          </a:prstGeom>
          <a:noFill/>
          <a:ln/>
        </p:spPr>
        <p:txBody>
          <a:bodyPr wrap="square" lIns="0" tIns="0" rIns="0" bIns="0" rtlCol="0" anchor="ctr"/>
          <a:lstStyle/>
          <a:p>
            <a:pPr algn="ctr" indent="0" marL="0">
              <a:buNone/>
            </a:pPr>
            <a:r>
              <a:rPr lang="en-US" sz="1400" b="1" dirty="0">
                <a:solidFill>
                  <a:schemeClr val="tx2"/>
                </a:solidFill>
              </a:rPr>
              <a:t>5</a:t>
            </a:r>
            <a:endParaRPr lang="en-US" sz="1400" dirty="0"/>
          </a:p>
        </p:txBody>
      </p:sp>
      <p:sp>
        <p:nvSpPr>
          <p:cNvPr id="42" name="Text 34"/>
          <p:cNvSpPr txBox="1"/>
          <p:nvPr/>
        </p:nvSpPr>
        <p:spPr>
          <a:xfrm>
            <a:off x="8018069" y="2697480"/>
            <a:ext cx="1702765" cy="365760"/>
          </a:xfrm>
          <a:prstGeom prst="rect">
            <a:avLst/>
          </a:prstGeom>
          <a:noFill/>
          <a:ln/>
        </p:spPr>
        <p:txBody>
          <a:bodyPr wrap="square" lIns="0" tIns="0" rIns="0" bIns="0" rtlCol="0" anchor="ctr"/>
          <a:lstStyle/>
          <a:p>
            <a:pPr algn="ctr" indent="0" marL="0">
              <a:buNone/>
            </a:pPr>
            <a:r>
              <a:rPr lang="en-US" sz="1800" b="1" dirty="0">
                <a:solidFill>
                  <a:schemeClr val="tx1"/>
                </a:solidFill>
              </a:rPr>
              <a:t>Résolution</a:t>
            </a:r>
            <a:endParaRPr lang="en-US" sz="1800" dirty="0"/>
          </a:p>
        </p:txBody>
      </p:sp>
      <p:sp>
        <p:nvSpPr>
          <p:cNvPr id="43" name="Text 35"/>
          <p:cNvSpPr txBox="1"/>
          <p:nvPr/>
        </p:nvSpPr>
        <p:spPr>
          <a:xfrm>
            <a:off x="8054645" y="3081528"/>
            <a:ext cx="1629613" cy="868680"/>
          </a:xfrm>
          <a:prstGeom prst="rect">
            <a:avLst/>
          </a:prstGeom>
          <a:noFill/>
          <a:ln/>
        </p:spPr>
        <p:txBody>
          <a:bodyPr wrap="square" lIns="0" tIns="0" rIns="0" bIns="0" rtlCol="0" anchor="t"/>
          <a:lstStyle/>
          <a:p>
            <a:pPr algn="ctr" indent="0" marL="0">
              <a:buNone/>
            </a:pPr>
            <a:r>
              <a:rPr lang="en-US" sz="1400" dirty="0">
                <a:solidFill>
                  <a:schemeClr val="accent3"/>
                </a:solidFill>
              </a:rPr>
              <a:t>Le client confirme ou conteste sous 5 jours</a:t>
            </a:r>
            <a:endParaRPr lang="en-US" sz="1400" dirty="0"/>
          </a:p>
        </p:txBody>
      </p:sp>
      <p:sp>
        <p:nvSpPr>
          <p:cNvPr id="44" name="Rôle étape 5"/>
          <p:cNvSpPr/>
          <p:nvPr/>
        </p:nvSpPr>
        <p:spPr>
          <a:xfrm>
            <a:off x="8137931" y="4023360"/>
            <a:ext cx="1463040" cy="329184"/>
          </a:xfrm>
          <a:prstGeom prst="roundRect">
            <a:avLst>
              <a:gd name="adj" fmla="val 50000"/>
            </a:avLst>
          </a:prstGeom>
          <a:solidFill>
            <a:schemeClr val="accent4"/>
          </a:solidFill>
          <a:ln/>
        </p:spPr>
      </p:sp>
      <p:sp>
        <p:nvSpPr>
          <p:cNvPr id="45" name="Text 37"/>
          <p:cNvSpPr txBox="1"/>
          <p:nvPr/>
        </p:nvSpPr>
        <p:spPr>
          <a:xfrm>
            <a:off x="8137931" y="4023360"/>
            <a:ext cx="1463040" cy="329184"/>
          </a:xfrm>
          <a:prstGeom prst="rect">
            <a:avLst/>
          </a:prstGeom>
          <a:noFill/>
          <a:ln/>
        </p:spPr>
        <p:txBody>
          <a:bodyPr wrap="square" lIns="0" tIns="0" rIns="0" bIns="0" rtlCol="0" anchor="ctr"/>
          <a:lstStyle/>
          <a:p>
            <a:pPr algn="ctr" indent="0" marL="0">
              <a:buNone/>
            </a:pPr>
            <a:r>
              <a:rPr lang="en-US" sz="1200" b="1" dirty="0">
                <a:solidFill>
                  <a:schemeClr val="accent1"/>
                </a:solidFill>
              </a:rPr>
              <a:t>Agent et client</a:t>
            </a:r>
            <a:endParaRPr lang="en-US" sz="1200" dirty="0"/>
          </a:p>
        </p:txBody>
      </p:sp>
      <p:sp>
        <p:nvSpPr>
          <p:cNvPr id="46" name="Rond LuStar"/>
          <p:cNvSpPr/>
          <p:nvPr/>
        </p:nvSpPr>
        <p:spPr>
          <a:xfrm>
            <a:off x="10284181" y="1691640"/>
            <a:ext cx="868680" cy="868680"/>
          </a:xfrm>
          <a:prstGeom prst="ellipse">
            <a:avLst/>
          </a:prstGeom>
          <a:solidFill>
            <a:schemeClr val="accent1"/>
          </a:solidFill>
          <a:ln/>
        </p:spPr>
      </p:sp>
      <p:pic>
        <p:nvPicPr>
          <p:cNvPr id="47" name="Image 5" descr="preencoded.png">    </p:cNvPr>
          <p:cNvPicPr>
            <a:picLocks noChangeAspect="1"/>
          </p:cNvPicPr>
          <p:nvPr/>
        </p:nvPicPr>
        <p:blipFill>
          <a:blip r:embed="rId6"/>
          <a:stretch>
            <a:fillRect/>
          </a:stretch>
        </p:blipFill>
        <p:spPr>
          <a:xfrm>
            <a:off x="10483977" y="1891436"/>
            <a:ext cx="469087" cy="469087"/>
          </a:xfrm>
          <a:prstGeom prst="rect">
            <a:avLst/>
          </a:prstGeom>
        </p:spPr>
      </p:pic>
      <p:sp>
        <p:nvSpPr>
          <p:cNvPr id="48" name="Pastille 6"/>
          <p:cNvSpPr/>
          <p:nvPr/>
        </p:nvSpPr>
        <p:spPr>
          <a:xfrm>
            <a:off x="10942549" y="1627632"/>
            <a:ext cx="310896" cy="310896"/>
          </a:xfrm>
          <a:prstGeom prst="ellipse">
            <a:avLst/>
          </a:prstGeom>
          <a:solidFill>
            <a:schemeClr val="accent2"/>
          </a:solidFill>
          <a:ln w="19050">
            <a:solidFill>
              <a:schemeClr val="bg1"/>
            </a:solidFill>
            <a:prstDash val="solid"/>
          </a:ln>
          <a:effectLst>
            <a:outerShdw sx="100000" sy="100000" kx="0" ky="0" algn="bl" rotWithShape="0" blurRad="38100" dist="12700" dir="5400000">
              <a:srgbClr val="0E1C24">
                <a:alpha val="30000"/>
              </a:srgbClr>
            </a:outerShdw>
          </a:effectLst>
        </p:spPr>
      </p:sp>
      <p:sp>
        <p:nvSpPr>
          <p:cNvPr id="49" name="Text 40"/>
          <p:cNvSpPr txBox="1"/>
          <p:nvPr/>
        </p:nvSpPr>
        <p:spPr>
          <a:xfrm>
            <a:off x="10942549" y="1627632"/>
            <a:ext cx="310896" cy="310896"/>
          </a:xfrm>
          <a:prstGeom prst="rect">
            <a:avLst/>
          </a:prstGeom>
          <a:noFill/>
          <a:ln/>
        </p:spPr>
        <p:txBody>
          <a:bodyPr wrap="square" lIns="0" tIns="0" rIns="0" bIns="0" rtlCol="0" anchor="ctr"/>
          <a:lstStyle/>
          <a:p>
            <a:pPr algn="ctr" indent="0" marL="0">
              <a:buNone/>
            </a:pPr>
            <a:r>
              <a:rPr lang="en-US" sz="1400" b="1" dirty="0">
                <a:solidFill>
                  <a:schemeClr val="tx2"/>
                </a:solidFill>
              </a:rPr>
              <a:t>6</a:t>
            </a:r>
            <a:endParaRPr lang="en-US" sz="1400" dirty="0"/>
          </a:p>
        </p:txBody>
      </p:sp>
      <p:sp>
        <p:nvSpPr>
          <p:cNvPr id="50" name="Text 41"/>
          <p:cNvSpPr txBox="1"/>
          <p:nvPr/>
        </p:nvSpPr>
        <p:spPr>
          <a:xfrm>
            <a:off x="9867138" y="2697480"/>
            <a:ext cx="1702765" cy="365760"/>
          </a:xfrm>
          <a:prstGeom prst="rect">
            <a:avLst/>
          </a:prstGeom>
          <a:noFill/>
          <a:ln/>
        </p:spPr>
        <p:txBody>
          <a:bodyPr wrap="square" lIns="0" tIns="0" rIns="0" bIns="0" rtlCol="0" anchor="ctr"/>
          <a:lstStyle/>
          <a:p>
            <a:pPr algn="ctr" indent="0" marL="0">
              <a:buNone/>
            </a:pPr>
            <a:r>
              <a:rPr lang="en-US" sz="1800" b="1" dirty="0">
                <a:solidFill>
                  <a:schemeClr val="tx1"/>
                </a:solidFill>
              </a:rPr>
              <a:t>Avis</a:t>
            </a:r>
            <a:endParaRPr lang="en-US" sz="1800" dirty="0"/>
          </a:p>
        </p:txBody>
      </p:sp>
      <p:sp>
        <p:nvSpPr>
          <p:cNvPr id="51" name="Text 42"/>
          <p:cNvSpPr txBox="1"/>
          <p:nvPr/>
        </p:nvSpPr>
        <p:spPr>
          <a:xfrm>
            <a:off x="9903714" y="3081528"/>
            <a:ext cx="1629613" cy="868680"/>
          </a:xfrm>
          <a:prstGeom prst="rect">
            <a:avLst/>
          </a:prstGeom>
          <a:noFill/>
          <a:ln/>
        </p:spPr>
        <p:txBody>
          <a:bodyPr wrap="square" lIns="0" tIns="0" rIns="0" bIns="0" rtlCol="0" anchor="t"/>
          <a:lstStyle/>
          <a:p>
            <a:pPr algn="ctr" indent="0" marL="0">
              <a:buNone/>
            </a:pPr>
            <a:r>
              <a:rPr lang="en-US" sz="1400" dirty="0">
                <a:solidFill>
                  <a:schemeClr val="accent3"/>
                </a:solidFill>
              </a:rPr>
              <a:t>Satisfaction et recommandation, en deux questions</a:t>
            </a:r>
            <a:endParaRPr lang="en-US" sz="1400" dirty="0"/>
          </a:p>
        </p:txBody>
      </p:sp>
      <p:sp>
        <p:nvSpPr>
          <p:cNvPr id="52" name="Rôle étape 6"/>
          <p:cNvSpPr/>
          <p:nvPr/>
        </p:nvSpPr>
        <p:spPr>
          <a:xfrm>
            <a:off x="9987001" y="4023360"/>
            <a:ext cx="1463040" cy="329184"/>
          </a:xfrm>
          <a:prstGeom prst="roundRect">
            <a:avLst>
              <a:gd name="adj" fmla="val 50000"/>
            </a:avLst>
          </a:prstGeom>
          <a:solidFill>
            <a:schemeClr val="accent4"/>
          </a:solidFill>
          <a:ln/>
        </p:spPr>
      </p:sp>
      <p:sp>
        <p:nvSpPr>
          <p:cNvPr id="53" name="Text 44"/>
          <p:cNvSpPr txBox="1"/>
          <p:nvPr/>
        </p:nvSpPr>
        <p:spPr>
          <a:xfrm>
            <a:off x="9987001" y="4023360"/>
            <a:ext cx="1463040" cy="329184"/>
          </a:xfrm>
          <a:prstGeom prst="rect">
            <a:avLst/>
          </a:prstGeom>
          <a:noFill/>
          <a:ln/>
        </p:spPr>
        <p:txBody>
          <a:bodyPr wrap="square" lIns="0" tIns="0" rIns="0" bIns="0" rtlCol="0" anchor="ctr"/>
          <a:lstStyle/>
          <a:p>
            <a:pPr algn="ctr" indent="0" marL="0">
              <a:buNone/>
            </a:pPr>
            <a:r>
              <a:rPr lang="en-US" sz="1200" b="1" dirty="0">
                <a:solidFill>
                  <a:schemeClr val="accent1"/>
                </a:solidFill>
              </a:rPr>
              <a:t>Client</a:t>
            </a:r>
            <a:endParaRPr lang="en-US" sz="1200" dirty="0"/>
          </a:p>
        </p:txBody>
      </p:sp>
      <p:sp>
        <p:nvSpPr>
          <p:cNvPr id="54" name="Tout au long du parcours"/>
          <p:cNvSpPr/>
          <p:nvPr/>
        </p:nvSpPr>
        <p:spPr>
          <a:xfrm>
            <a:off x="548640" y="4846320"/>
            <a:ext cx="11094415" cy="1371600"/>
          </a:xfrm>
          <a:prstGeom prst="roundRect">
            <a:avLst>
              <a:gd name="adj" fmla="val 8000"/>
            </a:avLst>
          </a:prstGeom>
          <a:solidFill>
            <a:schemeClr val="bg2"/>
          </a:solidFill>
          <a:ln/>
        </p:spPr>
      </p:sp>
      <p:sp>
        <p:nvSpPr>
          <p:cNvPr id="55" name="Text 46"/>
          <p:cNvSpPr txBox="1"/>
          <p:nvPr/>
        </p:nvSpPr>
        <p:spPr>
          <a:xfrm>
            <a:off x="822960" y="4983480"/>
            <a:ext cx="5486400" cy="274320"/>
          </a:xfrm>
          <a:prstGeom prst="rect">
            <a:avLst/>
          </a:prstGeom>
          <a:noFill/>
          <a:ln/>
        </p:spPr>
        <p:txBody>
          <a:bodyPr wrap="square" lIns="0" tIns="0" rIns="0" bIns="0" rtlCol="0" anchor="ctr"/>
          <a:lstStyle/>
          <a:p>
            <a:pPr indent="0" marL="0">
              <a:buNone/>
            </a:pPr>
            <a:r>
              <a:rPr lang="en-US" sz="1500" b="1" dirty="0">
                <a:solidFill>
                  <a:schemeClr val="tx1"/>
                </a:solidFill>
              </a:rPr>
              <a:t>Tout au long du parcours</a:t>
            </a:r>
            <a:endParaRPr lang="en-US" sz="1500" dirty="0"/>
          </a:p>
        </p:txBody>
      </p:sp>
      <p:sp>
        <p:nvSpPr>
          <p:cNvPr id="56" name="Rond LuTimer"/>
          <p:cNvSpPr/>
          <p:nvPr/>
        </p:nvSpPr>
        <p:spPr>
          <a:xfrm>
            <a:off x="822960" y="5440680"/>
            <a:ext cx="457200" cy="457200"/>
          </a:xfrm>
          <a:prstGeom prst="ellipse">
            <a:avLst/>
          </a:prstGeom>
          <a:solidFill>
            <a:schemeClr val="accent4"/>
          </a:solidFill>
          <a:ln/>
        </p:spPr>
      </p:sp>
      <p:pic>
        <p:nvPicPr>
          <p:cNvPr id="57" name="Image 6" descr="preencoded.png">    </p:cNvPr>
          <p:cNvPicPr>
            <a:picLocks noChangeAspect="1"/>
          </p:cNvPicPr>
          <p:nvPr/>
        </p:nvPicPr>
        <p:blipFill>
          <a:blip r:embed="rId7"/>
          <a:stretch>
            <a:fillRect/>
          </a:stretch>
        </p:blipFill>
        <p:spPr>
          <a:xfrm>
            <a:off x="928116" y="5545836"/>
            <a:ext cx="246888" cy="246888"/>
          </a:xfrm>
          <a:prstGeom prst="rect">
            <a:avLst/>
          </a:prstGeom>
        </p:spPr>
      </p:pic>
      <p:sp>
        <p:nvSpPr>
          <p:cNvPr id="58" name="Text 48"/>
          <p:cNvSpPr txBox="1"/>
          <p:nvPr/>
        </p:nvSpPr>
        <p:spPr>
          <a:xfrm>
            <a:off x="1417320" y="5376672"/>
            <a:ext cx="2738018" cy="603504"/>
          </a:xfrm>
          <a:prstGeom prst="rect">
            <a:avLst/>
          </a:prstGeom>
          <a:noFill/>
          <a:ln/>
        </p:spPr>
        <p:txBody>
          <a:bodyPr wrap="square" lIns="0" tIns="0" rIns="0" bIns="0" rtlCol="0" anchor="ctr"/>
          <a:lstStyle/>
          <a:p>
            <a:pPr indent="0" marL="0">
              <a:buNone/>
            </a:pPr>
            <a:r>
              <a:rPr lang="en-US" sz="1400" dirty="0">
                <a:solidFill>
                  <a:schemeClr val="tx1"/>
                </a:solidFill>
              </a:rPr>
              <a:t>Chrono SLA en heures ouvrées, en pause quand on attend le client</a:t>
            </a:r>
            <a:endParaRPr lang="en-US" sz="1400" dirty="0"/>
          </a:p>
        </p:txBody>
      </p:sp>
      <p:sp>
        <p:nvSpPr>
          <p:cNvPr id="59" name="Rond LuTriangleAlert"/>
          <p:cNvSpPr/>
          <p:nvPr/>
        </p:nvSpPr>
        <p:spPr>
          <a:xfrm>
            <a:off x="4338218" y="5440680"/>
            <a:ext cx="457200" cy="457200"/>
          </a:xfrm>
          <a:prstGeom prst="ellipse">
            <a:avLst/>
          </a:prstGeom>
          <a:solidFill>
            <a:schemeClr val="accent4"/>
          </a:solidFill>
          <a:ln/>
        </p:spPr>
      </p:sp>
      <p:pic>
        <p:nvPicPr>
          <p:cNvPr id="60" name="Image 7" descr="preencoded.png">    </p:cNvPr>
          <p:cNvPicPr>
            <a:picLocks noChangeAspect="1"/>
          </p:cNvPicPr>
          <p:nvPr/>
        </p:nvPicPr>
        <p:blipFill>
          <a:blip r:embed="rId8"/>
          <a:stretch>
            <a:fillRect/>
          </a:stretch>
        </p:blipFill>
        <p:spPr>
          <a:xfrm>
            <a:off x="4443374" y="5545836"/>
            <a:ext cx="246888" cy="246888"/>
          </a:xfrm>
          <a:prstGeom prst="rect">
            <a:avLst/>
          </a:prstGeom>
        </p:spPr>
      </p:pic>
      <p:sp>
        <p:nvSpPr>
          <p:cNvPr id="61" name="Text 50"/>
          <p:cNvSpPr txBox="1"/>
          <p:nvPr/>
        </p:nvSpPr>
        <p:spPr>
          <a:xfrm>
            <a:off x="4932578" y="5376672"/>
            <a:ext cx="2738018" cy="603504"/>
          </a:xfrm>
          <a:prstGeom prst="rect">
            <a:avLst/>
          </a:prstGeom>
          <a:noFill/>
          <a:ln/>
        </p:spPr>
        <p:txBody>
          <a:bodyPr wrap="square" lIns="0" tIns="0" rIns="0" bIns="0" rtlCol="0" anchor="ctr"/>
          <a:lstStyle/>
          <a:p>
            <a:pPr indent="0" marL="0">
              <a:buNone/>
            </a:pPr>
            <a:r>
              <a:rPr lang="en-US" sz="1400" dirty="0">
                <a:solidFill>
                  <a:schemeClr val="tx1"/>
                </a:solidFill>
              </a:rPr>
              <a:t>Alerte à 75 % du délai, escalade au dépassement</a:t>
            </a:r>
            <a:endParaRPr lang="en-US" sz="1400" dirty="0"/>
          </a:p>
        </p:txBody>
      </p:sp>
      <p:sp>
        <p:nvSpPr>
          <p:cNvPr id="62" name="Rond LuHistory"/>
          <p:cNvSpPr/>
          <p:nvPr/>
        </p:nvSpPr>
        <p:spPr>
          <a:xfrm>
            <a:off x="7853477" y="5440680"/>
            <a:ext cx="457200" cy="457200"/>
          </a:xfrm>
          <a:prstGeom prst="ellipse">
            <a:avLst/>
          </a:prstGeom>
          <a:solidFill>
            <a:schemeClr val="accent4"/>
          </a:solidFill>
          <a:ln/>
        </p:spPr>
      </p:sp>
      <p:pic>
        <p:nvPicPr>
          <p:cNvPr id="63" name="Image 8" descr="preencoded.png">    </p:cNvPr>
          <p:cNvPicPr>
            <a:picLocks noChangeAspect="1"/>
          </p:cNvPicPr>
          <p:nvPr/>
        </p:nvPicPr>
        <p:blipFill>
          <a:blip r:embed="rId9"/>
          <a:stretch>
            <a:fillRect/>
          </a:stretch>
        </p:blipFill>
        <p:spPr>
          <a:xfrm>
            <a:off x="7958633" y="5545836"/>
            <a:ext cx="246888" cy="246888"/>
          </a:xfrm>
          <a:prstGeom prst="rect">
            <a:avLst/>
          </a:prstGeom>
        </p:spPr>
      </p:pic>
      <p:sp>
        <p:nvSpPr>
          <p:cNvPr id="64" name="Text 52"/>
          <p:cNvSpPr txBox="1"/>
          <p:nvPr/>
        </p:nvSpPr>
        <p:spPr>
          <a:xfrm>
            <a:off x="8447837" y="5376672"/>
            <a:ext cx="2738018" cy="603504"/>
          </a:xfrm>
          <a:prstGeom prst="rect">
            <a:avLst/>
          </a:prstGeom>
          <a:noFill/>
          <a:ln/>
        </p:spPr>
        <p:txBody>
          <a:bodyPr wrap="square" lIns="0" tIns="0" rIns="0" bIns="0" rtlCol="0" anchor="ctr"/>
          <a:lstStyle/>
          <a:p>
            <a:pPr indent="0" marL="0">
              <a:buNone/>
            </a:pPr>
            <a:r>
              <a:rPr lang="en-US" sz="1400" dirty="0">
                <a:solidFill>
                  <a:schemeClr val="tx1"/>
                </a:solidFill>
              </a:rPr>
              <a:t>Chaque action inscrite au journal d'audit</a:t>
            </a:r>
            <a:endParaRPr lang="en-US" sz="1400" dirty="0"/>
          </a:p>
        </p:txBody>
      </p:sp>
      <p:sp>
        <p:nvSpPr>
          <p:cNvPr id="25" name="Slide Number Placeholder 0"/>
          <p:cNvSpPr>
            <a:spLocks noGrp="1"/>
          </p:cNvSpPr>
          <p:nvPr>
            <p:ph type="sldNum" sz="quarter" idx="4294967295"/>
          </p:nvPr>
        </p:nvSpPr>
        <p:spPr>
          <a:xfrm>
            <a:off x="11183112" y="6446520"/>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1600200"/>
            <a:ext cx="2743200" cy="914400"/>
          </a:xfrm>
          <a:prstGeom prst="rect">
            <a:avLst/>
          </a:prstGeom>
          <a:noFill/>
          <a:ln/>
        </p:spPr>
        <p:txBody>
          <a:bodyPr wrap="square" lIns="0" tIns="0" rIns="0" bIns="0" rtlCol="0" anchor="t"/>
          <a:lstStyle/>
          <a:p>
            <a:pPr indent="0" marL="0">
              <a:buNone/>
            </a:pPr>
            <a:r>
              <a:rPr lang="en-US" sz="6000" b="1" dirty="0">
                <a:solidFill>
                  <a:schemeClr val="accent2"/>
                </a:solidFill>
              </a:rPr>
              <a:t>01</a:t>
            </a:r>
            <a:endParaRPr lang="en-US" sz="6000" dirty="0"/>
          </a:p>
        </p:txBody>
      </p:sp>
      <p:sp>
        <p:nvSpPr>
          <p:cNvPr id="3" name="Text 0"/>
          <p:cNvSpPr/>
          <p:nvPr>
            <p:ph idx="101" type="title" hasCustomPrompt="1"/>
          </p:nvPr>
        </p:nvSpPr>
        <p:spPr>
          <a:xfrm>
            <a:off x="548640" y="2560320"/>
            <a:ext cx="5486400" cy="1325880"/>
          </a:xfrm>
          <a:prstGeom prst="rect">
            <a:avLst/>
          </a:prstGeom>
          <a:noFill/>
          <a:ln/>
        </p:spPr>
        <p:txBody>
          <a:bodyPr wrap="square" lIns="0" tIns="0" rIns="0" bIns="0" rtlCol="0" anchor="t"/>
          <a:lstStyle/>
          <a:p>
            <a:pPr algn="l" indent="0" marL="0">
              <a:buNone/>
            </a:pPr>
            <a:r>
              <a:rPr lang="en-US" sz="4000" b="1" dirty="0">
                <a:solidFill>
                  <a:schemeClr val="bg1"/>
                </a:solidFill>
              </a:rPr>
              <a:t>L'expérience du client</a:t>
            </a:r>
            <a:endParaRPr lang="en-US" sz="4000" dirty="0"/>
          </a:p>
        </p:txBody>
      </p:sp>
      <p:sp>
        <p:nvSpPr>
          <p:cNvPr id="4" name="Text 0"/>
          <p:cNvSpPr/>
          <p:nvPr>
            <p:ph idx="102" type="body" hasCustomPrompt="1"/>
          </p:nvPr>
        </p:nvSpPr>
        <p:spPr>
          <a:xfrm>
            <a:off x="548640" y="4069080"/>
            <a:ext cx="5029200" cy="1371600"/>
          </a:xfrm>
          <a:prstGeom prst="rect">
            <a:avLst/>
          </a:prstGeom>
          <a:noFill/>
          <a:ln/>
        </p:spPr>
        <p:txBody>
          <a:bodyPr wrap="square" lIns="0" tIns="0" rIns="0" bIns="0" rtlCol="0" anchor="t"/>
          <a:lstStyle/>
          <a:p>
            <a:pPr algn="l" indent="0" marL="0">
              <a:buNone/>
            </a:pPr>
            <a:r>
              <a:rPr lang="en-US" sz="1800" dirty="0">
                <a:solidFill>
                  <a:schemeClr val="bg2"/>
                </a:solidFill>
              </a:rPr>
              <a:t>Sur son téléphone, sans application ni compte, aux couleurs de votre banque.</a:t>
            </a:r>
            <a:endParaRPr lang="en-US" sz="1800" dirty="0"/>
          </a:p>
        </p:txBody>
      </p:sp>
      <p:pic>
        <p:nvPicPr>
          <p:cNvPr id="6" name="Image 0" descr="Portail : l'assistant répond à une question">    </p:cNvPr>
          <p:cNvPicPr>
            <a:picLocks noChangeAspect="1"/>
          </p:cNvPicPr>
          <p:nvPr/>
        </p:nvPicPr>
        <p:blipFill>
          <a:blip r:embed="rId1"/>
          <a:stretch>
            <a:fillRect/>
          </a:stretch>
        </p:blipFill>
        <p:spPr>
          <a:xfrm>
            <a:off x="6651555" y="662235"/>
            <a:ext cx="2961931" cy="5533530"/>
          </a:xfrm>
          <a:prstGeom prst="rect">
            <a:avLst/>
          </a:prstGeom>
        </p:spPr>
      </p:pic>
      <p:pic>
        <p:nvPicPr>
          <p:cNvPr id="7" name="Image 1" descr="Portail : la réclamation est résolue">    </p:cNvPr>
          <p:cNvPicPr>
            <a:picLocks noChangeAspect="1"/>
          </p:cNvPicPr>
          <p:nvPr/>
        </p:nvPicPr>
        <p:blipFill>
          <a:blip r:embed="rId2"/>
          <a:stretch>
            <a:fillRect/>
          </a:stretch>
        </p:blipFill>
        <p:spPr>
          <a:xfrm>
            <a:off x="9211875" y="1210875"/>
            <a:ext cx="2961931" cy="553353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LE CLIENT · ASSISTANT IA</a:t>
            </a:r>
            <a:endParaRPr lang="en-US" sz="1200" dirty="0"/>
          </a:p>
        </p:txBody>
      </p:sp>
      <p:sp>
        <p:nvSpPr>
          <p:cNvPr id="3" name="Text 0"/>
          <p:cNvSpPr/>
          <p:nvPr>
            <p:ph idx="101" type="title" hasCustomPrompt="1"/>
          </p:nvPr>
        </p:nvSpPr>
        <p:spPr>
          <a:xfrm>
            <a:off x="548640" y="603504"/>
            <a:ext cx="11091672" cy="685800"/>
          </a:xfrm>
          <a:prstGeom prst="rect">
            <a:avLst/>
          </a:prstGeom>
          <a:noFill/>
          <a:ln/>
        </p:spPr>
        <p:txBody>
          <a:bodyPr wrap="square" lIns="0" tIns="0" rIns="0" bIns="0" rtlCol="0" anchor="t"/>
          <a:lstStyle/>
          <a:p>
            <a:pPr algn="l" indent="0" marL="0">
              <a:buNone/>
            </a:pPr>
            <a:r>
              <a:rPr lang="en-US" sz="3600" b="1" dirty="0">
                <a:solidFill>
                  <a:schemeClr val="tx1"/>
                </a:solidFill>
              </a:rPr>
              <a:t>L'assistant répond, puis prépare la demande</a:t>
            </a:r>
            <a:endParaRPr lang="en-US" sz="3600" dirty="0"/>
          </a:p>
        </p:txBody>
      </p:sp>
      <p:pic>
        <p:nvPicPr>
          <p:cNvPr id="5" name="Image 0" descr="L'assistant répond aux horaires">    </p:cNvPr>
          <p:cNvPicPr>
            <a:picLocks noChangeAspect="1"/>
          </p:cNvPicPr>
          <p:nvPr/>
        </p:nvPicPr>
        <p:blipFill>
          <a:blip r:embed="rId1"/>
          <a:stretch>
            <a:fillRect/>
          </a:stretch>
        </p:blipFill>
        <p:spPr>
          <a:xfrm>
            <a:off x="537764" y="1333292"/>
            <a:ext cx="2728094" cy="5096672"/>
          </a:xfrm>
          <a:prstGeom prst="rect">
            <a:avLst/>
          </a:prstGeom>
        </p:spPr>
      </p:pic>
      <p:pic>
        <p:nvPicPr>
          <p:cNvPr id="6" name="Image 1" descr="L'assistant propose une réclamation prête à envoyer">    </p:cNvPr>
          <p:cNvPicPr>
            <a:picLocks noChangeAspect="1"/>
          </p:cNvPicPr>
          <p:nvPr/>
        </p:nvPicPr>
        <p:blipFill>
          <a:blip r:embed="rId2"/>
          <a:stretch>
            <a:fillRect/>
          </a:stretch>
        </p:blipFill>
        <p:spPr>
          <a:xfrm>
            <a:off x="3326684" y="1333292"/>
            <a:ext cx="2728094" cy="5096672"/>
          </a:xfrm>
          <a:prstGeom prst="rect">
            <a:avLst/>
          </a:prstGeom>
        </p:spPr>
      </p:pic>
      <p:sp>
        <p:nvSpPr>
          <p:cNvPr id="7" name="Pastille 1"/>
          <p:cNvSpPr/>
          <p:nvPr/>
        </p:nvSpPr>
        <p:spPr>
          <a:xfrm>
            <a:off x="585216" y="1380744"/>
            <a:ext cx="384048" cy="384048"/>
          </a:xfrm>
          <a:prstGeom prst="ellipse">
            <a:avLst/>
          </a:prstGeom>
          <a:solidFill>
            <a:schemeClr val="accent2"/>
          </a:solidFill>
          <a:ln w="19050">
            <a:solidFill>
              <a:schemeClr val="bg1"/>
            </a:solidFill>
            <a:prstDash val="solid"/>
          </a:ln>
          <a:effectLst>
            <a:outerShdw sx="100000" sy="100000" kx="0" ky="0" algn="bl" rotWithShape="0" blurRad="38100" dist="12700" dir="5400000">
              <a:srgbClr val="0E1C24">
                <a:alpha val="30000"/>
              </a:srgbClr>
            </a:outerShdw>
          </a:effectLst>
        </p:spPr>
      </p:sp>
      <p:sp>
        <p:nvSpPr>
          <p:cNvPr id="8" name="Text 3"/>
          <p:cNvSpPr txBox="1"/>
          <p:nvPr/>
        </p:nvSpPr>
        <p:spPr>
          <a:xfrm>
            <a:off x="585216" y="1380744"/>
            <a:ext cx="384048" cy="384048"/>
          </a:xfrm>
          <a:prstGeom prst="rect">
            <a:avLst/>
          </a:prstGeom>
          <a:noFill/>
          <a:ln/>
        </p:spPr>
        <p:txBody>
          <a:bodyPr wrap="square" lIns="0" tIns="0" rIns="0" bIns="0" rtlCol="0" anchor="ctr"/>
          <a:lstStyle/>
          <a:p>
            <a:pPr algn="ctr" indent="0" marL="0">
              <a:buNone/>
            </a:pPr>
            <a:r>
              <a:rPr lang="en-US" sz="1600" b="1" dirty="0">
                <a:solidFill>
                  <a:schemeClr val="tx2"/>
                </a:solidFill>
              </a:rPr>
              <a:t>1</a:t>
            </a:r>
            <a:endParaRPr lang="en-US" sz="1600" dirty="0"/>
          </a:p>
        </p:txBody>
      </p:sp>
      <p:sp>
        <p:nvSpPr>
          <p:cNvPr id="9" name="Pastille 2"/>
          <p:cNvSpPr/>
          <p:nvPr/>
        </p:nvSpPr>
        <p:spPr>
          <a:xfrm>
            <a:off x="3374136" y="1380744"/>
            <a:ext cx="384048" cy="384048"/>
          </a:xfrm>
          <a:prstGeom prst="ellipse">
            <a:avLst/>
          </a:prstGeom>
          <a:solidFill>
            <a:schemeClr val="accent2"/>
          </a:solidFill>
          <a:ln w="19050">
            <a:solidFill>
              <a:schemeClr val="bg1"/>
            </a:solidFill>
            <a:prstDash val="solid"/>
          </a:ln>
          <a:effectLst>
            <a:outerShdw sx="100000" sy="100000" kx="0" ky="0" algn="bl" rotWithShape="0" blurRad="38100" dist="12700" dir="5400000">
              <a:srgbClr val="0E1C24">
                <a:alpha val="30000"/>
              </a:srgbClr>
            </a:outerShdw>
          </a:effectLst>
        </p:spPr>
      </p:sp>
      <p:sp>
        <p:nvSpPr>
          <p:cNvPr id="10" name="Text 5"/>
          <p:cNvSpPr txBox="1"/>
          <p:nvPr/>
        </p:nvSpPr>
        <p:spPr>
          <a:xfrm>
            <a:off x="3374136" y="1380744"/>
            <a:ext cx="384048" cy="384048"/>
          </a:xfrm>
          <a:prstGeom prst="rect">
            <a:avLst/>
          </a:prstGeom>
          <a:noFill/>
          <a:ln/>
        </p:spPr>
        <p:txBody>
          <a:bodyPr wrap="square" lIns="0" tIns="0" rIns="0" bIns="0" rtlCol="0" anchor="ctr"/>
          <a:lstStyle/>
          <a:p>
            <a:pPr algn="ctr" indent="0" marL="0">
              <a:buNone/>
            </a:pPr>
            <a:r>
              <a:rPr lang="en-US" sz="1600" b="1" dirty="0">
                <a:solidFill>
                  <a:schemeClr val="tx2"/>
                </a:solidFill>
              </a:rPr>
              <a:t>2</a:t>
            </a:r>
            <a:endParaRPr lang="en-US" sz="1600" dirty="0"/>
          </a:p>
        </p:txBody>
      </p:sp>
      <p:sp>
        <p:nvSpPr>
          <p:cNvPr id="11" name="Pastille 1"/>
          <p:cNvSpPr/>
          <p:nvPr/>
        </p:nvSpPr>
        <p:spPr>
          <a:xfrm>
            <a:off x="6510528" y="1691640"/>
            <a:ext cx="329184" cy="329184"/>
          </a:xfrm>
          <a:prstGeom prst="ellipse">
            <a:avLst/>
          </a:prstGeom>
          <a:solidFill>
            <a:schemeClr val="accent2"/>
          </a:solidFill>
          <a:ln w="19050">
            <a:solidFill>
              <a:schemeClr val="bg1"/>
            </a:solidFill>
            <a:prstDash val="solid"/>
          </a:ln>
          <a:effectLst>
            <a:outerShdw sx="100000" sy="100000" kx="0" ky="0" algn="bl" rotWithShape="0" blurRad="38100" dist="12700" dir="5400000">
              <a:srgbClr val="0E1C24">
                <a:alpha val="30000"/>
              </a:srgbClr>
            </a:outerShdw>
          </a:effectLst>
        </p:spPr>
      </p:sp>
      <p:sp>
        <p:nvSpPr>
          <p:cNvPr id="12" name="Text 7"/>
          <p:cNvSpPr txBox="1"/>
          <p:nvPr/>
        </p:nvSpPr>
        <p:spPr>
          <a:xfrm>
            <a:off x="6510528" y="1691640"/>
            <a:ext cx="329184" cy="329184"/>
          </a:xfrm>
          <a:prstGeom prst="rect">
            <a:avLst/>
          </a:prstGeom>
          <a:noFill/>
          <a:ln/>
        </p:spPr>
        <p:txBody>
          <a:bodyPr wrap="square" lIns="0" tIns="0" rIns="0" bIns="0" rtlCol="0" anchor="ctr"/>
          <a:lstStyle/>
          <a:p>
            <a:pPr algn="ctr" indent="0" marL="0">
              <a:buNone/>
            </a:pPr>
            <a:r>
              <a:rPr lang="en-US" sz="1400" b="1" dirty="0">
                <a:solidFill>
                  <a:schemeClr val="tx2"/>
                </a:solidFill>
              </a:rPr>
              <a:t>1</a:t>
            </a:r>
            <a:endParaRPr lang="en-US" sz="1400" dirty="0"/>
          </a:p>
        </p:txBody>
      </p:sp>
      <p:sp>
        <p:nvSpPr>
          <p:cNvPr id="13" name="Text 8"/>
          <p:cNvSpPr txBox="1"/>
          <p:nvPr/>
        </p:nvSpPr>
        <p:spPr>
          <a:xfrm>
            <a:off x="7022592" y="1691640"/>
            <a:ext cx="4620463" cy="993648"/>
          </a:xfrm>
          <a:prstGeom prst="rect">
            <a:avLst/>
          </a:prstGeom>
          <a:noFill/>
          <a:ln/>
        </p:spPr>
        <p:txBody>
          <a:bodyPr wrap="square" lIns="0" tIns="0" rIns="0" bIns="0" rtlCol="0" anchor="t"/>
          <a:lstStyle/>
          <a:p>
            <a:pPr indent="0" marL="0">
              <a:spcAft>
                <a:spcPts val="200"/>
              </a:spcAft>
              <a:buNone/>
            </a:pPr>
            <a:r>
              <a:rPr lang="en-US" sz="1600" b="1" dirty="0">
                <a:solidFill>
                  <a:schemeClr val="tx1"/>
                </a:solidFill>
              </a:rPr>
              <a:t>Il répond aux questions fréquentes</a:t>
            </a:r>
            <a:endParaRPr lang="en-US" sz="1600" dirty="0"/>
          </a:p>
          <a:p>
            <a:pPr indent="0" marL="0">
              <a:buNone/>
            </a:pPr>
            <a:r>
              <a:rPr lang="en-US" sz="1400" dirty="0">
                <a:solidFill>
                  <a:schemeClr val="accent3"/>
                </a:solidFill>
              </a:rPr>
              <a:t>Avec les réponses que votre banque a écrites et validées, mot pour mot. Il se présente comme un assistant automatique.</a:t>
            </a:r>
            <a:endParaRPr lang="en-US" sz="1600" dirty="0"/>
          </a:p>
        </p:txBody>
      </p:sp>
      <p:sp>
        <p:nvSpPr>
          <p:cNvPr id="14" name="Pastille 2"/>
          <p:cNvSpPr/>
          <p:nvPr/>
        </p:nvSpPr>
        <p:spPr>
          <a:xfrm>
            <a:off x="6510528" y="2977896"/>
            <a:ext cx="329184" cy="329184"/>
          </a:xfrm>
          <a:prstGeom prst="ellipse">
            <a:avLst/>
          </a:prstGeom>
          <a:solidFill>
            <a:schemeClr val="accent2"/>
          </a:solidFill>
          <a:ln w="19050">
            <a:solidFill>
              <a:schemeClr val="bg1"/>
            </a:solidFill>
            <a:prstDash val="solid"/>
          </a:ln>
          <a:effectLst>
            <a:outerShdw sx="100000" sy="100000" kx="0" ky="0" algn="bl" rotWithShape="0" blurRad="38100" dist="12700" dir="5400000">
              <a:srgbClr val="0E1C24">
                <a:alpha val="30000"/>
              </a:srgbClr>
            </a:outerShdw>
          </a:effectLst>
        </p:spPr>
      </p:sp>
      <p:sp>
        <p:nvSpPr>
          <p:cNvPr id="15" name="Text 10"/>
          <p:cNvSpPr txBox="1"/>
          <p:nvPr/>
        </p:nvSpPr>
        <p:spPr>
          <a:xfrm>
            <a:off x="6510528" y="2977896"/>
            <a:ext cx="329184" cy="329184"/>
          </a:xfrm>
          <a:prstGeom prst="rect">
            <a:avLst/>
          </a:prstGeom>
          <a:noFill/>
          <a:ln/>
        </p:spPr>
        <p:txBody>
          <a:bodyPr wrap="square" lIns="0" tIns="0" rIns="0" bIns="0" rtlCol="0" anchor="ctr"/>
          <a:lstStyle/>
          <a:p>
            <a:pPr algn="ctr" indent="0" marL="0">
              <a:buNone/>
            </a:pPr>
            <a:r>
              <a:rPr lang="en-US" sz="1400" b="1" dirty="0">
                <a:solidFill>
                  <a:schemeClr val="tx2"/>
                </a:solidFill>
              </a:rPr>
              <a:t>2</a:t>
            </a:r>
            <a:endParaRPr lang="en-US" sz="1400" dirty="0"/>
          </a:p>
        </p:txBody>
      </p:sp>
      <p:sp>
        <p:nvSpPr>
          <p:cNvPr id="16" name="Text 11"/>
          <p:cNvSpPr txBox="1"/>
          <p:nvPr/>
        </p:nvSpPr>
        <p:spPr>
          <a:xfrm>
            <a:off x="7022592" y="2977896"/>
            <a:ext cx="4620463" cy="993648"/>
          </a:xfrm>
          <a:prstGeom prst="rect">
            <a:avLst/>
          </a:prstGeom>
          <a:noFill/>
          <a:ln/>
        </p:spPr>
        <p:txBody>
          <a:bodyPr wrap="square" lIns="0" tIns="0" rIns="0" bIns="0" rtlCol="0" anchor="t"/>
          <a:lstStyle/>
          <a:p>
            <a:pPr indent="0" marL="0">
              <a:spcAft>
                <a:spcPts val="200"/>
              </a:spcAft>
              <a:buNone/>
            </a:pPr>
            <a:r>
              <a:rPr lang="en-US" sz="1600" b="1" dirty="0">
                <a:solidFill>
                  <a:schemeClr val="tx1"/>
                </a:solidFill>
              </a:rPr>
              <a:t>Il prépare la réclamation</a:t>
            </a:r>
            <a:endParaRPr lang="en-US" sz="1600" dirty="0"/>
          </a:p>
          <a:p>
            <a:pPr indent="0" marL="0">
              <a:buNone/>
            </a:pPr>
            <a:r>
              <a:rPr lang="en-US" sz="1400" dirty="0">
                <a:solidFill>
                  <a:schemeClr val="accent3"/>
                </a:solidFill>
              </a:rPr>
              <a:t>Il propose la catégorie et résume la demande ; le client relit tout avant l'envoi. Rien ne part sans lui.</a:t>
            </a:r>
            <a:endParaRPr lang="en-US" sz="1600" dirty="0"/>
          </a:p>
        </p:txBody>
      </p:sp>
      <p:sp>
        <p:nvSpPr>
          <p:cNvPr id="17" name="Rond LuUserCheck"/>
          <p:cNvSpPr/>
          <p:nvPr/>
        </p:nvSpPr>
        <p:spPr>
          <a:xfrm>
            <a:off x="6492240" y="4245864"/>
            <a:ext cx="384048" cy="384048"/>
          </a:xfrm>
          <a:prstGeom prst="ellipse">
            <a:avLst/>
          </a:prstGeom>
          <a:solidFill>
            <a:schemeClr val="accent4"/>
          </a:solidFill>
          <a:ln/>
        </p:spPr>
      </p:sp>
      <p:pic>
        <p:nvPicPr>
          <p:cNvPr id="18" name="Image 2" descr="preencoded.png">    </p:cNvPr>
          <p:cNvPicPr>
            <a:picLocks noChangeAspect="1"/>
          </p:cNvPicPr>
          <p:nvPr/>
        </p:nvPicPr>
        <p:blipFill>
          <a:blip r:embed="rId3"/>
          <a:stretch>
            <a:fillRect/>
          </a:stretch>
        </p:blipFill>
        <p:spPr>
          <a:xfrm>
            <a:off x="6580571" y="4334195"/>
            <a:ext cx="207386" cy="207386"/>
          </a:xfrm>
          <a:prstGeom prst="rect">
            <a:avLst/>
          </a:prstGeom>
        </p:spPr>
      </p:pic>
      <p:sp>
        <p:nvSpPr>
          <p:cNvPr id="19" name="Text 13"/>
          <p:cNvSpPr txBox="1"/>
          <p:nvPr/>
        </p:nvSpPr>
        <p:spPr>
          <a:xfrm>
            <a:off x="7022592" y="4264152"/>
            <a:ext cx="4620463" cy="780288"/>
          </a:xfrm>
          <a:prstGeom prst="rect">
            <a:avLst/>
          </a:prstGeom>
          <a:noFill/>
          <a:ln/>
        </p:spPr>
        <p:txBody>
          <a:bodyPr wrap="square" lIns="0" tIns="0" rIns="0" bIns="0" rtlCol="0" anchor="t"/>
          <a:lstStyle/>
          <a:p>
            <a:pPr indent="0" marL="0">
              <a:spcAft>
                <a:spcPts val="200"/>
              </a:spcAft>
              <a:buNone/>
            </a:pPr>
            <a:r>
              <a:rPr lang="en-US" sz="1600" b="1" dirty="0">
                <a:solidFill>
                  <a:schemeClr val="tx1"/>
                </a:solidFill>
              </a:rPr>
              <a:t>Un conseiller à tout moment</a:t>
            </a:r>
            <a:endParaRPr lang="en-US" sz="1600" dirty="0"/>
          </a:p>
          <a:p>
            <a:pPr indent="0" marL="0">
              <a:buNone/>
            </a:pPr>
            <a:r>
              <a:rPr lang="en-US" sz="1400" dirty="0">
                <a:solidFill>
                  <a:schemeClr val="accent3"/>
                </a:solidFill>
              </a:rPr>
              <a:t>Le client écrit « conseiller », ou choisit le formulaire classique.</a:t>
            </a:r>
            <a:endParaRPr lang="en-US" sz="1600" dirty="0"/>
          </a:p>
        </p:txBody>
      </p:sp>
      <p:sp>
        <p:nvSpPr>
          <p:cNvPr id="20" name="Rond LuLock"/>
          <p:cNvSpPr/>
          <p:nvPr/>
        </p:nvSpPr>
        <p:spPr>
          <a:xfrm>
            <a:off x="6492240" y="5318760"/>
            <a:ext cx="384048" cy="384048"/>
          </a:xfrm>
          <a:prstGeom prst="ellipse">
            <a:avLst/>
          </a:prstGeom>
          <a:solidFill>
            <a:schemeClr val="accent4"/>
          </a:solidFill>
          <a:ln/>
        </p:spPr>
      </p:sp>
      <p:pic>
        <p:nvPicPr>
          <p:cNvPr id="21" name="Image 3" descr="preencoded.png">    </p:cNvPr>
          <p:cNvPicPr>
            <a:picLocks noChangeAspect="1"/>
          </p:cNvPicPr>
          <p:nvPr/>
        </p:nvPicPr>
        <p:blipFill>
          <a:blip r:embed="rId4"/>
          <a:stretch>
            <a:fillRect/>
          </a:stretch>
        </p:blipFill>
        <p:spPr>
          <a:xfrm>
            <a:off x="6580571" y="5407091"/>
            <a:ext cx="207386" cy="207386"/>
          </a:xfrm>
          <a:prstGeom prst="rect">
            <a:avLst/>
          </a:prstGeom>
        </p:spPr>
      </p:pic>
      <p:sp>
        <p:nvSpPr>
          <p:cNvPr id="22" name="Text 15"/>
          <p:cNvSpPr txBox="1"/>
          <p:nvPr/>
        </p:nvSpPr>
        <p:spPr>
          <a:xfrm>
            <a:off x="7022592" y="5337048"/>
            <a:ext cx="4620463" cy="780288"/>
          </a:xfrm>
          <a:prstGeom prst="rect">
            <a:avLst/>
          </a:prstGeom>
          <a:noFill/>
          <a:ln/>
        </p:spPr>
        <p:txBody>
          <a:bodyPr wrap="square" lIns="0" tIns="0" rIns="0" bIns="0" rtlCol="0" anchor="t"/>
          <a:lstStyle/>
          <a:p>
            <a:pPr indent="0" marL="0">
              <a:spcAft>
                <a:spcPts val="200"/>
              </a:spcAft>
              <a:buNone/>
            </a:pPr>
            <a:r>
              <a:rPr lang="en-US" sz="1600" b="1" dirty="0">
                <a:solidFill>
                  <a:schemeClr val="tx1"/>
                </a:solidFill>
              </a:rPr>
              <a:t>Aucun code secret conservé</a:t>
            </a:r>
            <a:endParaRPr lang="en-US" sz="1600" dirty="0"/>
          </a:p>
          <a:p>
            <a:pPr indent="0" marL="0">
              <a:buNone/>
            </a:pPr>
            <a:r>
              <a:rPr lang="en-US" sz="1400" dirty="0">
                <a:solidFill>
                  <a:schemeClr val="accent3"/>
                </a:solidFill>
              </a:rPr>
              <a:t>Saisi par erreur, il est masqué avant l'enregistrement.</a:t>
            </a:r>
            <a:endParaRPr lang="en-US" sz="1600" dirty="0"/>
          </a:p>
        </p:txBody>
      </p:sp>
      <p:sp>
        <p:nvSpPr>
          <p:cNvPr id="25" name="Slide Number Placeholder 0"/>
          <p:cNvSpPr>
            <a:spLocks noGrp="1"/>
          </p:cNvSpPr>
          <p:nvPr>
            <p:ph type="sldNum" sz="quarter" idx="4294967295"/>
          </p:nvPr>
        </p:nvSpPr>
        <p:spPr>
          <a:xfrm>
            <a:off x="11183112" y="6446520"/>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LE CLIENT · DÉPÔT</a:t>
            </a:r>
            <a:endParaRPr lang="en-US" sz="1200" dirty="0"/>
          </a:p>
        </p:txBody>
      </p:sp>
      <p:sp>
        <p:nvSpPr>
          <p:cNvPr id="3" name="Text 0"/>
          <p:cNvSpPr/>
          <p:nvPr>
            <p:ph idx="101" type="title" hasCustomPrompt="1"/>
          </p:nvPr>
        </p:nvSpPr>
        <p:spPr>
          <a:xfrm>
            <a:off x="548640" y="603504"/>
            <a:ext cx="11091672" cy="685800"/>
          </a:xfrm>
          <a:prstGeom prst="rect">
            <a:avLst/>
          </a:prstGeom>
          <a:noFill/>
          <a:ln/>
        </p:spPr>
        <p:txBody>
          <a:bodyPr wrap="square" lIns="0" tIns="0" rIns="0" bIns="0" rtlCol="0" anchor="t"/>
          <a:lstStyle/>
          <a:p>
            <a:pPr algn="l" indent="0" marL="0">
              <a:buNone/>
            </a:pPr>
            <a:r>
              <a:rPr lang="en-US" sz="3600" b="1" dirty="0">
                <a:solidFill>
                  <a:schemeClr val="tx1"/>
                </a:solidFill>
              </a:rPr>
              <a:t>Le client relit, envoie et reçoit son numéro</a:t>
            </a:r>
            <a:endParaRPr lang="en-US" sz="3600" dirty="0"/>
          </a:p>
        </p:txBody>
      </p:sp>
      <p:pic>
        <p:nvPicPr>
          <p:cNvPr id="5" name="Image 0" descr="Formulaire de dépôt prérempli">    </p:cNvPr>
          <p:cNvPicPr>
            <a:picLocks noChangeAspect="1"/>
          </p:cNvPicPr>
          <p:nvPr/>
        </p:nvPicPr>
        <p:blipFill>
          <a:blip r:embed="rId1"/>
          <a:stretch>
            <a:fillRect/>
          </a:stretch>
        </p:blipFill>
        <p:spPr>
          <a:xfrm>
            <a:off x="537764" y="1333292"/>
            <a:ext cx="2728094" cy="5096672"/>
          </a:xfrm>
          <a:prstGeom prst="rect">
            <a:avLst/>
          </a:prstGeom>
        </p:spPr>
      </p:pic>
      <p:pic>
        <p:nvPicPr>
          <p:cNvPr id="6" name="Image 1" descr="Accusé de réception avec le numéro de suivi">    </p:cNvPr>
          <p:cNvPicPr>
            <a:picLocks noChangeAspect="1"/>
          </p:cNvPicPr>
          <p:nvPr/>
        </p:nvPicPr>
        <p:blipFill>
          <a:blip r:embed="rId2"/>
          <a:stretch>
            <a:fillRect/>
          </a:stretch>
        </p:blipFill>
        <p:spPr>
          <a:xfrm>
            <a:off x="3326684" y="1333292"/>
            <a:ext cx="2728094" cy="5096672"/>
          </a:xfrm>
          <a:prstGeom prst="rect">
            <a:avLst/>
          </a:prstGeom>
        </p:spPr>
      </p:pic>
      <p:sp>
        <p:nvSpPr>
          <p:cNvPr id="7" name="Pastille 1"/>
          <p:cNvSpPr/>
          <p:nvPr/>
        </p:nvSpPr>
        <p:spPr>
          <a:xfrm>
            <a:off x="585216" y="1380744"/>
            <a:ext cx="384048" cy="384048"/>
          </a:xfrm>
          <a:prstGeom prst="ellipse">
            <a:avLst/>
          </a:prstGeom>
          <a:solidFill>
            <a:schemeClr val="accent2"/>
          </a:solidFill>
          <a:ln w="19050">
            <a:solidFill>
              <a:schemeClr val="bg1"/>
            </a:solidFill>
            <a:prstDash val="solid"/>
          </a:ln>
          <a:effectLst>
            <a:outerShdw sx="100000" sy="100000" kx="0" ky="0" algn="bl" rotWithShape="0" blurRad="38100" dist="12700" dir="5400000">
              <a:srgbClr val="0E1C24">
                <a:alpha val="30000"/>
              </a:srgbClr>
            </a:outerShdw>
          </a:effectLst>
        </p:spPr>
      </p:sp>
      <p:sp>
        <p:nvSpPr>
          <p:cNvPr id="8" name="Text 3"/>
          <p:cNvSpPr txBox="1"/>
          <p:nvPr/>
        </p:nvSpPr>
        <p:spPr>
          <a:xfrm>
            <a:off x="585216" y="1380744"/>
            <a:ext cx="384048" cy="384048"/>
          </a:xfrm>
          <a:prstGeom prst="rect">
            <a:avLst/>
          </a:prstGeom>
          <a:noFill/>
          <a:ln/>
        </p:spPr>
        <p:txBody>
          <a:bodyPr wrap="square" lIns="0" tIns="0" rIns="0" bIns="0" rtlCol="0" anchor="ctr"/>
          <a:lstStyle/>
          <a:p>
            <a:pPr algn="ctr" indent="0" marL="0">
              <a:buNone/>
            </a:pPr>
            <a:r>
              <a:rPr lang="en-US" sz="1600" b="1" dirty="0">
                <a:solidFill>
                  <a:schemeClr val="tx2"/>
                </a:solidFill>
              </a:rPr>
              <a:t>1</a:t>
            </a:r>
            <a:endParaRPr lang="en-US" sz="1600" dirty="0"/>
          </a:p>
        </p:txBody>
      </p:sp>
      <p:sp>
        <p:nvSpPr>
          <p:cNvPr id="9" name="Pastille 2"/>
          <p:cNvSpPr/>
          <p:nvPr/>
        </p:nvSpPr>
        <p:spPr>
          <a:xfrm>
            <a:off x="3374136" y="1380744"/>
            <a:ext cx="384048" cy="384048"/>
          </a:xfrm>
          <a:prstGeom prst="ellipse">
            <a:avLst/>
          </a:prstGeom>
          <a:solidFill>
            <a:schemeClr val="accent2"/>
          </a:solidFill>
          <a:ln w="19050">
            <a:solidFill>
              <a:schemeClr val="bg1"/>
            </a:solidFill>
            <a:prstDash val="solid"/>
          </a:ln>
          <a:effectLst>
            <a:outerShdw sx="100000" sy="100000" kx="0" ky="0" algn="bl" rotWithShape="0" blurRad="38100" dist="12700" dir="5400000">
              <a:srgbClr val="0E1C24">
                <a:alpha val="30000"/>
              </a:srgbClr>
            </a:outerShdw>
          </a:effectLst>
        </p:spPr>
      </p:sp>
      <p:sp>
        <p:nvSpPr>
          <p:cNvPr id="10" name="Text 5"/>
          <p:cNvSpPr txBox="1"/>
          <p:nvPr/>
        </p:nvSpPr>
        <p:spPr>
          <a:xfrm>
            <a:off x="3374136" y="1380744"/>
            <a:ext cx="384048" cy="384048"/>
          </a:xfrm>
          <a:prstGeom prst="rect">
            <a:avLst/>
          </a:prstGeom>
          <a:noFill/>
          <a:ln/>
        </p:spPr>
        <p:txBody>
          <a:bodyPr wrap="square" lIns="0" tIns="0" rIns="0" bIns="0" rtlCol="0" anchor="ctr"/>
          <a:lstStyle/>
          <a:p>
            <a:pPr algn="ctr" indent="0" marL="0">
              <a:buNone/>
            </a:pPr>
            <a:r>
              <a:rPr lang="en-US" sz="1600" b="1" dirty="0">
                <a:solidFill>
                  <a:schemeClr val="tx2"/>
                </a:solidFill>
              </a:rPr>
              <a:t>2</a:t>
            </a:r>
            <a:endParaRPr lang="en-US" sz="1600" dirty="0"/>
          </a:p>
        </p:txBody>
      </p:sp>
      <p:sp>
        <p:nvSpPr>
          <p:cNvPr id="11" name="Pastille 1"/>
          <p:cNvSpPr/>
          <p:nvPr/>
        </p:nvSpPr>
        <p:spPr>
          <a:xfrm>
            <a:off x="6510528" y="1691640"/>
            <a:ext cx="329184" cy="329184"/>
          </a:xfrm>
          <a:prstGeom prst="ellipse">
            <a:avLst/>
          </a:prstGeom>
          <a:solidFill>
            <a:schemeClr val="accent2"/>
          </a:solidFill>
          <a:ln w="19050">
            <a:solidFill>
              <a:schemeClr val="bg1"/>
            </a:solidFill>
            <a:prstDash val="solid"/>
          </a:ln>
          <a:effectLst>
            <a:outerShdw sx="100000" sy="100000" kx="0" ky="0" algn="bl" rotWithShape="0" blurRad="38100" dist="12700" dir="5400000">
              <a:srgbClr val="0E1C24">
                <a:alpha val="30000"/>
              </a:srgbClr>
            </a:outerShdw>
          </a:effectLst>
        </p:spPr>
      </p:sp>
      <p:sp>
        <p:nvSpPr>
          <p:cNvPr id="12" name="Text 7"/>
          <p:cNvSpPr txBox="1"/>
          <p:nvPr/>
        </p:nvSpPr>
        <p:spPr>
          <a:xfrm>
            <a:off x="6510528" y="1691640"/>
            <a:ext cx="329184" cy="329184"/>
          </a:xfrm>
          <a:prstGeom prst="rect">
            <a:avLst/>
          </a:prstGeom>
          <a:noFill/>
          <a:ln/>
        </p:spPr>
        <p:txBody>
          <a:bodyPr wrap="square" lIns="0" tIns="0" rIns="0" bIns="0" rtlCol="0" anchor="ctr"/>
          <a:lstStyle/>
          <a:p>
            <a:pPr algn="ctr" indent="0" marL="0">
              <a:buNone/>
            </a:pPr>
            <a:r>
              <a:rPr lang="en-US" sz="1400" b="1" dirty="0">
                <a:solidFill>
                  <a:schemeClr val="tx2"/>
                </a:solidFill>
              </a:rPr>
              <a:t>1</a:t>
            </a:r>
            <a:endParaRPr lang="en-US" sz="1400" dirty="0"/>
          </a:p>
        </p:txBody>
      </p:sp>
      <p:sp>
        <p:nvSpPr>
          <p:cNvPr id="13" name="Text 8"/>
          <p:cNvSpPr txBox="1"/>
          <p:nvPr/>
        </p:nvSpPr>
        <p:spPr>
          <a:xfrm>
            <a:off x="7022592" y="1691640"/>
            <a:ext cx="4620463" cy="993648"/>
          </a:xfrm>
          <a:prstGeom prst="rect">
            <a:avLst/>
          </a:prstGeom>
          <a:noFill/>
          <a:ln/>
        </p:spPr>
        <p:txBody>
          <a:bodyPr wrap="square" lIns="0" tIns="0" rIns="0" bIns="0" rtlCol="0" anchor="t"/>
          <a:lstStyle/>
          <a:p>
            <a:pPr indent="0" marL="0">
              <a:spcAft>
                <a:spcPts val="200"/>
              </a:spcAft>
              <a:buNone/>
            </a:pPr>
            <a:r>
              <a:rPr lang="en-US" sz="1600" b="1" dirty="0">
                <a:solidFill>
                  <a:schemeClr val="tx1"/>
                </a:solidFill>
              </a:rPr>
              <a:t>Un formulaire prérempli</a:t>
            </a:r>
            <a:endParaRPr lang="en-US" sz="1600" dirty="0"/>
          </a:p>
          <a:p>
            <a:pPr indent="0" marL="0">
              <a:buNone/>
            </a:pPr>
            <a:r>
              <a:rPr lang="en-US" sz="1400" dirty="0">
                <a:solidFill>
                  <a:schemeClr val="accent3"/>
                </a:solidFill>
              </a:rPr>
              <a:t>Catégorie et description reprises de l'échange ; le client ajoute ses coordonnées et accepte la politique de données.</a:t>
            </a:r>
            <a:endParaRPr lang="en-US" sz="1600" dirty="0"/>
          </a:p>
        </p:txBody>
      </p:sp>
      <p:sp>
        <p:nvSpPr>
          <p:cNvPr id="14" name="Pastille 2"/>
          <p:cNvSpPr/>
          <p:nvPr/>
        </p:nvSpPr>
        <p:spPr>
          <a:xfrm>
            <a:off x="6510528" y="2977896"/>
            <a:ext cx="329184" cy="329184"/>
          </a:xfrm>
          <a:prstGeom prst="ellipse">
            <a:avLst/>
          </a:prstGeom>
          <a:solidFill>
            <a:schemeClr val="accent2"/>
          </a:solidFill>
          <a:ln w="19050">
            <a:solidFill>
              <a:schemeClr val="bg1"/>
            </a:solidFill>
            <a:prstDash val="solid"/>
          </a:ln>
          <a:effectLst>
            <a:outerShdw sx="100000" sy="100000" kx="0" ky="0" algn="bl" rotWithShape="0" blurRad="38100" dist="12700" dir="5400000">
              <a:srgbClr val="0E1C24">
                <a:alpha val="30000"/>
              </a:srgbClr>
            </a:outerShdw>
          </a:effectLst>
        </p:spPr>
      </p:sp>
      <p:sp>
        <p:nvSpPr>
          <p:cNvPr id="15" name="Text 10"/>
          <p:cNvSpPr txBox="1"/>
          <p:nvPr/>
        </p:nvSpPr>
        <p:spPr>
          <a:xfrm>
            <a:off x="6510528" y="2977896"/>
            <a:ext cx="329184" cy="329184"/>
          </a:xfrm>
          <a:prstGeom prst="rect">
            <a:avLst/>
          </a:prstGeom>
          <a:noFill/>
          <a:ln/>
        </p:spPr>
        <p:txBody>
          <a:bodyPr wrap="square" lIns="0" tIns="0" rIns="0" bIns="0" rtlCol="0" anchor="ctr"/>
          <a:lstStyle/>
          <a:p>
            <a:pPr algn="ctr" indent="0" marL="0">
              <a:buNone/>
            </a:pPr>
            <a:r>
              <a:rPr lang="en-US" sz="1400" b="1" dirty="0">
                <a:solidFill>
                  <a:schemeClr val="tx2"/>
                </a:solidFill>
              </a:rPr>
              <a:t>2</a:t>
            </a:r>
            <a:endParaRPr lang="en-US" sz="1400" dirty="0"/>
          </a:p>
        </p:txBody>
      </p:sp>
      <p:sp>
        <p:nvSpPr>
          <p:cNvPr id="16" name="Text 11"/>
          <p:cNvSpPr txBox="1"/>
          <p:nvPr/>
        </p:nvSpPr>
        <p:spPr>
          <a:xfrm>
            <a:off x="7022592" y="2977896"/>
            <a:ext cx="4620463" cy="780288"/>
          </a:xfrm>
          <a:prstGeom prst="rect">
            <a:avLst/>
          </a:prstGeom>
          <a:noFill/>
          <a:ln/>
        </p:spPr>
        <p:txBody>
          <a:bodyPr wrap="square" lIns="0" tIns="0" rIns="0" bIns="0" rtlCol="0" anchor="t"/>
          <a:lstStyle/>
          <a:p>
            <a:pPr indent="0" marL="0">
              <a:spcAft>
                <a:spcPts val="200"/>
              </a:spcAft>
              <a:buNone/>
            </a:pPr>
            <a:r>
              <a:rPr lang="en-US" sz="1600" b="1" dirty="0">
                <a:solidFill>
                  <a:schemeClr val="tx1"/>
                </a:solidFill>
              </a:rPr>
              <a:t>Un numéro de suivi immédiat</a:t>
            </a:r>
            <a:endParaRPr lang="en-US" sz="1600" dirty="0"/>
          </a:p>
          <a:p>
            <a:pPr indent="0" marL="0">
              <a:buNone/>
            </a:pPr>
            <a:r>
              <a:rPr lang="en-US" sz="1400" dirty="0">
                <a:solidFill>
                  <a:schemeClr val="accent3"/>
                </a:solidFill>
              </a:rPr>
              <a:t>Copié en un clic, envoyé aussi par SMS et par e-mail avec le lien de suivi.</a:t>
            </a:r>
            <a:endParaRPr lang="en-US" sz="1600" dirty="0"/>
          </a:p>
        </p:txBody>
      </p:sp>
      <p:sp>
        <p:nvSpPr>
          <p:cNvPr id="17" name="Rond LuMapPin"/>
          <p:cNvSpPr/>
          <p:nvPr/>
        </p:nvSpPr>
        <p:spPr>
          <a:xfrm>
            <a:off x="6492240" y="4032504"/>
            <a:ext cx="384048" cy="384048"/>
          </a:xfrm>
          <a:prstGeom prst="ellipse">
            <a:avLst/>
          </a:prstGeom>
          <a:solidFill>
            <a:schemeClr val="accent4"/>
          </a:solidFill>
          <a:ln/>
        </p:spPr>
      </p:sp>
      <p:pic>
        <p:nvPicPr>
          <p:cNvPr id="18" name="Image 2" descr="preencoded.png">    </p:cNvPr>
          <p:cNvPicPr>
            <a:picLocks noChangeAspect="1"/>
          </p:cNvPicPr>
          <p:nvPr/>
        </p:nvPicPr>
        <p:blipFill>
          <a:blip r:embed="rId3"/>
          <a:stretch>
            <a:fillRect/>
          </a:stretch>
        </p:blipFill>
        <p:spPr>
          <a:xfrm>
            <a:off x="6580571" y="4120835"/>
            <a:ext cx="207386" cy="207386"/>
          </a:xfrm>
          <a:prstGeom prst="rect">
            <a:avLst/>
          </a:prstGeom>
        </p:spPr>
      </p:pic>
      <p:sp>
        <p:nvSpPr>
          <p:cNvPr id="19" name="Text 13"/>
          <p:cNvSpPr txBox="1"/>
          <p:nvPr/>
        </p:nvSpPr>
        <p:spPr>
          <a:xfrm>
            <a:off x="7022592" y="4050792"/>
            <a:ext cx="4620463" cy="780288"/>
          </a:xfrm>
          <a:prstGeom prst="rect">
            <a:avLst/>
          </a:prstGeom>
          <a:noFill/>
          <a:ln/>
        </p:spPr>
        <p:txBody>
          <a:bodyPr wrap="square" lIns="0" tIns="0" rIns="0" bIns="0" rtlCol="0" anchor="t"/>
          <a:lstStyle/>
          <a:p>
            <a:pPr indent="0" marL="0">
              <a:spcAft>
                <a:spcPts val="200"/>
              </a:spcAft>
              <a:buNone/>
            </a:pPr>
            <a:r>
              <a:rPr lang="en-US" sz="1600" b="1" dirty="0">
                <a:solidFill>
                  <a:schemeClr val="tx1"/>
                </a:solidFill>
              </a:rPr>
              <a:t>L'agence connue d'avance</a:t>
            </a:r>
            <a:endParaRPr lang="en-US" sz="1600" dirty="0"/>
          </a:p>
          <a:p>
            <a:pPr indent="0" marL="0">
              <a:buNone/>
            </a:pPr>
            <a:r>
              <a:rPr lang="en-US" sz="1400" dirty="0">
                <a:solidFill>
                  <a:schemeClr val="accent3"/>
                </a:solidFill>
              </a:rPr>
              <a:t>Chaque QR code est rattaché à un point de dépôt : la réclamation arrive avec son agence.</a:t>
            </a:r>
            <a:endParaRPr lang="en-US" sz="1600" dirty="0"/>
          </a:p>
        </p:txBody>
      </p:sp>
      <p:sp>
        <p:nvSpPr>
          <p:cNvPr id="20" name="Rond LuShieldCheck"/>
          <p:cNvSpPr/>
          <p:nvPr/>
        </p:nvSpPr>
        <p:spPr>
          <a:xfrm>
            <a:off x="6492240" y="5105400"/>
            <a:ext cx="384048" cy="384048"/>
          </a:xfrm>
          <a:prstGeom prst="ellipse">
            <a:avLst/>
          </a:prstGeom>
          <a:solidFill>
            <a:schemeClr val="accent4"/>
          </a:solidFill>
          <a:ln/>
        </p:spPr>
      </p:sp>
      <p:pic>
        <p:nvPicPr>
          <p:cNvPr id="21" name="Image 3" descr="preencoded.png">    </p:cNvPr>
          <p:cNvPicPr>
            <a:picLocks noChangeAspect="1"/>
          </p:cNvPicPr>
          <p:nvPr/>
        </p:nvPicPr>
        <p:blipFill>
          <a:blip r:embed="rId4"/>
          <a:stretch>
            <a:fillRect/>
          </a:stretch>
        </p:blipFill>
        <p:spPr>
          <a:xfrm>
            <a:off x="6580571" y="5193731"/>
            <a:ext cx="207386" cy="207386"/>
          </a:xfrm>
          <a:prstGeom prst="rect">
            <a:avLst/>
          </a:prstGeom>
        </p:spPr>
      </p:pic>
      <p:sp>
        <p:nvSpPr>
          <p:cNvPr id="22" name="Text 15"/>
          <p:cNvSpPr txBox="1"/>
          <p:nvPr/>
        </p:nvSpPr>
        <p:spPr>
          <a:xfrm>
            <a:off x="7022592" y="5123688"/>
            <a:ext cx="4620463" cy="780288"/>
          </a:xfrm>
          <a:prstGeom prst="rect">
            <a:avLst/>
          </a:prstGeom>
          <a:noFill/>
          <a:ln/>
        </p:spPr>
        <p:txBody>
          <a:bodyPr wrap="square" lIns="0" tIns="0" rIns="0" bIns="0" rtlCol="0" anchor="t"/>
          <a:lstStyle/>
          <a:p>
            <a:pPr indent="0" marL="0">
              <a:spcAft>
                <a:spcPts val="200"/>
              </a:spcAft>
              <a:buNone/>
            </a:pPr>
            <a:r>
              <a:rPr lang="en-US" sz="1600" b="1" dirty="0">
                <a:solidFill>
                  <a:schemeClr val="tx1"/>
                </a:solidFill>
              </a:rPr>
              <a:t>Protégé contre les robots</a:t>
            </a:r>
            <a:endParaRPr lang="en-US" sz="1600" dirty="0"/>
          </a:p>
          <a:p>
            <a:pPr indent="0" marL="0">
              <a:buNone/>
            </a:pPr>
            <a:r>
              <a:rPr lang="en-US" sz="1400" dirty="0">
                <a:solidFill>
                  <a:schemeClr val="accent3"/>
                </a:solidFill>
              </a:rPr>
              <a:t>Un défi invisible, calculé par le téléphone, sans service tiers.</a:t>
            </a:r>
            <a:endParaRPr lang="en-US" sz="1600" dirty="0"/>
          </a:p>
        </p:txBody>
      </p:sp>
      <p:sp>
        <p:nvSpPr>
          <p:cNvPr id="25" name="Slide Number Placeholder 0"/>
          <p:cNvSpPr>
            <a:spLocks noGrp="1"/>
          </p:cNvSpPr>
          <p:nvPr>
            <p:ph type="sldNum" sz="quarter" idx="4294967295"/>
          </p:nvPr>
        </p:nvSpPr>
        <p:spPr>
          <a:xfrm>
            <a:off x="11183112" y="6446520"/>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LE CLIENT · NOTIFICATIONS</a:t>
            </a:r>
            <a:endParaRPr lang="en-US" sz="1200" dirty="0"/>
          </a:p>
        </p:txBody>
      </p:sp>
      <p:sp>
        <p:nvSpPr>
          <p:cNvPr id="3" name="Text 0"/>
          <p:cNvSpPr/>
          <p:nvPr>
            <p:ph idx="101" type="title" hasCustomPrompt="1"/>
          </p:nvPr>
        </p:nvSpPr>
        <p:spPr>
          <a:xfrm>
            <a:off x="548640" y="603504"/>
            <a:ext cx="11091672" cy="685800"/>
          </a:xfrm>
          <a:prstGeom prst="rect">
            <a:avLst/>
          </a:prstGeom>
          <a:noFill/>
          <a:ln/>
        </p:spPr>
        <p:txBody>
          <a:bodyPr wrap="square" lIns="0" tIns="0" rIns="0" bIns="0" rtlCol="0" anchor="t"/>
          <a:lstStyle/>
          <a:p>
            <a:pPr algn="l" indent="0" marL="0">
              <a:buNone/>
            </a:pPr>
            <a:r>
              <a:rPr lang="en-US" sz="3600" b="1" dirty="0">
                <a:solidFill>
                  <a:schemeClr val="tx1"/>
                </a:solidFill>
              </a:rPr>
              <a:t>Prévenu à chaque étape, par SMS et e-mail</a:t>
            </a:r>
            <a:endParaRPr lang="en-US" sz="3600" dirty="0"/>
          </a:p>
        </p:txBody>
      </p:sp>
      <p:pic>
        <p:nvPicPr>
          <p:cNvPr id="5" name="Image 0" descr="E-mail d'accusé de réception">    </p:cNvPr>
          <p:cNvPicPr>
            <a:picLocks noChangeAspect="1"/>
          </p:cNvPicPr>
          <p:nvPr/>
        </p:nvPicPr>
        <p:blipFill>
          <a:blip r:embed="rId1"/>
          <a:stretch>
            <a:fillRect/>
          </a:stretch>
        </p:blipFill>
        <p:spPr>
          <a:xfrm>
            <a:off x="254522" y="1306082"/>
            <a:ext cx="5983196" cy="3966388"/>
          </a:xfrm>
          <a:prstGeom prst="rect">
            <a:avLst/>
          </a:prstGeom>
        </p:spPr>
      </p:pic>
      <p:sp>
        <p:nvSpPr>
          <p:cNvPr id="6" name="Rond LuMail"/>
          <p:cNvSpPr/>
          <p:nvPr/>
        </p:nvSpPr>
        <p:spPr>
          <a:xfrm>
            <a:off x="548640" y="5212080"/>
            <a:ext cx="384048" cy="384048"/>
          </a:xfrm>
          <a:prstGeom prst="ellipse">
            <a:avLst/>
          </a:prstGeom>
          <a:solidFill>
            <a:schemeClr val="accent4"/>
          </a:solidFill>
          <a:ln/>
        </p:spPr>
      </p:sp>
      <p:pic>
        <p:nvPicPr>
          <p:cNvPr id="7" name="Image 1" descr="preencoded.png">    </p:cNvPr>
          <p:cNvPicPr>
            <a:picLocks noChangeAspect="1"/>
          </p:cNvPicPr>
          <p:nvPr/>
        </p:nvPicPr>
        <p:blipFill>
          <a:blip r:embed="rId2"/>
          <a:stretch>
            <a:fillRect/>
          </a:stretch>
        </p:blipFill>
        <p:spPr>
          <a:xfrm>
            <a:off x="636971" y="5300411"/>
            <a:ext cx="207386" cy="207386"/>
          </a:xfrm>
          <a:prstGeom prst="rect">
            <a:avLst/>
          </a:prstGeom>
        </p:spPr>
      </p:pic>
      <p:sp>
        <p:nvSpPr>
          <p:cNvPr id="8" name="Text 3"/>
          <p:cNvSpPr txBox="1"/>
          <p:nvPr/>
        </p:nvSpPr>
        <p:spPr>
          <a:xfrm>
            <a:off x="1078992" y="5230368"/>
            <a:ext cx="4864608" cy="780288"/>
          </a:xfrm>
          <a:prstGeom prst="rect">
            <a:avLst/>
          </a:prstGeom>
          <a:noFill/>
          <a:ln/>
        </p:spPr>
        <p:txBody>
          <a:bodyPr wrap="square" lIns="0" tIns="0" rIns="0" bIns="0" rtlCol="0" anchor="t"/>
          <a:lstStyle/>
          <a:p>
            <a:pPr indent="0" marL="0">
              <a:spcAft>
                <a:spcPts val="200"/>
              </a:spcAft>
              <a:buNone/>
            </a:pPr>
            <a:r>
              <a:rPr lang="en-US" sz="1600" b="1" dirty="0">
                <a:solidFill>
                  <a:schemeClr val="tx1"/>
                </a:solidFill>
              </a:rPr>
              <a:t>Un e-mail aux couleurs de la banque</a:t>
            </a:r>
            <a:endParaRPr lang="en-US" sz="1600" dirty="0"/>
          </a:p>
          <a:p>
            <a:pPr indent="0" marL="0">
              <a:buNone/>
            </a:pPr>
            <a:r>
              <a:rPr lang="en-US" sz="1400" dirty="0">
                <a:solidFill>
                  <a:schemeClr val="accent3"/>
                </a:solidFill>
              </a:rPr>
              <a:t>Le lien de suivi personnel, et un rappel : la banque ne demande jamais de mot de passe ni de code.</a:t>
            </a:r>
            <a:endParaRPr lang="en-US" sz="1600" dirty="0"/>
          </a:p>
        </p:txBody>
      </p:sp>
      <p:sp>
        <p:nvSpPr>
          <p:cNvPr id="9" name="Text 4"/>
          <p:cNvSpPr txBox="1"/>
          <p:nvPr/>
        </p:nvSpPr>
        <p:spPr>
          <a:xfrm>
            <a:off x="6492240" y="1572768"/>
            <a:ext cx="5120640" cy="292608"/>
          </a:xfrm>
          <a:prstGeom prst="rect">
            <a:avLst/>
          </a:prstGeom>
          <a:noFill/>
          <a:ln/>
        </p:spPr>
        <p:txBody>
          <a:bodyPr wrap="square" lIns="0" tIns="0" rIns="0" bIns="0" rtlCol="0" anchor="ctr"/>
          <a:lstStyle/>
          <a:p>
            <a:pPr indent="0" marL="0">
              <a:buNone/>
            </a:pPr>
            <a:r>
              <a:rPr lang="en-US" sz="1600" b="1" dirty="0">
                <a:solidFill>
                  <a:schemeClr val="tx1"/>
                </a:solidFill>
              </a:rPr>
              <a:t>Les SMS reçus par le client</a:t>
            </a:r>
            <a:endParaRPr lang="en-US" sz="1600" dirty="0"/>
          </a:p>
        </p:txBody>
      </p:sp>
      <p:sp>
        <p:nvSpPr>
          <p:cNvPr id="10" name="SMS Dépôt"/>
          <p:cNvSpPr/>
          <p:nvPr/>
        </p:nvSpPr>
        <p:spPr>
          <a:xfrm>
            <a:off x="6492240" y="1993392"/>
            <a:ext cx="5150815" cy="768096"/>
          </a:xfrm>
          <a:prstGeom prst="roundRect">
            <a:avLst>
              <a:gd name="adj" fmla="val 16667"/>
            </a:avLst>
          </a:prstGeom>
          <a:solidFill>
            <a:schemeClr val="bg2"/>
          </a:solidFill>
          <a:ln/>
        </p:spPr>
      </p:sp>
      <p:sp>
        <p:nvSpPr>
          <p:cNvPr id="11" name="Text 6"/>
          <p:cNvSpPr txBox="1"/>
          <p:nvPr/>
        </p:nvSpPr>
        <p:spPr>
          <a:xfrm>
            <a:off x="6656832" y="2048256"/>
            <a:ext cx="4821631" cy="676656"/>
          </a:xfrm>
          <a:prstGeom prst="rect">
            <a:avLst/>
          </a:prstGeom>
          <a:noFill/>
          <a:ln/>
        </p:spPr>
        <p:txBody>
          <a:bodyPr wrap="square" lIns="0" tIns="0" rIns="0" bIns="0" rtlCol="0" anchor="ctr"/>
          <a:lstStyle/>
          <a:p>
            <a:pPr indent="0" marL="0">
              <a:buNone/>
            </a:pPr>
            <a:r>
              <a:rPr lang="en-US" sz="1200" b="1" dirty="0">
                <a:solidFill>
                  <a:schemeClr val="accent1"/>
                </a:solidFill>
              </a:rPr>
              <a:t>Dépôt</a:t>
            </a:r>
            <a:endParaRPr lang="en-US" sz="1200" dirty="0"/>
          </a:p>
          <a:p>
            <a:pPr indent="0" marL="0">
              <a:buNone/>
            </a:pPr>
            <a:r>
              <a:rPr lang="en-US" sz="1400" dirty="0">
                <a:solidFill>
                  <a:schemeClr val="tx1"/>
                </a:solidFill>
              </a:rPr>
              <a:t>Banque Alpha : réclamation ALP-2026-000165 enregistrée. Suivi : https://…/suivi/q8Zt3L</a:t>
            </a:r>
            <a:endParaRPr lang="en-US" sz="1200" dirty="0"/>
          </a:p>
        </p:txBody>
      </p:sp>
      <p:sp>
        <p:nvSpPr>
          <p:cNvPr id="12" name="SMS Prise en charge"/>
          <p:cNvSpPr/>
          <p:nvPr/>
        </p:nvSpPr>
        <p:spPr>
          <a:xfrm>
            <a:off x="6492240" y="2852928"/>
            <a:ext cx="5150815" cy="768096"/>
          </a:xfrm>
          <a:prstGeom prst="roundRect">
            <a:avLst>
              <a:gd name="adj" fmla="val 16667"/>
            </a:avLst>
          </a:prstGeom>
          <a:solidFill>
            <a:schemeClr val="bg2"/>
          </a:solidFill>
          <a:ln/>
        </p:spPr>
      </p:sp>
      <p:sp>
        <p:nvSpPr>
          <p:cNvPr id="13" name="Text 8"/>
          <p:cNvSpPr txBox="1"/>
          <p:nvPr/>
        </p:nvSpPr>
        <p:spPr>
          <a:xfrm>
            <a:off x="6656832" y="2907792"/>
            <a:ext cx="4821631" cy="676656"/>
          </a:xfrm>
          <a:prstGeom prst="rect">
            <a:avLst/>
          </a:prstGeom>
          <a:noFill/>
          <a:ln/>
        </p:spPr>
        <p:txBody>
          <a:bodyPr wrap="square" lIns="0" tIns="0" rIns="0" bIns="0" rtlCol="0" anchor="ctr"/>
          <a:lstStyle/>
          <a:p>
            <a:pPr indent="0" marL="0">
              <a:buNone/>
            </a:pPr>
            <a:r>
              <a:rPr lang="en-US" sz="1200" b="1" dirty="0">
                <a:solidFill>
                  <a:schemeClr val="accent1"/>
                </a:solidFill>
              </a:rPr>
              <a:t>Prise en charge</a:t>
            </a:r>
            <a:endParaRPr lang="en-US" sz="1200" dirty="0"/>
          </a:p>
          <a:p>
            <a:pPr indent="0" marL="0">
              <a:buNone/>
            </a:pPr>
            <a:r>
              <a:rPr lang="en-US" sz="1400" dirty="0">
                <a:solidFill>
                  <a:schemeClr val="tx1"/>
                </a:solidFill>
              </a:rPr>
              <a:t>Banque Alpha : votre réclamation ALP-2026-000165 est en cours de traitement.</a:t>
            </a:r>
            <a:endParaRPr lang="en-US" sz="1200" dirty="0"/>
          </a:p>
        </p:txBody>
      </p:sp>
      <p:sp>
        <p:nvSpPr>
          <p:cNvPr id="14" name="SMS Réponse"/>
          <p:cNvSpPr/>
          <p:nvPr/>
        </p:nvSpPr>
        <p:spPr>
          <a:xfrm>
            <a:off x="6492240" y="3712464"/>
            <a:ext cx="5150815" cy="768096"/>
          </a:xfrm>
          <a:prstGeom prst="roundRect">
            <a:avLst>
              <a:gd name="adj" fmla="val 16667"/>
            </a:avLst>
          </a:prstGeom>
          <a:solidFill>
            <a:schemeClr val="bg2"/>
          </a:solidFill>
          <a:ln/>
        </p:spPr>
      </p:sp>
      <p:sp>
        <p:nvSpPr>
          <p:cNvPr id="15" name="Text 10"/>
          <p:cNvSpPr txBox="1"/>
          <p:nvPr/>
        </p:nvSpPr>
        <p:spPr>
          <a:xfrm>
            <a:off x="6656832" y="3767328"/>
            <a:ext cx="4821631" cy="676656"/>
          </a:xfrm>
          <a:prstGeom prst="rect">
            <a:avLst/>
          </a:prstGeom>
          <a:noFill/>
          <a:ln/>
        </p:spPr>
        <p:txBody>
          <a:bodyPr wrap="square" lIns="0" tIns="0" rIns="0" bIns="0" rtlCol="0" anchor="ctr"/>
          <a:lstStyle/>
          <a:p>
            <a:pPr indent="0" marL="0">
              <a:buNone/>
            </a:pPr>
            <a:r>
              <a:rPr lang="en-US" sz="1200" b="1" dirty="0">
                <a:solidFill>
                  <a:schemeClr val="accent1"/>
                </a:solidFill>
              </a:rPr>
              <a:t>Réponse</a:t>
            </a:r>
            <a:endParaRPr lang="en-US" sz="1200" dirty="0"/>
          </a:p>
          <a:p>
            <a:pPr indent="0" marL="0">
              <a:buNone/>
            </a:pPr>
            <a:r>
              <a:rPr lang="en-US" sz="1400" dirty="0">
                <a:solidFill>
                  <a:schemeClr val="tx1"/>
                </a:solidFill>
              </a:rPr>
              <a:t>Banque Alpha : nouvelle réponse sur votre réclamation ALP-2026-000165. https://…/suivi/q8Zt3L</a:t>
            </a:r>
            <a:endParaRPr lang="en-US" sz="1200" dirty="0"/>
          </a:p>
        </p:txBody>
      </p:sp>
      <p:sp>
        <p:nvSpPr>
          <p:cNvPr id="16" name="SMS Résolution"/>
          <p:cNvSpPr/>
          <p:nvPr/>
        </p:nvSpPr>
        <p:spPr>
          <a:xfrm>
            <a:off x="6492240" y="4572000"/>
            <a:ext cx="5150815" cy="768096"/>
          </a:xfrm>
          <a:prstGeom prst="roundRect">
            <a:avLst>
              <a:gd name="adj" fmla="val 16667"/>
            </a:avLst>
          </a:prstGeom>
          <a:solidFill>
            <a:schemeClr val="bg2"/>
          </a:solidFill>
          <a:ln/>
        </p:spPr>
      </p:sp>
      <p:sp>
        <p:nvSpPr>
          <p:cNvPr id="17" name="Text 12"/>
          <p:cNvSpPr txBox="1"/>
          <p:nvPr/>
        </p:nvSpPr>
        <p:spPr>
          <a:xfrm>
            <a:off x="6656832" y="4626864"/>
            <a:ext cx="4821631" cy="676656"/>
          </a:xfrm>
          <a:prstGeom prst="rect">
            <a:avLst/>
          </a:prstGeom>
          <a:noFill/>
          <a:ln/>
        </p:spPr>
        <p:txBody>
          <a:bodyPr wrap="square" lIns="0" tIns="0" rIns="0" bIns="0" rtlCol="0" anchor="ctr"/>
          <a:lstStyle/>
          <a:p>
            <a:pPr indent="0" marL="0">
              <a:buNone/>
            </a:pPr>
            <a:r>
              <a:rPr lang="en-US" sz="1200" b="1" dirty="0">
                <a:solidFill>
                  <a:schemeClr val="accent1"/>
                </a:solidFill>
              </a:rPr>
              <a:t>Résolution</a:t>
            </a:r>
            <a:endParaRPr lang="en-US" sz="1200" dirty="0"/>
          </a:p>
          <a:p>
            <a:pPr indent="0" marL="0">
              <a:buNone/>
            </a:pPr>
            <a:r>
              <a:rPr lang="en-US" sz="1400" dirty="0">
                <a:solidFill>
                  <a:schemeClr val="tx1"/>
                </a:solidFill>
              </a:rPr>
              <a:t>Banque Alpha : réclamation ALP-2026-000165 résolue. Confirmez ou contestez sous 5 jours : https://…</a:t>
            </a:r>
            <a:endParaRPr lang="en-US" sz="1200" dirty="0"/>
          </a:p>
        </p:txBody>
      </p:sp>
      <p:sp>
        <p:nvSpPr>
          <p:cNvPr id="18" name="SMS Clôture"/>
          <p:cNvSpPr/>
          <p:nvPr/>
        </p:nvSpPr>
        <p:spPr>
          <a:xfrm>
            <a:off x="6492240" y="5431536"/>
            <a:ext cx="5150815" cy="768096"/>
          </a:xfrm>
          <a:prstGeom prst="roundRect">
            <a:avLst>
              <a:gd name="adj" fmla="val 16667"/>
            </a:avLst>
          </a:prstGeom>
          <a:solidFill>
            <a:schemeClr val="bg2"/>
          </a:solidFill>
          <a:ln/>
        </p:spPr>
      </p:sp>
      <p:sp>
        <p:nvSpPr>
          <p:cNvPr id="19" name="Text 14"/>
          <p:cNvSpPr txBox="1"/>
          <p:nvPr/>
        </p:nvSpPr>
        <p:spPr>
          <a:xfrm>
            <a:off x="6656832" y="5486400"/>
            <a:ext cx="4821631" cy="676656"/>
          </a:xfrm>
          <a:prstGeom prst="rect">
            <a:avLst/>
          </a:prstGeom>
          <a:noFill/>
          <a:ln/>
        </p:spPr>
        <p:txBody>
          <a:bodyPr wrap="square" lIns="0" tIns="0" rIns="0" bIns="0" rtlCol="0" anchor="ctr"/>
          <a:lstStyle/>
          <a:p>
            <a:pPr indent="0" marL="0">
              <a:buNone/>
            </a:pPr>
            <a:r>
              <a:rPr lang="en-US" sz="1200" b="1" dirty="0">
                <a:solidFill>
                  <a:schemeClr val="accent1"/>
                </a:solidFill>
              </a:rPr>
              <a:t>Clôture</a:t>
            </a:r>
            <a:endParaRPr lang="en-US" sz="1200" dirty="0"/>
          </a:p>
          <a:p>
            <a:pPr indent="0" marL="0">
              <a:buNone/>
            </a:pPr>
            <a:r>
              <a:rPr lang="en-US" sz="1400" dirty="0">
                <a:solidFill>
                  <a:schemeClr val="tx1"/>
                </a:solidFill>
              </a:rPr>
              <a:t>Banque Alpha : réclamation ALP-2026-000165 close. Votre avis : https://…/suivi/q8Zt3L/avis</a:t>
            </a:r>
            <a:endParaRPr lang="en-US" sz="1200" dirty="0"/>
          </a:p>
        </p:txBody>
      </p:sp>
      <p:sp>
        <p:nvSpPr>
          <p:cNvPr id="25" name="Slide Number Placeholder 0"/>
          <p:cNvSpPr>
            <a:spLocks noGrp="1"/>
          </p:cNvSpPr>
          <p:nvPr>
            <p:ph type="sldNum" sz="quarter" idx="4294967295"/>
          </p:nvPr>
        </p:nvSpPr>
        <p:spPr>
          <a:xfrm>
            <a:off x="11183112" y="6446520"/>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LE CLIENT · SUIVI ET CHAT</a:t>
            </a:r>
            <a:endParaRPr lang="en-US" sz="1200" dirty="0"/>
          </a:p>
        </p:txBody>
      </p:sp>
      <p:sp>
        <p:nvSpPr>
          <p:cNvPr id="3" name="Text 0"/>
          <p:cNvSpPr/>
          <p:nvPr>
            <p:ph idx="101" type="title" hasCustomPrompt="1"/>
          </p:nvPr>
        </p:nvSpPr>
        <p:spPr>
          <a:xfrm>
            <a:off x="548640" y="603504"/>
            <a:ext cx="11091672" cy="685800"/>
          </a:xfrm>
          <a:prstGeom prst="rect">
            <a:avLst/>
          </a:prstGeom>
          <a:noFill/>
          <a:ln/>
        </p:spPr>
        <p:txBody>
          <a:bodyPr wrap="square" lIns="0" tIns="0" rIns="0" bIns="0" rtlCol="0" anchor="t"/>
          <a:lstStyle/>
          <a:p>
            <a:pPr algn="l" indent="0" marL="0">
              <a:buNone/>
            </a:pPr>
            <a:r>
              <a:rPr lang="en-US" sz="3600" b="1" dirty="0">
                <a:solidFill>
                  <a:schemeClr val="tx1"/>
                </a:solidFill>
              </a:rPr>
              <a:t>Il suit son dossier et écrit à la banque</a:t>
            </a:r>
            <a:endParaRPr lang="en-US" sz="3600" dirty="0"/>
          </a:p>
        </p:txBody>
      </p:sp>
      <p:pic>
        <p:nvPicPr>
          <p:cNvPr id="5" name="Image 0" descr="Suivi de la réclamation">    </p:cNvPr>
          <p:cNvPicPr>
            <a:picLocks noChangeAspect="1"/>
          </p:cNvPicPr>
          <p:nvPr/>
        </p:nvPicPr>
        <p:blipFill>
          <a:blip r:embed="rId1"/>
          <a:stretch>
            <a:fillRect/>
          </a:stretch>
        </p:blipFill>
        <p:spPr>
          <a:xfrm>
            <a:off x="492044" y="1333292"/>
            <a:ext cx="2728094" cy="5096672"/>
          </a:xfrm>
          <a:prstGeom prst="rect">
            <a:avLst/>
          </a:prstGeom>
        </p:spPr>
      </p:pic>
      <p:sp>
        <p:nvSpPr>
          <p:cNvPr id="6" name="Pastille 1"/>
          <p:cNvSpPr/>
          <p:nvPr/>
        </p:nvSpPr>
        <p:spPr>
          <a:xfrm>
            <a:off x="539496" y="1380744"/>
            <a:ext cx="384048" cy="384048"/>
          </a:xfrm>
          <a:prstGeom prst="ellipse">
            <a:avLst/>
          </a:prstGeom>
          <a:solidFill>
            <a:schemeClr val="accent2"/>
          </a:solidFill>
          <a:ln w="19050">
            <a:solidFill>
              <a:schemeClr val="bg1"/>
            </a:solidFill>
            <a:prstDash val="solid"/>
          </a:ln>
          <a:effectLst>
            <a:outerShdw sx="100000" sy="100000" kx="0" ky="0" algn="bl" rotWithShape="0" blurRad="38100" dist="12700" dir="5400000">
              <a:srgbClr val="0E1C24">
                <a:alpha val="30000"/>
              </a:srgbClr>
            </a:outerShdw>
          </a:effectLst>
        </p:spPr>
      </p:sp>
      <p:sp>
        <p:nvSpPr>
          <p:cNvPr id="7" name="Text 3"/>
          <p:cNvSpPr txBox="1"/>
          <p:nvPr/>
        </p:nvSpPr>
        <p:spPr>
          <a:xfrm>
            <a:off x="539496" y="1380744"/>
            <a:ext cx="384048" cy="384048"/>
          </a:xfrm>
          <a:prstGeom prst="rect">
            <a:avLst/>
          </a:prstGeom>
          <a:noFill/>
          <a:ln/>
        </p:spPr>
        <p:txBody>
          <a:bodyPr wrap="square" lIns="0" tIns="0" rIns="0" bIns="0" rtlCol="0" anchor="ctr"/>
          <a:lstStyle/>
          <a:p>
            <a:pPr algn="ctr" indent="0" marL="0">
              <a:buNone/>
            </a:pPr>
            <a:r>
              <a:rPr lang="en-US" sz="1600" b="1" dirty="0">
                <a:solidFill>
                  <a:schemeClr val="tx2"/>
                </a:solidFill>
              </a:rPr>
              <a:t>1</a:t>
            </a:r>
            <a:endParaRPr lang="en-US" sz="1600" dirty="0"/>
          </a:p>
        </p:txBody>
      </p:sp>
      <p:pic>
        <p:nvPicPr>
          <p:cNvPr id="8" name="Image 1" descr="Code de vérification">    </p:cNvPr>
          <p:cNvPicPr>
            <a:picLocks noChangeAspect="1"/>
          </p:cNvPicPr>
          <p:nvPr/>
        </p:nvPicPr>
        <p:blipFill>
          <a:blip r:embed="rId2"/>
          <a:stretch>
            <a:fillRect/>
          </a:stretch>
        </p:blipFill>
        <p:spPr>
          <a:xfrm>
            <a:off x="3162092" y="1333292"/>
            <a:ext cx="2728094" cy="5096672"/>
          </a:xfrm>
          <a:prstGeom prst="rect">
            <a:avLst/>
          </a:prstGeom>
        </p:spPr>
      </p:pic>
      <p:sp>
        <p:nvSpPr>
          <p:cNvPr id="9" name="Pastille 2"/>
          <p:cNvSpPr/>
          <p:nvPr/>
        </p:nvSpPr>
        <p:spPr>
          <a:xfrm>
            <a:off x="3209544" y="1380744"/>
            <a:ext cx="384048" cy="384048"/>
          </a:xfrm>
          <a:prstGeom prst="ellipse">
            <a:avLst/>
          </a:prstGeom>
          <a:solidFill>
            <a:schemeClr val="accent2"/>
          </a:solidFill>
          <a:ln w="19050">
            <a:solidFill>
              <a:schemeClr val="bg1"/>
            </a:solidFill>
            <a:prstDash val="solid"/>
          </a:ln>
          <a:effectLst>
            <a:outerShdw sx="100000" sy="100000" kx="0" ky="0" algn="bl" rotWithShape="0" blurRad="38100" dist="12700" dir="5400000">
              <a:srgbClr val="0E1C24">
                <a:alpha val="30000"/>
              </a:srgbClr>
            </a:outerShdw>
          </a:effectLst>
        </p:spPr>
      </p:sp>
      <p:sp>
        <p:nvSpPr>
          <p:cNvPr id="10" name="Text 5"/>
          <p:cNvSpPr txBox="1"/>
          <p:nvPr/>
        </p:nvSpPr>
        <p:spPr>
          <a:xfrm>
            <a:off x="3209544" y="1380744"/>
            <a:ext cx="384048" cy="384048"/>
          </a:xfrm>
          <a:prstGeom prst="rect">
            <a:avLst/>
          </a:prstGeom>
          <a:noFill/>
          <a:ln/>
        </p:spPr>
        <p:txBody>
          <a:bodyPr wrap="square" lIns="0" tIns="0" rIns="0" bIns="0" rtlCol="0" anchor="ctr"/>
          <a:lstStyle/>
          <a:p>
            <a:pPr algn="ctr" indent="0" marL="0">
              <a:buNone/>
            </a:pPr>
            <a:r>
              <a:rPr lang="en-US" sz="1600" b="1" dirty="0">
                <a:solidFill>
                  <a:schemeClr val="tx2"/>
                </a:solidFill>
              </a:rPr>
              <a:t>2</a:t>
            </a:r>
            <a:endParaRPr lang="en-US" sz="1600" dirty="0"/>
          </a:p>
        </p:txBody>
      </p:sp>
      <p:pic>
        <p:nvPicPr>
          <p:cNvPr id="11" name="Image 2" descr="Discussion avec la banque">    </p:cNvPr>
          <p:cNvPicPr>
            <a:picLocks noChangeAspect="1"/>
          </p:cNvPicPr>
          <p:nvPr/>
        </p:nvPicPr>
        <p:blipFill>
          <a:blip r:embed="rId3"/>
          <a:stretch>
            <a:fillRect/>
          </a:stretch>
        </p:blipFill>
        <p:spPr>
          <a:xfrm>
            <a:off x="5832140" y="1333292"/>
            <a:ext cx="2728094" cy="5096672"/>
          </a:xfrm>
          <a:prstGeom prst="rect">
            <a:avLst/>
          </a:prstGeom>
        </p:spPr>
      </p:pic>
      <p:sp>
        <p:nvSpPr>
          <p:cNvPr id="12" name="Pastille 3"/>
          <p:cNvSpPr/>
          <p:nvPr/>
        </p:nvSpPr>
        <p:spPr>
          <a:xfrm>
            <a:off x="5879592" y="1380744"/>
            <a:ext cx="384048" cy="384048"/>
          </a:xfrm>
          <a:prstGeom prst="ellipse">
            <a:avLst/>
          </a:prstGeom>
          <a:solidFill>
            <a:schemeClr val="accent2"/>
          </a:solidFill>
          <a:ln w="19050">
            <a:solidFill>
              <a:schemeClr val="bg1"/>
            </a:solidFill>
            <a:prstDash val="solid"/>
          </a:ln>
          <a:effectLst>
            <a:outerShdw sx="100000" sy="100000" kx="0" ky="0" algn="bl" rotWithShape="0" blurRad="38100" dist="12700" dir="5400000">
              <a:srgbClr val="0E1C24">
                <a:alpha val="30000"/>
              </a:srgbClr>
            </a:outerShdw>
          </a:effectLst>
        </p:spPr>
      </p:sp>
      <p:sp>
        <p:nvSpPr>
          <p:cNvPr id="13" name="Text 7"/>
          <p:cNvSpPr txBox="1"/>
          <p:nvPr/>
        </p:nvSpPr>
        <p:spPr>
          <a:xfrm>
            <a:off x="5879592" y="1380744"/>
            <a:ext cx="384048" cy="384048"/>
          </a:xfrm>
          <a:prstGeom prst="rect">
            <a:avLst/>
          </a:prstGeom>
          <a:noFill/>
          <a:ln/>
        </p:spPr>
        <p:txBody>
          <a:bodyPr wrap="square" lIns="0" tIns="0" rIns="0" bIns="0" rtlCol="0" anchor="ctr"/>
          <a:lstStyle/>
          <a:p>
            <a:pPr algn="ctr" indent="0" marL="0">
              <a:buNone/>
            </a:pPr>
            <a:r>
              <a:rPr lang="en-US" sz="1600" b="1" dirty="0">
                <a:solidFill>
                  <a:schemeClr val="tx2"/>
                </a:solidFill>
              </a:rPr>
              <a:t>3</a:t>
            </a:r>
            <a:endParaRPr lang="en-US" sz="1600" dirty="0"/>
          </a:p>
        </p:txBody>
      </p:sp>
      <p:sp>
        <p:nvSpPr>
          <p:cNvPr id="14" name="Pastille 1"/>
          <p:cNvSpPr/>
          <p:nvPr/>
        </p:nvSpPr>
        <p:spPr>
          <a:xfrm>
            <a:off x="8750808" y="1783080"/>
            <a:ext cx="329184" cy="329184"/>
          </a:xfrm>
          <a:prstGeom prst="ellipse">
            <a:avLst/>
          </a:prstGeom>
          <a:solidFill>
            <a:schemeClr val="accent2"/>
          </a:solidFill>
          <a:ln w="19050">
            <a:solidFill>
              <a:schemeClr val="bg1"/>
            </a:solidFill>
            <a:prstDash val="solid"/>
          </a:ln>
          <a:effectLst>
            <a:outerShdw sx="100000" sy="100000" kx="0" ky="0" algn="bl" rotWithShape="0" blurRad="38100" dist="12700" dir="5400000">
              <a:srgbClr val="0E1C24">
                <a:alpha val="30000"/>
              </a:srgbClr>
            </a:outerShdw>
          </a:effectLst>
        </p:spPr>
      </p:sp>
      <p:sp>
        <p:nvSpPr>
          <p:cNvPr id="15" name="Text 9"/>
          <p:cNvSpPr txBox="1"/>
          <p:nvPr/>
        </p:nvSpPr>
        <p:spPr>
          <a:xfrm>
            <a:off x="8750808" y="1783080"/>
            <a:ext cx="329184" cy="329184"/>
          </a:xfrm>
          <a:prstGeom prst="rect">
            <a:avLst/>
          </a:prstGeom>
          <a:noFill/>
          <a:ln/>
        </p:spPr>
        <p:txBody>
          <a:bodyPr wrap="square" lIns="0" tIns="0" rIns="0" bIns="0" rtlCol="0" anchor="ctr"/>
          <a:lstStyle/>
          <a:p>
            <a:pPr algn="ctr" indent="0" marL="0">
              <a:buNone/>
            </a:pPr>
            <a:r>
              <a:rPr lang="en-US" sz="1400" b="1" dirty="0">
                <a:solidFill>
                  <a:schemeClr val="tx2"/>
                </a:solidFill>
              </a:rPr>
              <a:t>1</a:t>
            </a:r>
            <a:endParaRPr lang="en-US" sz="1400" dirty="0"/>
          </a:p>
        </p:txBody>
      </p:sp>
      <p:sp>
        <p:nvSpPr>
          <p:cNvPr id="16" name="Text 10"/>
          <p:cNvSpPr txBox="1"/>
          <p:nvPr/>
        </p:nvSpPr>
        <p:spPr>
          <a:xfrm>
            <a:off x="9262872" y="1783080"/>
            <a:ext cx="2380183" cy="780288"/>
          </a:xfrm>
          <a:prstGeom prst="rect">
            <a:avLst/>
          </a:prstGeom>
          <a:noFill/>
          <a:ln/>
        </p:spPr>
        <p:txBody>
          <a:bodyPr wrap="square" lIns="0" tIns="0" rIns="0" bIns="0" rtlCol="0" anchor="t"/>
          <a:lstStyle/>
          <a:p>
            <a:pPr indent="0" marL="0">
              <a:spcAft>
                <a:spcPts val="200"/>
              </a:spcAft>
              <a:buNone/>
            </a:pPr>
            <a:r>
              <a:rPr lang="en-US" sz="1600" b="1" dirty="0">
                <a:solidFill>
                  <a:schemeClr val="tx1"/>
                </a:solidFill>
              </a:rPr>
              <a:t>Les étapes, horodatées</a:t>
            </a:r>
            <a:endParaRPr lang="en-US" sz="1600" dirty="0"/>
          </a:p>
          <a:p>
            <a:pPr indent="0" marL="0">
              <a:buNone/>
            </a:pPr>
            <a:r>
              <a:rPr lang="en-US" sz="1400" dirty="0">
                <a:solidFill>
                  <a:schemeClr val="accent3"/>
                </a:solidFill>
              </a:rPr>
              <a:t>Le lien reçu par SMS ouvre le suivi, sans compte.</a:t>
            </a:r>
            <a:endParaRPr lang="en-US" sz="1600" dirty="0"/>
          </a:p>
        </p:txBody>
      </p:sp>
      <p:sp>
        <p:nvSpPr>
          <p:cNvPr id="17" name="Pastille 2"/>
          <p:cNvSpPr/>
          <p:nvPr/>
        </p:nvSpPr>
        <p:spPr>
          <a:xfrm>
            <a:off x="8750808" y="2974848"/>
            <a:ext cx="329184" cy="329184"/>
          </a:xfrm>
          <a:prstGeom prst="ellipse">
            <a:avLst/>
          </a:prstGeom>
          <a:solidFill>
            <a:schemeClr val="accent2"/>
          </a:solidFill>
          <a:ln w="19050">
            <a:solidFill>
              <a:schemeClr val="bg1"/>
            </a:solidFill>
            <a:prstDash val="solid"/>
          </a:ln>
          <a:effectLst>
            <a:outerShdw sx="100000" sy="100000" kx="0" ky="0" algn="bl" rotWithShape="0" blurRad="38100" dist="12700" dir="5400000">
              <a:srgbClr val="0E1C24">
                <a:alpha val="30000"/>
              </a:srgbClr>
            </a:outerShdw>
          </a:effectLst>
        </p:spPr>
      </p:sp>
      <p:sp>
        <p:nvSpPr>
          <p:cNvPr id="18" name="Text 12"/>
          <p:cNvSpPr txBox="1"/>
          <p:nvPr/>
        </p:nvSpPr>
        <p:spPr>
          <a:xfrm>
            <a:off x="8750808" y="2974848"/>
            <a:ext cx="329184" cy="329184"/>
          </a:xfrm>
          <a:prstGeom prst="rect">
            <a:avLst/>
          </a:prstGeom>
          <a:noFill/>
          <a:ln/>
        </p:spPr>
        <p:txBody>
          <a:bodyPr wrap="square" lIns="0" tIns="0" rIns="0" bIns="0" rtlCol="0" anchor="ctr"/>
          <a:lstStyle/>
          <a:p>
            <a:pPr algn="ctr" indent="0" marL="0">
              <a:buNone/>
            </a:pPr>
            <a:r>
              <a:rPr lang="en-US" sz="1400" b="1" dirty="0">
                <a:solidFill>
                  <a:schemeClr val="tx2"/>
                </a:solidFill>
              </a:rPr>
              <a:t>2</a:t>
            </a:r>
            <a:endParaRPr lang="en-US" sz="1400" dirty="0"/>
          </a:p>
        </p:txBody>
      </p:sp>
      <p:sp>
        <p:nvSpPr>
          <p:cNvPr id="19" name="Text 13"/>
          <p:cNvSpPr txBox="1"/>
          <p:nvPr/>
        </p:nvSpPr>
        <p:spPr>
          <a:xfrm>
            <a:off x="9262872" y="2974848"/>
            <a:ext cx="2380183" cy="1237488"/>
          </a:xfrm>
          <a:prstGeom prst="rect">
            <a:avLst/>
          </a:prstGeom>
          <a:noFill/>
          <a:ln/>
        </p:spPr>
        <p:txBody>
          <a:bodyPr wrap="square" lIns="0" tIns="0" rIns="0" bIns="0" rtlCol="0" anchor="t"/>
          <a:lstStyle/>
          <a:p>
            <a:pPr indent="0" marL="0">
              <a:spcAft>
                <a:spcPts val="200"/>
              </a:spcAft>
              <a:buNone/>
            </a:pPr>
            <a:r>
              <a:rPr lang="en-US" sz="1600" b="1" dirty="0">
                <a:solidFill>
                  <a:schemeClr val="tx1"/>
                </a:solidFill>
              </a:rPr>
              <a:t>Un code pour lire les réponses</a:t>
            </a:r>
            <a:endParaRPr lang="en-US" sz="1600" dirty="0"/>
          </a:p>
          <a:p>
            <a:pPr indent="0" marL="0">
              <a:buNone/>
            </a:pPr>
            <a:r>
              <a:rPr lang="en-US" sz="1400" dirty="0">
                <a:solidFill>
                  <a:schemeClr val="accent3"/>
                </a:solidFill>
              </a:rPr>
              <a:t>6 chiffres par SMS, ou par e-mail, valables 10 minutes.</a:t>
            </a:r>
            <a:endParaRPr lang="en-US" sz="1600" dirty="0"/>
          </a:p>
        </p:txBody>
      </p:sp>
      <p:sp>
        <p:nvSpPr>
          <p:cNvPr id="20" name="Pastille 3"/>
          <p:cNvSpPr/>
          <p:nvPr/>
        </p:nvSpPr>
        <p:spPr>
          <a:xfrm>
            <a:off x="8750808" y="4623816"/>
            <a:ext cx="329184" cy="329184"/>
          </a:xfrm>
          <a:prstGeom prst="ellipse">
            <a:avLst/>
          </a:prstGeom>
          <a:solidFill>
            <a:schemeClr val="accent2"/>
          </a:solidFill>
          <a:ln w="19050">
            <a:solidFill>
              <a:schemeClr val="bg1"/>
            </a:solidFill>
            <a:prstDash val="solid"/>
          </a:ln>
          <a:effectLst>
            <a:outerShdw sx="100000" sy="100000" kx="0" ky="0" algn="bl" rotWithShape="0" blurRad="38100" dist="12700" dir="5400000">
              <a:srgbClr val="0E1C24">
                <a:alpha val="30000"/>
              </a:srgbClr>
            </a:outerShdw>
          </a:effectLst>
        </p:spPr>
      </p:sp>
      <p:sp>
        <p:nvSpPr>
          <p:cNvPr id="21" name="Text 15"/>
          <p:cNvSpPr txBox="1"/>
          <p:nvPr/>
        </p:nvSpPr>
        <p:spPr>
          <a:xfrm>
            <a:off x="8750808" y="4623816"/>
            <a:ext cx="329184" cy="329184"/>
          </a:xfrm>
          <a:prstGeom prst="rect">
            <a:avLst/>
          </a:prstGeom>
          <a:noFill/>
          <a:ln/>
        </p:spPr>
        <p:txBody>
          <a:bodyPr wrap="square" lIns="0" tIns="0" rIns="0" bIns="0" rtlCol="0" anchor="ctr"/>
          <a:lstStyle/>
          <a:p>
            <a:pPr algn="ctr" indent="0" marL="0">
              <a:buNone/>
            </a:pPr>
            <a:r>
              <a:rPr lang="en-US" sz="1400" b="1" dirty="0">
                <a:solidFill>
                  <a:schemeClr val="tx2"/>
                </a:solidFill>
              </a:rPr>
              <a:t>3</a:t>
            </a:r>
            <a:endParaRPr lang="en-US" sz="1400" dirty="0"/>
          </a:p>
        </p:txBody>
      </p:sp>
      <p:sp>
        <p:nvSpPr>
          <p:cNvPr id="22" name="Text 16"/>
          <p:cNvSpPr txBox="1"/>
          <p:nvPr/>
        </p:nvSpPr>
        <p:spPr>
          <a:xfrm>
            <a:off x="9262872" y="4623816"/>
            <a:ext cx="2380183" cy="1024128"/>
          </a:xfrm>
          <a:prstGeom prst="rect">
            <a:avLst/>
          </a:prstGeom>
          <a:noFill/>
          <a:ln/>
        </p:spPr>
        <p:txBody>
          <a:bodyPr wrap="square" lIns="0" tIns="0" rIns="0" bIns="0" rtlCol="0" anchor="t"/>
          <a:lstStyle/>
          <a:p>
            <a:pPr indent="0" marL="0">
              <a:spcAft>
                <a:spcPts val="200"/>
              </a:spcAft>
              <a:buNone/>
            </a:pPr>
            <a:r>
              <a:rPr lang="en-US" sz="1600" b="1" dirty="0">
                <a:solidFill>
                  <a:schemeClr val="tx1"/>
                </a:solidFill>
              </a:rPr>
              <a:t>Un chat avec son conseiller</a:t>
            </a:r>
            <a:endParaRPr lang="en-US" sz="1600" dirty="0"/>
          </a:p>
          <a:p>
            <a:pPr indent="0" marL="0">
              <a:buNone/>
            </a:pPr>
            <a:r>
              <a:rPr lang="en-US" sz="1400" dirty="0">
                <a:solidFill>
                  <a:schemeClr val="accent3"/>
                </a:solidFill>
              </a:rPr>
              <a:t>Messages lus, pièces jointes, historique complet.</a:t>
            </a:r>
            <a:endParaRPr lang="en-US" sz="1600" dirty="0"/>
          </a:p>
        </p:txBody>
      </p:sp>
      <p:sp>
        <p:nvSpPr>
          <p:cNvPr id="25" name="Slide Number Placeholder 0"/>
          <p:cNvSpPr>
            <a:spLocks noGrp="1"/>
          </p:cNvSpPr>
          <p:nvPr>
            <p:ph type="sldNum" sz="quarter" idx="4294967295"/>
          </p:nvPr>
        </p:nvSpPr>
        <p:spPr>
          <a:xfrm>
            <a:off x="11183112" y="6446520"/>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LE CLIENT · RÉSOLUTION ET AVIS</a:t>
            </a:r>
            <a:endParaRPr lang="en-US" sz="1200" dirty="0"/>
          </a:p>
        </p:txBody>
      </p:sp>
      <p:sp>
        <p:nvSpPr>
          <p:cNvPr id="3" name="Text 0"/>
          <p:cNvSpPr/>
          <p:nvPr>
            <p:ph idx="101" type="title" hasCustomPrompt="1"/>
          </p:nvPr>
        </p:nvSpPr>
        <p:spPr>
          <a:xfrm>
            <a:off x="548640" y="603504"/>
            <a:ext cx="11091672" cy="685800"/>
          </a:xfrm>
          <a:prstGeom prst="rect">
            <a:avLst/>
          </a:prstGeom>
          <a:noFill/>
          <a:ln/>
        </p:spPr>
        <p:txBody>
          <a:bodyPr wrap="square" lIns="0" tIns="0" rIns="0" bIns="0" rtlCol="0" anchor="t"/>
          <a:lstStyle/>
          <a:p>
            <a:pPr algn="l" indent="0" marL="0">
              <a:buNone/>
            </a:pPr>
            <a:r>
              <a:rPr lang="en-US" sz="3600" b="1" dirty="0">
                <a:solidFill>
                  <a:schemeClr val="tx1"/>
                </a:solidFill>
              </a:rPr>
              <a:t>Il confirme la solution, puis donne son avis</a:t>
            </a:r>
            <a:endParaRPr lang="en-US" sz="3600" dirty="0"/>
          </a:p>
        </p:txBody>
      </p:sp>
      <p:pic>
        <p:nvPicPr>
          <p:cNvPr id="5" name="Image 0" descr="Réclamation résolue, à confirmer">    </p:cNvPr>
          <p:cNvPicPr>
            <a:picLocks noChangeAspect="1"/>
          </p:cNvPicPr>
          <p:nvPr/>
        </p:nvPicPr>
        <p:blipFill>
          <a:blip r:embed="rId1"/>
          <a:stretch>
            <a:fillRect/>
          </a:stretch>
        </p:blipFill>
        <p:spPr>
          <a:xfrm>
            <a:off x="492044" y="1333292"/>
            <a:ext cx="2728094" cy="5096672"/>
          </a:xfrm>
          <a:prstGeom prst="rect">
            <a:avLst/>
          </a:prstGeom>
        </p:spPr>
      </p:pic>
      <p:sp>
        <p:nvSpPr>
          <p:cNvPr id="6" name="Pastille 1"/>
          <p:cNvSpPr/>
          <p:nvPr/>
        </p:nvSpPr>
        <p:spPr>
          <a:xfrm>
            <a:off x="539496" y="1380744"/>
            <a:ext cx="384048" cy="384048"/>
          </a:xfrm>
          <a:prstGeom prst="ellipse">
            <a:avLst/>
          </a:prstGeom>
          <a:solidFill>
            <a:schemeClr val="accent2"/>
          </a:solidFill>
          <a:ln w="19050">
            <a:solidFill>
              <a:schemeClr val="bg1"/>
            </a:solidFill>
            <a:prstDash val="solid"/>
          </a:ln>
          <a:effectLst>
            <a:outerShdw sx="100000" sy="100000" kx="0" ky="0" algn="bl" rotWithShape="0" blurRad="38100" dist="12700" dir="5400000">
              <a:srgbClr val="0E1C24">
                <a:alpha val="30000"/>
              </a:srgbClr>
            </a:outerShdw>
          </a:effectLst>
        </p:spPr>
      </p:sp>
      <p:sp>
        <p:nvSpPr>
          <p:cNvPr id="7" name="Text 3"/>
          <p:cNvSpPr txBox="1"/>
          <p:nvPr/>
        </p:nvSpPr>
        <p:spPr>
          <a:xfrm>
            <a:off x="539496" y="1380744"/>
            <a:ext cx="384048" cy="384048"/>
          </a:xfrm>
          <a:prstGeom prst="rect">
            <a:avLst/>
          </a:prstGeom>
          <a:noFill/>
          <a:ln/>
        </p:spPr>
        <p:txBody>
          <a:bodyPr wrap="square" lIns="0" tIns="0" rIns="0" bIns="0" rtlCol="0" anchor="ctr"/>
          <a:lstStyle/>
          <a:p>
            <a:pPr algn="ctr" indent="0" marL="0">
              <a:buNone/>
            </a:pPr>
            <a:r>
              <a:rPr lang="en-US" sz="1600" b="1" dirty="0">
                <a:solidFill>
                  <a:schemeClr val="tx2"/>
                </a:solidFill>
              </a:rPr>
              <a:t>1</a:t>
            </a:r>
            <a:endParaRPr lang="en-US" sz="1600" dirty="0"/>
          </a:p>
        </p:txBody>
      </p:sp>
      <p:pic>
        <p:nvPicPr>
          <p:cNvPr id="8" name="Image 1" descr="Enquête de satisfaction">    </p:cNvPr>
          <p:cNvPicPr>
            <a:picLocks noChangeAspect="1"/>
          </p:cNvPicPr>
          <p:nvPr/>
        </p:nvPicPr>
        <p:blipFill>
          <a:blip r:embed="rId2"/>
          <a:stretch>
            <a:fillRect/>
          </a:stretch>
        </p:blipFill>
        <p:spPr>
          <a:xfrm>
            <a:off x="3162092" y="1333292"/>
            <a:ext cx="2728094" cy="5096672"/>
          </a:xfrm>
          <a:prstGeom prst="rect">
            <a:avLst/>
          </a:prstGeom>
        </p:spPr>
      </p:pic>
      <p:sp>
        <p:nvSpPr>
          <p:cNvPr id="9" name="Pastille 2"/>
          <p:cNvSpPr/>
          <p:nvPr/>
        </p:nvSpPr>
        <p:spPr>
          <a:xfrm>
            <a:off x="3209544" y="1380744"/>
            <a:ext cx="384048" cy="384048"/>
          </a:xfrm>
          <a:prstGeom prst="ellipse">
            <a:avLst/>
          </a:prstGeom>
          <a:solidFill>
            <a:schemeClr val="accent2"/>
          </a:solidFill>
          <a:ln w="19050">
            <a:solidFill>
              <a:schemeClr val="bg1"/>
            </a:solidFill>
            <a:prstDash val="solid"/>
          </a:ln>
          <a:effectLst>
            <a:outerShdw sx="100000" sy="100000" kx="0" ky="0" algn="bl" rotWithShape="0" blurRad="38100" dist="12700" dir="5400000">
              <a:srgbClr val="0E1C24">
                <a:alpha val="30000"/>
              </a:srgbClr>
            </a:outerShdw>
          </a:effectLst>
        </p:spPr>
      </p:sp>
      <p:sp>
        <p:nvSpPr>
          <p:cNvPr id="10" name="Text 5"/>
          <p:cNvSpPr txBox="1"/>
          <p:nvPr/>
        </p:nvSpPr>
        <p:spPr>
          <a:xfrm>
            <a:off x="3209544" y="1380744"/>
            <a:ext cx="384048" cy="384048"/>
          </a:xfrm>
          <a:prstGeom prst="rect">
            <a:avLst/>
          </a:prstGeom>
          <a:noFill/>
          <a:ln/>
        </p:spPr>
        <p:txBody>
          <a:bodyPr wrap="square" lIns="0" tIns="0" rIns="0" bIns="0" rtlCol="0" anchor="ctr"/>
          <a:lstStyle/>
          <a:p>
            <a:pPr algn="ctr" indent="0" marL="0">
              <a:buNone/>
            </a:pPr>
            <a:r>
              <a:rPr lang="en-US" sz="1600" b="1" dirty="0">
                <a:solidFill>
                  <a:schemeClr val="tx2"/>
                </a:solidFill>
              </a:rPr>
              <a:t>2</a:t>
            </a:r>
            <a:endParaRPr lang="en-US" sz="1600" dirty="0"/>
          </a:p>
        </p:txBody>
      </p:sp>
      <p:pic>
        <p:nvPicPr>
          <p:cNvPr id="11" name="Image 2" descr="Avis transmis">    </p:cNvPr>
          <p:cNvPicPr>
            <a:picLocks noChangeAspect="1"/>
          </p:cNvPicPr>
          <p:nvPr/>
        </p:nvPicPr>
        <p:blipFill>
          <a:blip r:embed="rId3"/>
          <a:stretch>
            <a:fillRect/>
          </a:stretch>
        </p:blipFill>
        <p:spPr>
          <a:xfrm>
            <a:off x="5832140" y="1333292"/>
            <a:ext cx="2728094" cy="5096672"/>
          </a:xfrm>
          <a:prstGeom prst="rect">
            <a:avLst/>
          </a:prstGeom>
        </p:spPr>
      </p:pic>
      <p:sp>
        <p:nvSpPr>
          <p:cNvPr id="12" name="Pastille 3"/>
          <p:cNvSpPr/>
          <p:nvPr/>
        </p:nvSpPr>
        <p:spPr>
          <a:xfrm>
            <a:off x="5879592" y="1380744"/>
            <a:ext cx="384048" cy="384048"/>
          </a:xfrm>
          <a:prstGeom prst="ellipse">
            <a:avLst/>
          </a:prstGeom>
          <a:solidFill>
            <a:schemeClr val="accent2"/>
          </a:solidFill>
          <a:ln w="19050">
            <a:solidFill>
              <a:schemeClr val="bg1"/>
            </a:solidFill>
            <a:prstDash val="solid"/>
          </a:ln>
          <a:effectLst>
            <a:outerShdw sx="100000" sy="100000" kx="0" ky="0" algn="bl" rotWithShape="0" blurRad="38100" dist="12700" dir="5400000">
              <a:srgbClr val="0E1C24">
                <a:alpha val="30000"/>
              </a:srgbClr>
            </a:outerShdw>
          </a:effectLst>
        </p:spPr>
      </p:sp>
      <p:sp>
        <p:nvSpPr>
          <p:cNvPr id="13" name="Text 7"/>
          <p:cNvSpPr txBox="1"/>
          <p:nvPr/>
        </p:nvSpPr>
        <p:spPr>
          <a:xfrm>
            <a:off x="5879592" y="1380744"/>
            <a:ext cx="384048" cy="384048"/>
          </a:xfrm>
          <a:prstGeom prst="rect">
            <a:avLst/>
          </a:prstGeom>
          <a:noFill/>
          <a:ln/>
        </p:spPr>
        <p:txBody>
          <a:bodyPr wrap="square" lIns="0" tIns="0" rIns="0" bIns="0" rtlCol="0" anchor="ctr"/>
          <a:lstStyle/>
          <a:p>
            <a:pPr algn="ctr" indent="0" marL="0">
              <a:buNone/>
            </a:pPr>
            <a:r>
              <a:rPr lang="en-US" sz="1600" b="1" dirty="0">
                <a:solidFill>
                  <a:schemeClr val="tx2"/>
                </a:solidFill>
              </a:rPr>
              <a:t>3</a:t>
            </a:r>
            <a:endParaRPr lang="en-US" sz="1600" dirty="0"/>
          </a:p>
        </p:txBody>
      </p:sp>
      <p:sp>
        <p:nvSpPr>
          <p:cNvPr id="14" name="Pastille 1"/>
          <p:cNvSpPr/>
          <p:nvPr/>
        </p:nvSpPr>
        <p:spPr>
          <a:xfrm>
            <a:off x="8750808" y="1783080"/>
            <a:ext cx="329184" cy="329184"/>
          </a:xfrm>
          <a:prstGeom prst="ellipse">
            <a:avLst/>
          </a:prstGeom>
          <a:solidFill>
            <a:schemeClr val="accent2"/>
          </a:solidFill>
          <a:ln w="19050">
            <a:solidFill>
              <a:schemeClr val="bg1"/>
            </a:solidFill>
            <a:prstDash val="solid"/>
          </a:ln>
          <a:effectLst>
            <a:outerShdw sx="100000" sy="100000" kx="0" ky="0" algn="bl" rotWithShape="0" blurRad="38100" dist="12700" dir="5400000">
              <a:srgbClr val="0E1C24">
                <a:alpha val="30000"/>
              </a:srgbClr>
            </a:outerShdw>
          </a:effectLst>
        </p:spPr>
      </p:sp>
      <p:sp>
        <p:nvSpPr>
          <p:cNvPr id="15" name="Text 9"/>
          <p:cNvSpPr txBox="1"/>
          <p:nvPr/>
        </p:nvSpPr>
        <p:spPr>
          <a:xfrm>
            <a:off x="8750808" y="1783080"/>
            <a:ext cx="329184" cy="329184"/>
          </a:xfrm>
          <a:prstGeom prst="rect">
            <a:avLst/>
          </a:prstGeom>
          <a:noFill/>
          <a:ln/>
        </p:spPr>
        <p:txBody>
          <a:bodyPr wrap="square" lIns="0" tIns="0" rIns="0" bIns="0" rtlCol="0" anchor="ctr"/>
          <a:lstStyle/>
          <a:p>
            <a:pPr algn="ctr" indent="0" marL="0">
              <a:buNone/>
            </a:pPr>
            <a:r>
              <a:rPr lang="en-US" sz="1400" b="1" dirty="0">
                <a:solidFill>
                  <a:schemeClr val="tx2"/>
                </a:solidFill>
              </a:rPr>
              <a:t>1</a:t>
            </a:r>
            <a:endParaRPr lang="en-US" sz="1400" dirty="0"/>
          </a:p>
        </p:txBody>
      </p:sp>
      <p:sp>
        <p:nvSpPr>
          <p:cNvPr id="16" name="Text 10"/>
          <p:cNvSpPr txBox="1"/>
          <p:nvPr/>
        </p:nvSpPr>
        <p:spPr>
          <a:xfrm>
            <a:off x="9262872" y="1783080"/>
            <a:ext cx="2380183" cy="1207008"/>
          </a:xfrm>
          <a:prstGeom prst="rect">
            <a:avLst/>
          </a:prstGeom>
          <a:noFill/>
          <a:ln/>
        </p:spPr>
        <p:txBody>
          <a:bodyPr wrap="square" lIns="0" tIns="0" rIns="0" bIns="0" rtlCol="0" anchor="t"/>
          <a:lstStyle/>
          <a:p>
            <a:pPr indent="0" marL="0">
              <a:spcAft>
                <a:spcPts val="200"/>
              </a:spcAft>
              <a:buNone/>
            </a:pPr>
            <a:r>
              <a:rPr lang="en-US" sz="1600" b="1" dirty="0">
                <a:solidFill>
                  <a:schemeClr val="tx1"/>
                </a:solidFill>
              </a:rPr>
              <a:t>Confirmer ou contester</a:t>
            </a:r>
            <a:endParaRPr lang="en-US" sz="1600" dirty="0"/>
          </a:p>
          <a:p>
            <a:pPr indent="0" marL="0">
              <a:buNone/>
            </a:pPr>
            <a:r>
              <a:rPr lang="en-US" sz="1400" dirty="0">
                <a:solidFill>
                  <a:schemeClr val="accent3"/>
                </a:solidFill>
              </a:rPr>
              <a:t>Une contestation rouvre la réclamation ; sans réponse, clôture automatique après 5 jours.</a:t>
            </a:r>
            <a:endParaRPr lang="en-US" sz="1600" dirty="0"/>
          </a:p>
        </p:txBody>
      </p:sp>
      <p:sp>
        <p:nvSpPr>
          <p:cNvPr id="17" name="Pastille 2"/>
          <p:cNvSpPr/>
          <p:nvPr/>
        </p:nvSpPr>
        <p:spPr>
          <a:xfrm>
            <a:off x="8750808" y="3401568"/>
            <a:ext cx="329184" cy="329184"/>
          </a:xfrm>
          <a:prstGeom prst="ellipse">
            <a:avLst/>
          </a:prstGeom>
          <a:solidFill>
            <a:schemeClr val="accent2"/>
          </a:solidFill>
          <a:ln w="19050">
            <a:solidFill>
              <a:schemeClr val="bg1"/>
            </a:solidFill>
            <a:prstDash val="solid"/>
          </a:ln>
          <a:effectLst>
            <a:outerShdw sx="100000" sy="100000" kx="0" ky="0" algn="bl" rotWithShape="0" blurRad="38100" dist="12700" dir="5400000">
              <a:srgbClr val="0E1C24">
                <a:alpha val="30000"/>
              </a:srgbClr>
            </a:outerShdw>
          </a:effectLst>
        </p:spPr>
      </p:sp>
      <p:sp>
        <p:nvSpPr>
          <p:cNvPr id="18" name="Text 12"/>
          <p:cNvSpPr txBox="1"/>
          <p:nvPr/>
        </p:nvSpPr>
        <p:spPr>
          <a:xfrm>
            <a:off x="8750808" y="3401568"/>
            <a:ext cx="329184" cy="329184"/>
          </a:xfrm>
          <a:prstGeom prst="rect">
            <a:avLst/>
          </a:prstGeom>
          <a:noFill/>
          <a:ln/>
        </p:spPr>
        <p:txBody>
          <a:bodyPr wrap="square" lIns="0" tIns="0" rIns="0" bIns="0" rtlCol="0" anchor="ctr"/>
          <a:lstStyle/>
          <a:p>
            <a:pPr algn="ctr" indent="0" marL="0">
              <a:buNone/>
            </a:pPr>
            <a:r>
              <a:rPr lang="en-US" sz="1400" b="1" dirty="0">
                <a:solidFill>
                  <a:schemeClr val="tx2"/>
                </a:solidFill>
              </a:rPr>
              <a:t>2</a:t>
            </a:r>
            <a:endParaRPr lang="en-US" sz="1400" dirty="0"/>
          </a:p>
        </p:txBody>
      </p:sp>
      <p:sp>
        <p:nvSpPr>
          <p:cNvPr id="19" name="Text 13"/>
          <p:cNvSpPr txBox="1"/>
          <p:nvPr/>
        </p:nvSpPr>
        <p:spPr>
          <a:xfrm>
            <a:off x="9262872" y="3401568"/>
            <a:ext cx="2380183" cy="1237488"/>
          </a:xfrm>
          <a:prstGeom prst="rect">
            <a:avLst/>
          </a:prstGeom>
          <a:noFill/>
          <a:ln/>
        </p:spPr>
        <p:txBody>
          <a:bodyPr wrap="square" lIns="0" tIns="0" rIns="0" bIns="0" rtlCol="0" anchor="t"/>
          <a:lstStyle/>
          <a:p>
            <a:pPr indent="0" marL="0">
              <a:spcAft>
                <a:spcPts val="200"/>
              </a:spcAft>
              <a:buNone/>
            </a:pPr>
            <a:r>
              <a:rPr lang="en-US" sz="1600" b="1" dirty="0">
                <a:solidFill>
                  <a:schemeClr val="tx1"/>
                </a:solidFill>
              </a:rPr>
              <a:t>Deux questions, moins d'une minute</a:t>
            </a:r>
            <a:endParaRPr lang="en-US" sz="1600" dirty="0"/>
          </a:p>
          <a:p>
            <a:pPr indent="0" marL="0">
              <a:buNone/>
            </a:pPr>
            <a:r>
              <a:rPr lang="en-US" sz="1400" dirty="0">
                <a:solidFill>
                  <a:schemeClr val="accent3"/>
                </a:solidFill>
              </a:rPr>
              <a:t>Satisfaction de 1 à 5, recommandation de 0 à 10, commentaire libre.</a:t>
            </a:r>
            <a:endParaRPr lang="en-US" sz="1600" dirty="0"/>
          </a:p>
        </p:txBody>
      </p:sp>
      <p:sp>
        <p:nvSpPr>
          <p:cNvPr id="20" name="Pastille 3"/>
          <p:cNvSpPr/>
          <p:nvPr/>
        </p:nvSpPr>
        <p:spPr>
          <a:xfrm>
            <a:off x="8750808" y="5050536"/>
            <a:ext cx="329184" cy="329184"/>
          </a:xfrm>
          <a:prstGeom prst="ellipse">
            <a:avLst/>
          </a:prstGeom>
          <a:solidFill>
            <a:schemeClr val="accent2"/>
          </a:solidFill>
          <a:ln w="19050">
            <a:solidFill>
              <a:schemeClr val="bg1"/>
            </a:solidFill>
            <a:prstDash val="solid"/>
          </a:ln>
          <a:effectLst>
            <a:outerShdw sx="100000" sy="100000" kx="0" ky="0" algn="bl" rotWithShape="0" blurRad="38100" dist="12700" dir="5400000">
              <a:srgbClr val="0E1C24">
                <a:alpha val="30000"/>
              </a:srgbClr>
            </a:outerShdw>
          </a:effectLst>
        </p:spPr>
      </p:sp>
      <p:sp>
        <p:nvSpPr>
          <p:cNvPr id="21" name="Text 15"/>
          <p:cNvSpPr txBox="1"/>
          <p:nvPr/>
        </p:nvSpPr>
        <p:spPr>
          <a:xfrm>
            <a:off x="8750808" y="5050536"/>
            <a:ext cx="329184" cy="329184"/>
          </a:xfrm>
          <a:prstGeom prst="rect">
            <a:avLst/>
          </a:prstGeom>
          <a:noFill/>
          <a:ln/>
        </p:spPr>
        <p:txBody>
          <a:bodyPr wrap="square" lIns="0" tIns="0" rIns="0" bIns="0" rtlCol="0" anchor="ctr"/>
          <a:lstStyle/>
          <a:p>
            <a:pPr algn="ctr" indent="0" marL="0">
              <a:buNone/>
            </a:pPr>
            <a:r>
              <a:rPr lang="en-US" sz="1400" b="1" dirty="0">
                <a:solidFill>
                  <a:schemeClr val="tx2"/>
                </a:solidFill>
              </a:rPr>
              <a:t>3</a:t>
            </a:r>
            <a:endParaRPr lang="en-US" sz="1400" dirty="0"/>
          </a:p>
        </p:txBody>
      </p:sp>
      <p:sp>
        <p:nvSpPr>
          <p:cNvPr id="22" name="Text 16"/>
          <p:cNvSpPr txBox="1"/>
          <p:nvPr/>
        </p:nvSpPr>
        <p:spPr>
          <a:xfrm>
            <a:off x="9262872" y="5050536"/>
            <a:ext cx="2380183" cy="1237488"/>
          </a:xfrm>
          <a:prstGeom prst="rect">
            <a:avLst/>
          </a:prstGeom>
          <a:noFill/>
          <a:ln/>
        </p:spPr>
        <p:txBody>
          <a:bodyPr wrap="square" lIns="0" tIns="0" rIns="0" bIns="0" rtlCol="0" anchor="t"/>
          <a:lstStyle/>
          <a:p>
            <a:pPr indent="0" marL="0">
              <a:spcAft>
                <a:spcPts val="200"/>
              </a:spcAft>
              <a:buNone/>
            </a:pPr>
            <a:r>
              <a:rPr lang="en-US" sz="1600" b="1" dirty="0">
                <a:solidFill>
                  <a:schemeClr val="tx1"/>
                </a:solidFill>
              </a:rPr>
              <a:t>Un avis utile à la banque</a:t>
            </a:r>
            <a:endParaRPr lang="en-US" sz="1600" dirty="0"/>
          </a:p>
          <a:p>
            <a:pPr indent="0" marL="0">
              <a:buNone/>
            </a:pPr>
            <a:r>
              <a:rPr lang="en-US" sz="1400" dirty="0">
                <a:solidFill>
                  <a:schemeClr val="accent3"/>
                </a:solidFill>
              </a:rPr>
              <a:t>Il alimente les tableaux de satisfaction et le NPS, agent par agent.</a:t>
            </a:r>
            <a:endParaRPr lang="en-US" sz="1600" dirty="0"/>
          </a:p>
        </p:txBody>
      </p:sp>
      <p:sp>
        <p:nvSpPr>
          <p:cNvPr id="25" name="Slide Number Placeholder 0"/>
          <p:cNvSpPr>
            <a:spLocks noGrp="1"/>
          </p:cNvSpPr>
          <p:nvPr>
            <p:ph type="sldNum" sz="quarter" idx="4294967295"/>
          </p:nvPr>
        </p:nvSpPr>
        <p:spPr>
          <a:xfrm>
            <a:off x="11183112" y="6446520"/>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1600200"/>
            <a:ext cx="2743200" cy="914400"/>
          </a:xfrm>
          <a:prstGeom prst="rect">
            <a:avLst/>
          </a:prstGeom>
          <a:noFill/>
          <a:ln/>
        </p:spPr>
        <p:txBody>
          <a:bodyPr wrap="square" lIns="0" tIns="0" rIns="0" bIns="0" rtlCol="0" anchor="t"/>
          <a:lstStyle/>
          <a:p>
            <a:pPr indent="0" marL="0">
              <a:buNone/>
            </a:pPr>
            <a:r>
              <a:rPr lang="en-US" sz="6000" b="1" dirty="0">
                <a:solidFill>
                  <a:schemeClr val="accent2"/>
                </a:solidFill>
              </a:rPr>
              <a:t>02</a:t>
            </a:r>
            <a:endParaRPr lang="en-US" sz="6000" dirty="0"/>
          </a:p>
        </p:txBody>
      </p:sp>
      <p:sp>
        <p:nvSpPr>
          <p:cNvPr id="3" name="Text 0"/>
          <p:cNvSpPr/>
          <p:nvPr>
            <p:ph idx="101" type="title" hasCustomPrompt="1"/>
          </p:nvPr>
        </p:nvSpPr>
        <p:spPr>
          <a:xfrm>
            <a:off x="548640" y="2560320"/>
            <a:ext cx="5486400" cy="1325880"/>
          </a:xfrm>
          <a:prstGeom prst="rect">
            <a:avLst/>
          </a:prstGeom>
          <a:noFill/>
          <a:ln/>
        </p:spPr>
        <p:txBody>
          <a:bodyPr wrap="square" lIns="0" tIns="0" rIns="0" bIns="0" rtlCol="0" anchor="t"/>
          <a:lstStyle/>
          <a:p>
            <a:pPr algn="l" indent="0" marL="0">
              <a:buNone/>
            </a:pPr>
            <a:r>
              <a:rPr lang="en-US" sz="4000" b="1" dirty="0">
                <a:solidFill>
                  <a:schemeClr val="bg1"/>
                </a:solidFill>
              </a:rPr>
              <a:t>Les équipes de la banque</a:t>
            </a:r>
            <a:endParaRPr lang="en-US" sz="4000" dirty="0"/>
          </a:p>
        </p:txBody>
      </p:sp>
      <p:sp>
        <p:nvSpPr>
          <p:cNvPr id="4" name="Text 0"/>
          <p:cNvSpPr/>
          <p:nvPr>
            <p:ph idx="102" type="body" hasCustomPrompt="1"/>
          </p:nvPr>
        </p:nvSpPr>
        <p:spPr>
          <a:xfrm>
            <a:off x="548640" y="4069080"/>
            <a:ext cx="5029200" cy="1371600"/>
          </a:xfrm>
          <a:prstGeom prst="rect">
            <a:avLst/>
          </a:prstGeom>
          <a:noFill/>
          <a:ln/>
        </p:spPr>
        <p:txBody>
          <a:bodyPr wrap="square" lIns="0" tIns="0" rIns="0" bIns="0" rtlCol="0" anchor="t"/>
          <a:lstStyle/>
          <a:p>
            <a:pPr algn="l" indent="0" marL="0">
              <a:buNone/>
            </a:pPr>
            <a:r>
              <a:rPr lang="en-US" sz="1800" dirty="0">
                <a:solidFill>
                  <a:schemeClr val="bg2"/>
                </a:solidFill>
              </a:rPr>
              <a:t>Une console web pour les agents et les superviseurs : chaque réclamation suivie et chronométrée.</a:t>
            </a:r>
            <a:endParaRPr lang="en-US" sz="1800" dirty="0"/>
          </a:p>
        </p:txBody>
      </p:sp>
      <p:pic>
        <p:nvPicPr>
          <p:cNvPr id="6" name="Image 0" descr="Fiche d'une réclamation">    </p:cNvPr>
          <p:cNvPicPr>
            <a:picLocks noChangeAspect="1"/>
          </p:cNvPicPr>
          <p:nvPr/>
        </p:nvPicPr>
        <p:blipFill>
          <a:blip r:embed="rId1"/>
          <a:stretch>
            <a:fillRect/>
          </a:stretch>
        </p:blipFill>
        <p:spPr>
          <a:xfrm>
            <a:off x="6181919" y="878399"/>
            <a:ext cx="7204323" cy="484665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LES ÉQUIPES · CONNEXION</a:t>
            </a:r>
            <a:endParaRPr lang="en-US" sz="1200" dirty="0"/>
          </a:p>
        </p:txBody>
      </p:sp>
      <p:sp>
        <p:nvSpPr>
          <p:cNvPr id="3" name="Text 0"/>
          <p:cNvSpPr/>
          <p:nvPr>
            <p:ph idx="101" type="title" hasCustomPrompt="1"/>
          </p:nvPr>
        </p:nvSpPr>
        <p:spPr>
          <a:xfrm>
            <a:off x="548640" y="603504"/>
            <a:ext cx="11091672" cy="685800"/>
          </a:xfrm>
          <a:prstGeom prst="rect">
            <a:avLst/>
          </a:prstGeom>
          <a:noFill/>
          <a:ln/>
        </p:spPr>
        <p:txBody>
          <a:bodyPr wrap="square" lIns="0" tIns="0" rIns="0" bIns="0" rtlCol="0" anchor="t"/>
          <a:lstStyle/>
          <a:p>
            <a:pPr algn="l" indent="0" marL="0">
              <a:buNone/>
            </a:pPr>
            <a:r>
              <a:rPr lang="en-US" sz="3600" b="1" dirty="0">
                <a:solidFill>
                  <a:schemeClr val="tx1"/>
                </a:solidFill>
              </a:rPr>
              <a:t>Un compte personnel, des droits par rôle</a:t>
            </a:r>
            <a:endParaRPr lang="en-US" sz="3600" dirty="0"/>
          </a:p>
        </p:txBody>
      </p:sp>
      <p:pic>
        <p:nvPicPr>
          <p:cNvPr id="5" name="Image 0" descr="Connexion : e-mail et mot de passe">    </p:cNvPr>
          <p:cNvPicPr>
            <a:picLocks noChangeAspect="1"/>
          </p:cNvPicPr>
          <p:nvPr/>
        </p:nvPicPr>
        <p:blipFill>
          <a:blip r:embed="rId1"/>
          <a:stretch>
            <a:fillRect/>
          </a:stretch>
        </p:blipFill>
        <p:spPr>
          <a:xfrm>
            <a:off x="287843" y="1311971"/>
            <a:ext cx="4336685" cy="4224914"/>
          </a:xfrm>
          <a:prstGeom prst="rect">
            <a:avLst/>
          </a:prstGeom>
        </p:spPr>
      </p:pic>
      <p:pic>
        <p:nvPicPr>
          <p:cNvPr id="6" name="Image 1" descr="Connexion : code de vérification">    </p:cNvPr>
          <p:cNvPicPr>
            <a:picLocks noChangeAspect="1"/>
          </p:cNvPicPr>
          <p:nvPr/>
        </p:nvPicPr>
        <p:blipFill>
          <a:blip r:embed="rId2"/>
          <a:stretch>
            <a:fillRect/>
          </a:stretch>
        </p:blipFill>
        <p:spPr>
          <a:xfrm>
            <a:off x="4377253" y="1311971"/>
            <a:ext cx="4336685" cy="4224914"/>
          </a:xfrm>
          <a:prstGeom prst="rect">
            <a:avLst/>
          </a:prstGeom>
        </p:spPr>
      </p:pic>
      <p:sp>
        <p:nvSpPr>
          <p:cNvPr id="7" name="Pastille 1"/>
          <p:cNvSpPr/>
          <p:nvPr/>
        </p:nvSpPr>
        <p:spPr>
          <a:xfrm>
            <a:off x="429768" y="1453896"/>
            <a:ext cx="384048" cy="384048"/>
          </a:xfrm>
          <a:prstGeom prst="ellipse">
            <a:avLst/>
          </a:prstGeom>
          <a:solidFill>
            <a:schemeClr val="accent2"/>
          </a:solidFill>
          <a:ln w="19050">
            <a:solidFill>
              <a:schemeClr val="bg1"/>
            </a:solidFill>
            <a:prstDash val="solid"/>
          </a:ln>
          <a:effectLst>
            <a:outerShdw sx="100000" sy="100000" kx="0" ky="0" algn="bl" rotWithShape="0" blurRad="38100" dist="12700" dir="5400000">
              <a:srgbClr val="0E1C24">
                <a:alpha val="30000"/>
              </a:srgbClr>
            </a:outerShdw>
          </a:effectLst>
        </p:spPr>
      </p:sp>
      <p:sp>
        <p:nvSpPr>
          <p:cNvPr id="8" name="Text 3"/>
          <p:cNvSpPr txBox="1"/>
          <p:nvPr/>
        </p:nvSpPr>
        <p:spPr>
          <a:xfrm>
            <a:off x="429768" y="1453896"/>
            <a:ext cx="384048" cy="384048"/>
          </a:xfrm>
          <a:prstGeom prst="rect">
            <a:avLst/>
          </a:prstGeom>
          <a:noFill/>
          <a:ln/>
        </p:spPr>
        <p:txBody>
          <a:bodyPr wrap="square" lIns="0" tIns="0" rIns="0" bIns="0" rtlCol="0" anchor="ctr"/>
          <a:lstStyle/>
          <a:p>
            <a:pPr algn="ctr" indent="0" marL="0">
              <a:buNone/>
            </a:pPr>
            <a:r>
              <a:rPr lang="en-US" sz="1600" b="1" dirty="0">
                <a:solidFill>
                  <a:schemeClr val="tx2"/>
                </a:solidFill>
              </a:rPr>
              <a:t>1</a:t>
            </a:r>
            <a:endParaRPr lang="en-US" sz="1600" dirty="0"/>
          </a:p>
        </p:txBody>
      </p:sp>
      <p:sp>
        <p:nvSpPr>
          <p:cNvPr id="9" name="Pastille 2"/>
          <p:cNvSpPr/>
          <p:nvPr/>
        </p:nvSpPr>
        <p:spPr>
          <a:xfrm>
            <a:off x="4519178" y="1453896"/>
            <a:ext cx="384048" cy="384048"/>
          </a:xfrm>
          <a:prstGeom prst="ellipse">
            <a:avLst/>
          </a:prstGeom>
          <a:solidFill>
            <a:schemeClr val="accent2"/>
          </a:solidFill>
          <a:ln w="19050">
            <a:solidFill>
              <a:schemeClr val="bg1"/>
            </a:solidFill>
            <a:prstDash val="solid"/>
          </a:ln>
          <a:effectLst>
            <a:outerShdw sx="100000" sy="100000" kx="0" ky="0" algn="bl" rotWithShape="0" blurRad="38100" dist="12700" dir="5400000">
              <a:srgbClr val="0E1C24">
                <a:alpha val="30000"/>
              </a:srgbClr>
            </a:outerShdw>
          </a:effectLst>
        </p:spPr>
      </p:sp>
      <p:sp>
        <p:nvSpPr>
          <p:cNvPr id="10" name="Text 5"/>
          <p:cNvSpPr txBox="1"/>
          <p:nvPr/>
        </p:nvSpPr>
        <p:spPr>
          <a:xfrm>
            <a:off x="4519178" y="1453896"/>
            <a:ext cx="384048" cy="384048"/>
          </a:xfrm>
          <a:prstGeom prst="rect">
            <a:avLst/>
          </a:prstGeom>
          <a:noFill/>
          <a:ln/>
        </p:spPr>
        <p:txBody>
          <a:bodyPr wrap="square" lIns="0" tIns="0" rIns="0" bIns="0" rtlCol="0" anchor="ctr"/>
          <a:lstStyle/>
          <a:p>
            <a:pPr algn="ctr" indent="0" marL="0">
              <a:buNone/>
            </a:pPr>
            <a:r>
              <a:rPr lang="en-US" sz="1600" b="1" dirty="0">
                <a:solidFill>
                  <a:schemeClr val="tx2"/>
                </a:solidFill>
              </a:rPr>
              <a:t>2</a:t>
            </a:r>
            <a:endParaRPr lang="en-US" sz="1600" dirty="0"/>
          </a:p>
        </p:txBody>
      </p:sp>
      <p:sp>
        <p:nvSpPr>
          <p:cNvPr id="11" name="Text 6"/>
          <p:cNvSpPr txBox="1"/>
          <p:nvPr/>
        </p:nvSpPr>
        <p:spPr>
          <a:xfrm>
            <a:off x="548640" y="5486400"/>
            <a:ext cx="7904500" cy="640080"/>
          </a:xfrm>
          <a:prstGeom prst="rect">
            <a:avLst/>
          </a:prstGeom>
          <a:noFill/>
          <a:ln/>
        </p:spPr>
        <p:txBody>
          <a:bodyPr wrap="square" lIns="0" tIns="0" rIns="0" bIns="0" rtlCol="0" anchor="t"/>
          <a:lstStyle/>
          <a:p>
            <a:pPr indent="0" marL="0">
              <a:buNone/>
            </a:pPr>
            <a:r>
              <a:rPr lang="en-US" sz="1400" dirty="0">
                <a:solidFill>
                  <a:schemeClr val="accent3"/>
                </a:solidFill>
              </a:rPr>
              <a:t>E-mail et mot de passe, puis, si la double authentification est active, un code à 6 chiffres renouvelé toutes les 30 secondes. Chaque connexion est inscrite au journal d'audit.</a:t>
            </a:r>
            <a:endParaRPr lang="en-US" sz="1400" dirty="0"/>
          </a:p>
        </p:txBody>
      </p:sp>
      <p:sp>
        <p:nvSpPr>
          <p:cNvPr id="12" name="Text 7"/>
          <p:cNvSpPr txBox="1"/>
          <p:nvPr/>
        </p:nvSpPr>
        <p:spPr>
          <a:xfrm>
            <a:off x="8732520" y="1600200"/>
            <a:ext cx="2910535" cy="320040"/>
          </a:xfrm>
          <a:prstGeom prst="rect">
            <a:avLst/>
          </a:prstGeom>
          <a:noFill/>
          <a:ln/>
        </p:spPr>
        <p:txBody>
          <a:bodyPr wrap="square" lIns="0" tIns="0" rIns="0" bIns="0" rtlCol="0" anchor="ctr"/>
          <a:lstStyle/>
          <a:p>
            <a:pPr indent="0" marL="0">
              <a:buNone/>
            </a:pPr>
            <a:r>
              <a:rPr lang="en-US" sz="1600" b="1" dirty="0">
                <a:solidFill>
                  <a:schemeClr val="tx1"/>
                </a:solidFill>
              </a:rPr>
              <a:t>Quatre rôles, des droits distincts</a:t>
            </a:r>
            <a:endParaRPr lang="en-US" sz="1600" dirty="0"/>
          </a:p>
        </p:txBody>
      </p:sp>
      <p:sp>
        <p:nvSpPr>
          <p:cNvPr id="13" name="Rond LuUserCheck"/>
          <p:cNvSpPr/>
          <p:nvPr/>
        </p:nvSpPr>
        <p:spPr>
          <a:xfrm>
            <a:off x="8732520" y="2103120"/>
            <a:ext cx="384048" cy="384048"/>
          </a:xfrm>
          <a:prstGeom prst="ellipse">
            <a:avLst/>
          </a:prstGeom>
          <a:solidFill>
            <a:schemeClr val="accent4"/>
          </a:solidFill>
          <a:ln/>
        </p:spPr>
      </p:sp>
      <p:pic>
        <p:nvPicPr>
          <p:cNvPr id="14" name="Image 2" descr="preencoded.png">    </p:cNvPr>
          <p:cNvPicPr>
            <a:picLocks noChangeAspect="1"/>
          </p:cNvPicPr>
          <p:nvPr/>
        </p:nvPicPr>
        <p:blipFill>
          <a:blip r:embed="rId3"/>
          <a:stretch>
            <a:fillRect/>
          </a:stretch>
        </p:blipFill>
        <p:spPr>
          <a:xfrm>
            <a:off x="8820851" y="2191451"/>
            <a:ext cx="207386" cy="207386"/>
          </a:xfrm>
          <a:prstGeom prst="rect">
            <a:avLst/>
          </a:prstGeom>
        </p:spPr>
      </p:pic>
      <p:sp>
        <p:nvSpPr>
          <p:cNvPr id="15" name="Text 9"/>
          <p:cNvSpPr txBox="1"/>
          <p:nvPr/>
        </p:nvSpPr>
        <p:spPr>
          <a:xfrm>
            <a:off x="9262872" y="2121408"/>
            <a:ext cx="2380183" cy="780288"/>
          </a:xfrm>
          <a:prstGeom prst="rect">
            <a:avLst/>
          </a:prstGeom>
          <a:noFill/>
          <a:ln/>
        </p:spPr>
        <p:txBody>
          <a:bodyPr wrap="square" lIns="0" tIns="0" rIns="0" bIns="0" rtlCol="0" anchor="t"/>
          <a:lstStyle/>
          <a:p>
            <a:pPr indent="0" marL="0">
              <a:spcAft>
                <a:spcPts val="200"/>
              </a:spcAft>
              <a:buNone/>
            </a:pPr>
            <a:r>
              <a:rPr lang="en-US" sz="1600" b="1" dirty="0">
                <a:solidFill>
                  <a:schemeClr val="tx1"/>
                </a:solidFill>
              </a:rPr>
              <a:t>Agent</a:t>
            </a:r>
            <a:endParaRPr lang="en-US" sz="1600" dirty="0"/>
          </a:p>
          <a:p>
            <a:pPr indent="0" marL="0">
              <a:buNone/>
            </a:pPr>
            <a:r>
              <a:rPr lang="en-US" sz="1400" dirty="0">
                <a:solidFill>
                  <a:schemeClr val="accent3"/>
                </a:solidFill>
              </a:rPr>
              <a:t>Traite les réclamations qui lui sont confiées.</a:t>
            </a:r>
            <a:endParaRPr lang="en-US" sz="1600" dirty="0"/>
          </a:p>
        </p:txBody>
      </p:sp>
      <p:sp>
        <p:nvSpPr>
          <p:cNvPr id="16" name="Rond LuUsers"/>
          <p:cNvSpPr/>
          <p:nvPr/>
        </p:nvSpPr>
        <p:spPr>
          <a:xfrm>
            <a:off x="8732520" y="3157728"/>
            <a:ext cx="384048" cy="384048"/>
          </a:xfrm>
          <a:prstGeom prst="ellipse">
            <a:avLst/>
          </a:prstGeom>
          <a:solidFill>
            <a:schemeClr val="accent4"/>
          </a:solidFill>
          <a:ln/>
        </p:spPr>
      </p:sp>
      <p:pic>
        <p:nvPicPr>
          <p:cNvPr id="17" name="Image 3" descr="preencoded.png">    </p:cNvPr>
          <p:cNvPicPr>
            <a:picLocks noChangeAspect="1"/>
          </p:cNvPicPr>
          <p:nvPr/>
        </p:nvPicPr>
        <p:blipFill>
          <a:blip r:embed="rId4"/>
          <a:stretch>
            <a:fillRect/>
          </a:stretch>
        </p:blipFill>
        <p:spPr>
          <a:xfrm>
            <a:off x="8820851" y="3246059"/>
            <a:ext cx="207386" cy="207386"/>
          </a:xfrm>
          <a:prstGeom prst="rect">
            <a:avLst/>
          </a:prstGeom>
        </p:spPr>
      </p:pic>
      <p:sp>
        <p:nvSpPr>
          <p:cNvPr id="18" name="Text 11"/>
          <p:cNvSpPr txBox="1"/>
          <p:nvPr/>
        </p:nvSpPr>
        <p:spPr>
          <a:xfrm>
            <a:off x="9262872" y="3176016"/>
            <a:ext cx="2380183" cy="780288"/>
          </a:xfrm>
          <a:prstGeom prst="rect">
            <a:avLst/>
          </a:prstGeom>
          <a:noFill/>
          <a:ln/>
        </p:spPr>
        <p:txBody>
          <a:bodyPr wrap="square" lIns="0" tIns="0" rIns="0" bIns="0" rtlCol="0" anchor="t"/>
          <a:lstStyle/>
          <a:p>
            <a:pPr indent="0" marL="0">
              <a:spcAft>
                <a:spcPts val="200"/>
              </a:spcAft>
              <a:buNone/>
            </a:pPr>
            <a:r>
              <a:rPr lang="en-US" sz="1600" b="1" dirty="0">
                <a:solidFill>
                  <a:schemeClr val="tx1"/>
                </a:solidFill>
              </a:rPr>
              <a:t>Superviseur</a:t>
            </a:r>
            <a:endParaRPr lang="en-US" sz="1600" dirty="0"/>
          </a:p>
          <a:p>
            <a:pPr indent="0" marL="0">
              <a:buNone/>
            </a:pPr>
            <a:r>
              <a:rPr lang="en-US" sz="1400" dirty="0">
                <a:solidFill>
                  <a:schemeClr val="accent3"/>
                </a:solidFill>
              </a:rPr>
              <a:t>Répartit le travail et suit l'équipe.</a:t>
            </a:r>
            <a:endParaRPr lang="en-US" sz="1600" dirty="0"/>
          </a:p>
        </p:txBody>
      </p:sp>
      <p:sp>
        <p:nvSpPr>
          <p:cNvPr id="19" name="Rond LuSettings"/>
          <p:cNvSpPr/>
          <p:nvPr/>
        </p:nvSpPr>
        <p:spPr>
          <a:xfrm>
            <a:off x="8732520" y="4212336"/>
            <a:ext cx="384048" cy="384048"/>
          </a:xfrm>
          <a:prstGeom prst="ellipse">
            <a:avLst/>
          </a:prstGeom>
          <a:solidFill>
            <a:schemeClr val="accent4"/>
          </a:solidFill>
          <a:ln/>
        </p:spPr>
      </p:sp>
      <p:pic>
        <p:nvPicPr>
          <p:cNvPr id="20" name="Image 4" descr="preencoded.png">    </p:cNvPr>
          <p:cNvPicPr>
            <a:picLocks noChangeAspect="1"/>
          </p:cNvPicPr>
          <p:nvPr/>
        </p:nvPicPr>
        <p:blipFill>
          <a:blip r:embed="rId5"/>
          <a:stretch>
            <a:fillRect/>
          </a:stretch>
        </p:blipFill>
        <p:spPr>
          <a:xfrm>
            <a:off x="8820851" y="4300667"/>
            <a:ext cx="207386" cy="207386"/>
          </a:xfrm>
          <a:prstGeom prst="rect">
            <a:avLst/>
          </a:prstGeom>
        </p:spPr>
      </p:pic>
      <p:sp>
        <p:nvSpPr>
          <p:cNvPr id="21" name="Text 13"/>
          <p:cNvSpPr txBox="1"/>
          <p:nvPr/>
        </p:nvSpPr>
        <p:spPr>
          <a:xfrm>
            <a:off x="9262872" y="4230624"/>
            <a:ext cx="2380183" cy="780288"/>
          </a:xfrm>
          <a:prstGeom prst="rect">
            <a:avLst/>
          </a:prstGeom>
          <a:noFill/>
          <a:ln/>
        </p:spPr>
        <p:txBody>
          <a:bodyPr wrap="square" lIns="0" tIns="0" rIns="0" bIns="0" rtlCol="0" anchor="t"/>
          <a:lstStyle/>
          <a:p>
            <a:pPr indent="0" marL="0">
              <a:spcAft>
                <a:spcPts val="200"/>
              </a:spcAft>
              <a:buNone/>
            </a:pPr>
            <a:r>
              <a:rPr lang="en-US" sz="1600" b="1" dirty="0">
                <a:solidFill>
                  <a:schemeClr val="tx1"/>
                </a:solidFill>
              </a:rPr>
              <a:t>Admin Entreprise</a:t>
            </a:r>
            <a:endParaRPr lang="en-US" sz="1600" dirty="0"/>
          </a:p>
          <a:p>
            <a:pPr indent="0" marL="0">
              <a:buNone/>
            </a:pPr>
            <a:r>
              <a:rPr lang="en-US" sz="1400" dirty="0">
                <a:solidFill>
                  <a:schemeClr val="accent3"/>
                </a:solidFill>
              </a:rPr>
              <a:t>Paramètre la banque et gère les comptes.</a:t>
            </a:r>
            <a:endParaRPr lang="en-US" sz="1600" dirty="0"/>
          </a:p>
        </p:txBody>
      </p:sp>
      <p:sp>
        <p:nvSpPr>
          <p:cNvPr id="22" name="Rond LuServer"/>
          <p:cNvSpPr/>
          <p:nvPr/>
        </p:nvSpPr>
        <p:spPr>
          <a:xfrm>
            <a:off x="8732520" y="5266944"/>
            <a:ext cx="384048" cy="384048"/>
          </a:xfrm>
          <a:prstGeom prst="ellipse">
            <a:avLst/>
          </a:prstGeom>
          <a:solidFill>
            <a:schemeClr val="accent4"/>
          </a:solidFill>
          <a:ln/>
        </p:spPr>
      </p:sp>
      <p:pic>
        <p:nvPicPr>
          <p:cNvPr id="23" name="Image 5" descr="preencoded.png">    </p:cNvPr>
          <p:cNvPicPr>
            <a:picLocks noChangeAspect="1"/>
          </p:cNvPicPr>
          <p:nvPr/>
        </p:nvPicPr>
        <p:blipFill>
          <a:blip r:embed="rId6"/>
          <a:stretch>
            <a:fillRect/>
          </a:stretch>
        </p:blipFill>
        <p:spPr>
          <a:xfrm>
            <a:off x="8820851" y="5355275"/>
            <a:ext cx="207386" cy="207386"/>
          </a:xfrm>
          <a:prstGeom prst="rect">
            <a:avLst/>
          </a:prstGeom>
        </p:spPr>
      </p:pic>
      <p:sp>
        <p:nvSpPr>
          <p:cNvPr id="24" name="Text 15"/>
          <p:cNvSpPr txBox="1"/>
          <p:nvPr/>
        </p:nvSpPr>
        <p:spPr>
          <a:xfrm>
            <a:off x="9262872" y="5285232"/>
            <a:ext cx="2380183" cy="780288"/>
          </a:xfrm>
          <a:prstGeom prst="rect">
            <a:avLst/>
          </a:prstGeom>
          <a:noFill/>
          <a:ln/>
        </p:spPr>
        <p:txBody>
          <a:bodyPr wrap="square" lIns="0" tIns="0" rIns="0" bIns="0" rtlCol="0" anchor="t"/>
          <a:lstStyle/>
          <a:p>
            <a:pPr indent="0" marL="0">
              <a:spcAft>
                <a:spcPts val="200"/>
              </a:spcAft>
              <a:buNone/>
            </a:pPr>
            <a:r>
              <a:rPr lang="en-US" sz="1600" b="1" dirty="0">
                <a:solidFill>
                  <a:schemeClr val="tx1"/>
                </a:solidFill>
              </a:rPr>
              <a:t>Super Admin Makor</a:t>
            </a:r>
            <a:endParaRPr lang="en-US" sz="1600" dirty="0"/>
          </a:p>
          <a:p>
            <a:pPr indent="0" marL="0">
              <a:buNone/>
            </a:pPr>
            <a:r>
              <a:rPr lang="en-US" sz="1400" dirty="0">
                <a:solidFill>
                  <a:schemeClr val="accent3"/>
                </a:solidFill>
              </a:rPr>
              <a:t>Exploite la plateforme, sans accès aux dossiers.</a:t>
            </a:r>
            <a:endParaRPr lang="en-US" sz="1600" dirty="0"/>
          </a:p>
        </p:txBody>
      </p:sp>
      <p:sp>
        <p:nvSpPr>
          <p:cNvPr id="25" name="Slide Number Placeholder 0"/>
          <p:cNvSpPr>
            <a:spLocks noGrp="1"/>
          </p:cNvSpPr>
          <p:nvPr>
            <p:ph type="sldNum" sz="quarter" idx="4294967295"/>
          </p:nvPr>
        </p:nvSpPr>
        <p:spPr>
          <a:xfrm>
            <a:off x="11183112" y="6446520"/>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LES ÉQUIPES · SÉCURITÉ DES COMPTES</a:t>
            </a:r>
            <a:endParaRPr lang="en-US" sz="1200" dirty="0"/>
          </a:p>
        </p:txBody>
      </p:sp>
      <p:sp>
        <p:nvSpPr>
          <p:cNvPr id="3" name="Text 0"/>
          <p:cNvSpPr/>
          <p:nvPr>
            <p:ph idx="101" type="title" hasCustomPrompt="1"/>
          </p:nvPr>
        </p:nvSpPr>
        <p:spPr>
          <a:xfrm>
            <a:off x="548640" y="603504"/>
            <a:ext cx="11091672" cy="685800"/>
          </a:xfrm>
          <a:prstGeom prst="rect">
            <a:avLst/>
          </a:prstGeom>
          <a:noFill/>
          <a:ln/>
        </p:spPr>
        <p:txBody>
          <a:bodyPr wrap="square" lIns="0" tIns="0" rIns="0" bIns="0" rtlCol="0" anchor="t"/>
          <a:lstStyle/>
          <a:p>
            <a:pPr algn="l" indent="0" marL="0">
              <a:buNone/>
            </a:pPr>
            <a:r>
              <a:rPr lang="en-US" sz="3600" b="1" dirty="0">
                <a:solidFill>
                  <a:schemeClr val="tx1"/>
                </a:solidFill>
              </a:rPr>
              <a:t>La double authentification, au choix de la banque</a:t>
            </a:r>
            <a:endParaRPr lang="en-US" sz="3600" dirty="0"/>
          </a:p>
        </p:txBody>
      </p:sp>
      <p:pic>
        <p:nvPicPr>
          <p:cNvPr id="5" name="Image 0" descr="Mon compte : activation de la double authentification">    </p:cNvPr>
          <p:cNvPicPr>
            <a:picLocks noChangeAspect="1"/>
          </p:cNvPicPr>
          <p:nvPr/>
        </p:nvPicPr>
        <p:blipFill>
          <a:blip r:embed="rId1"/>
          <a:stretch>
            <a:fillRect/>
          </a:stretch>
        </p:blipFill>
        <p:spPr>
          <a:xfrm>
            <a:off x="374127" y="1425687"/>
            <a:ext cx="5743987" cy="3864227"/>
          </a:xfrm>
          <a:prstGeom prst="rect">
            <a:avLst/>
          </a:prstGeom>
        </p:spPr>
      </p:pic>
      <p:pic>
        <p:nvPicPr>
          <p:cNvPr id="6" name="Image 1" descr="Personnel : exiger la double authentification">    </p:cNvPr>
          <p:cNvPicPr>
            <a:picLocks noChangeAspect="1"/>
          </p:cNvPicPr>
          <p:nvPr/>
        </p:nvPicPr>
        <p:blipFill>
          <a:blip r:embed="rId2"/>
          <a:stretch>
            <a:fillRect/>
          </a:stretch>
        </p:blipFill>
        <p:spPr>
          <a:xfrm>
            <a:off x="6073582" y="1425687"/>
            <a:ext cx="5743987" cy="3864227"/>
          </a:xfrm>
          <a:prstGeom prst="rect">
            <a:avLst/>
          </a:prstGeom>
        </p:spPr>
      </p:pic>
      <p:sp>
        <p:nvSpPr>
          <p:cNvPr id="7" name="Rond LuSmartphone"/>
          <p:cNvSpPr/>
          <p:nvPr/>
        </p:nvSpPr>
        <p:spPr>
          <a:xfrm>
            <a:off x="548640" y="5394960"/>
            <a:ext cx="384048" cy="384048"/>
          </a:xfrm>
          <a:prstGeom prst="ellipse">
            <a:avLst/>
          </a:prstGeom>
          <a:solidFill>
            <a:schemeClr val="accent4"/>
          </a:solidFill>
          <a:ln/>
        </p:spPr>
      </p:sp>
      <p:pic>
        <p:nvPicPr>
          <p:cNvPr id="8" name="Image 2" descr="preencoded.png">    </p:cNvPr>
          <p:cNvPicPr>
            <a:picLocks noChangeAspect="1"/>
          </p:cNvPicPr>
          <p:nvPr/>
        </p:nvPicPr>
        <p:blipFill>
          <a:blip r:embed="rId3"/>
          <a:stretch>
            <a:fillRect/>
          </a:stretch>
        </p:blipFill>
        <p:spPr>
          <a:xfrm>
            <a:off x="636971" y="5483291"/>
            <a:ext cx="207386" cy="207386"/>
          </a:xfrm>
          <a:prstGeom prst="rect">
            <a:avLst/>
          </a:prstGeom>
        </p:spPr>
      </p:pic>
      <p:sp>
        <p:nvSpPr>
          <p:cNvPr id="9" name="Text 3"/>
          <p:cNvSpPr txBox="1"/>
          <p:nvPr/>
        </p:nvSpPr>
        <p:spPr>
          <a:xfrm>
            <a:off x="1078992" y="5413248"/>
            <a:ext cx="4864608" cy="780288"/>
          </a:xfrm>
          <a:prstGeom prst="rect">
            <a:avLst/>
          </a:prstGeom>
          <a:noFill/>
          <a:ln/>
        </p:spPr>
        <p:txBody>
          <a:bodyPr wrap="square" lIns="0" tIns="0" rIns="0" bIns="0" rtlCol="0" anchor="t"/>
          <a:lstStyle/>
          <a:p>
            <a:pPr indent="0" marL="0">
              <a:spcAft>
                <a:spcPts val="200"/>
              </a:spcAft>
              <a:buNone/>
            </a:pPr>
            <a:r>
              <a:rPr lang="en-US" sz="1600" b="1" dirty="0">
                <a:solidFill>
                  <a:schemeClr val="tx1"/>
                </a:solidFill>
              </a:rPr>
              <a:t>Chacun l'active depuis « Mon compte »</a:t>
            </a:r>
            <a:endParaRPr lang="en-US" sz="1600" dirty="0"/>
          </a:p>
          <a:p>
            <a:pPr indent="0" marL="0">
              <a:buNone/>
            </a:pPr>
            <a:r>
              <a:rPr lang="en-US" sz="1400" dirty="0">
                <a:solidFill>
                  <a:schemeClr val="accent3"/>
                </a:solidFill>
              </a:rPr>
              <a:t>Un QR code à scanner, un premier code pour confirmer ; la désactiver demande aussi un code.</a:t>
            </a:r>
            <a:endParaRPr lang="en-US" sz="1600" dirty="0"/>
          </a:p>
        </p:txBody>
      </p:sp>
      <p:sp>
        <p:nvSpPr>
          <p:cNvPr id="10" name="Rond LuShieldCheck"/>
          <p:cNvSpPr/>
          <p:nvPr/>
        </p:nvSpPr>
        <p:spPr>
          <a:xfrm>
            <a:off x="6248095" y="5394960"/>
            <a:ext cx="384048" cy="384048"/>
          </a:xfrm>
          <a:prstGeom prst="ellipse">
            <a:avLst/>
          </a:prstGeom>
          <a:solidFill>
            <a:schemeClr val="accent4"/>
          </a:solidFill>
          <a:ln/>
        </p:spPr>
      </p:sp>
      <p:pic>
        <p:nvPicPr>
          <p:cNvPr id="11" name="Image 3" descr="preencoded.png">    </p:cNvPr>
          <p:cNvPicPr>
            <a:picLocks noChangeAspect="1"/>
          </p:cNvPicPr>
          <p:nvPr/>
        </p:nvPicPr>
        <p:blipFill>
          <a:blip r:embed="rId4"/>
          <a:stretch>
            <a:fillRect/>
          </a:stretch>
        </p:blipFill>
        <p:spPr>
          <a:xfrm>
            <a:off x="6336426" y="5483291"/>
            <a:ext cx="207386" cy="207386"/>
          </a:xfrm>
          <a:prstGeom prst="rect">
            <a:avLst/>
          </a:prstGeom>
        </p:spPr>
      </p:pic>
      <p:sp>
        <p:nvSpPr>
          <p:cNvPr id="12" name="Text 5"/>
          <p:cNvSpPr txBox="1"/>
          <p:nvPr/>
        </p:nvSpPr>
        <p:spPr>
          <a:xfrm>
            <a:off x="6778447" y="5413248"/>
            <a:ext cx="4864608" cy="780288"/>
          </a:xfrm>
          <a:prstGeom prst="rect">
            <a:avLst/>
          </a:prstGeom>
          <a:noFill/>
          <a:ln/>
        </p:spPr>
        <p:txBody>
          <a:bodyPr wrap="square" lIns="0" tIns="0" rIns="0" bIns="0" rtlCol="0" anchor="t"/>
          <a:lstStyle/>
          <a:p>
            <a:pPr indent="0" marL="0">
              <a:spcAft>
                <a:spcPts val="200"/>
              </a:spcAft>
              <a:buNone/>
            </a:pPr>
            <a:r>
              <a:rPr lang="en-US" sz="1600" b="1" dirty="0">
                <a:solidFill>
                  <a:schemeClr val="tx1"/>
                </a:solidFill>
              </a:rPr>
              <a:t>L'Admin Entreprise peut l'exiger</a:t>
            </a:r>
            <a:endParaRPr lang="en-US" sz="1600" dirty="0"/>
          </a:p>
          <a:p>
            <a:pPr indent="0" marL="0">
              <a:buNone/>
            </a:pPr>
            <a:r>
              <a:rPr lang="en-US" sz="1400" dirty="0">
                <a:solidFill>
                  <a:schemeClr val="accent3"/>
                </a:solidFill>
              </a:rPr>
              <a:t>De tout le personnel, en un clic ; les sessions sans code sont fermées aussitôt.</a:t>
            </a:r>
            <a:endParaRPr lang="en-US" sz="1600" dirty="0"/>
          </a:p>
        </p:txBody>
      </p:sp>
      <p:sp>
        <p:nvSpPr>
          <p:cNvPr id="25" name="Slide Number Placeholder 0"/>
          <p:cNvSpPr>
            <a:spLocks noGrp="1"/>
          </p:cNvSpPr>
          <p:nvPr>
            <p:ph type="sldNum" sz="quarter" idx="4294967295"/>
          </p:nvPr>
        </p:nvSpPr>
        <p:spPr>
          <a:xfrm>
            <a:off x="11183112" y="6446520"/>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LES ÉQUIPES · FILES DE TRAVAIL</a:t>
            </a:r>
            <a:endParaRPr lang="en-US" sz="1200" dirty="0"/>
          </a:p>
        </p:txBody>
      </p:sp>
      <p:sp>
        <p:nvSpPr>
          <p:cNvPr id="3" name="Text 0"/>
          <p:cNvSpPr/>
          <p:nvPr>
            <p:ph idx="101" type="title" hasCustomPrompt="1"/>
          </p:nvPr>
        </p:nvSpPr>
        <p:spPr>
          <a:xfrm>
            <a:off x="548640" y="603504"/>
            <a:ext cx="11091672" cy="685800"/>
          </a:xfrm>
          <a:prstGeom prst="rect">
            <a:avLst/>
          </a:prstGeom>
          <a:noFill/>
          <a:ln/>
        </p:spPr>
        <p:txBody>
          <a:bodyPr wrap="square" lIns="0" tIns="0" rIns="0" bIns="0" rtlCol="0" anchor="t"/>
          <a:lstStyle/>
          <a:p>
            <a:pPr algn="l" indent="0" marL="0">
              <a:buNone/>
            </a:pPr>
            <a:r>
              <a:rPr lang="en-US" sz="3600" b="1" dirty="0">
                <a:solidFill>
                  <a:schemeClr val="tx1"/>
                </a:solidFill>
              </a:rPr>
              <a:t>Toutes les réclamations, les urgentes en tête</a:t>
            </a:r>
            <a:endParaRPr lang="en-US" sz="3600" dirty="0"/>
          </a:p>
        </p:txBody>
      </p:sp>
      <p:pic>
        <p:nvPicPr>
          <p:cNvPr id="5" name="Image 0" descr="Liste des réclamations du superviseur">    </p:cNvPr>
          <p:cNvPicPr>
            <a:picLocks noChangeAspect="1"/>
          </p:cNvPicPr>
          <p:nvPr/>
        </p:nvPicPr>
        <p:blipFill>
          <a:blip r:embed="rId1"/>
          <a:stretch>
            <a:fillRect/>
          </a:stretch>
        </p:blipFill>
        <p:spPr>
          <a:xfrm>
            <a:off x="312012" y="1299564"/>
            <a:ext cx="7788457" cy="5239630"/>
          </a:xfrm>
          <a:prstGeom prst="rect">
            <a:avLst/>
          </a:prstGeom>
        </p:spPr>
      </p:pic>
      <p:sp>
        <p:nvSpPr>
          <p:cNvPr id="6" name="Pastille 1"/>
          <p:cNvSpPr/>
          <p:nvPr/>
        </p:nvSpPr>
        <p:spPr>
          <a:xfrm>
            <a:off x="1719309" y="2602068"/>
            <a:ext cx="329184" cy="329184"/>
          </a:xfrm>
          <a:prstGeom prst="ellipse">
            <a:avLst/>
          </a:prstGeom>
          <a:solidFill>
            <a:schemeClr val="accent2"/>
          </a:solidFill>
          <a:ln w="19050">
            <a:solidFill>
              <a:schemeClr val="bg1"/>
            </a:solidFill>
            <a:prstDash val="solid"/>
          </a:ln>
          <a:effectLst>
            <a:outerShdw sx="100000" sy="100000" kx="0" ky="0" algn="bl" rotWithShape="0" blurRad="38100" dist="12700" dir="5400000">
              <a:srgbClr val="0E1C24">
                <a:alpha val="30000"/>
              </a:srgbClr>
            </a:outerShdw>
          </a:effectLst>
        </p:spPr>
      </p:sp>
      <p:sp>
        <p:nvSpPr>
          <p:cNvPr id="7" name="Text 3"/>
          <p:cNvSpPr txBox="1"/>
          <p:nvPr/>
        </p:nvSpPr>
        <p:spPr>
          <a:xfrm>
            <a:off x="1719309" y="2602068"/>
            <a:ext cx="329184" cy="329184"/>
          </a:xfrm>
          <a:prstGeom prst="rect">
            <a:avLst/>
          </a:prstGeom>
          <a:noFill/>
          <a:ln/>
        </p:spPr>
        <p:txBody>
          <a:bodyPr wrap="square" lIns="0" tIns="0" rIns="0" bIns="0" rtlCol="0" anchor="ctr"/>
          <a:lstStyle/>
          <a:p>
            <a:pPr algn="ctr" indent="0" marL="0">
              <a:buNone/>
            </a:pPr>
            <a:r>
              <a:rPr lang="en-US" sz="1400" b="1" dirty="0">
                <a:solidFill>
                  <a:schemeClr val="tx2"/>
                </a:solidFill>
              </a:rPr>
              <a:t>1</a:t>
            </a:r>
            <a:endParaRPr lang="en-US" sz="1400" dirty="0"/>
          </a:p>
        </p:txBody>
      </p:sp>
      <p:sp>
        <p:nvSpPr>
          <p:cNvPr id="8" name="Pastille 2"/>
          <p:cNvSpPr/>
          <p:nvPr/>
        </p:nvSpPr>
        <p:spPr>
          <a:xfrm>
            <a:off x="1719309" y="2875881"/>
            <a:ext cx="329184" cy="329184"/>
          </a:xfrm>
          <a:prstGeom prst="ellipse">
            <a:avLst/>
          </a:prstGeom>
          <a:solidFill>
            <a:schemeClr val="accent2"/>
          </a:solidFill>
          <a:ln w="19050">
            <a:solidFill>
              <a:schemeClr val="bg1"/>
            </a:solidFill>
            <a:prstDash val="solid"/>
          </a:ln>
          <a:effectLst>
            <a:outerShdw sx="100000" sy="100000" kx="0" ky="0" algn="bl" rotWithShape="0" blurRad="38100" dist="12700" dir="5400000">
              <a:srgbClr val="0E1C24">
                <a:alpha val="30000"/>
              </a:srgbClr>
            </a:outerShdw>
          </a:effectLst>
        </p:spPr>
      </p:sp>
      <p:sp>
        <p:nvSpPr>
          <p:cNvPr id="9" name="Text 5"/>
          <p:cNvSpPr txBox="1"/>
          <p:nvPr/>
        </p:nvSpPr>
        <p:spPr>
          <a:xfrm>
            <a:off x="1719309" y="2875881"/>
            <a:ext cx="329184" cy="329184"/>
          </a:xfrm>
          <a:prstGeom prst="rect">
            <a:avLst/>
          </a:prstGeom>
          <a:noFill/>
          <a:ln/>
        </p:spPr>
        <p:txBody>
          <a:bodyPr wrap="square" lIns="0" tIns="0" rIns="0" bIns="0" rtlCol="0" anchor="ctr"/>
          <a:lstStyle/>
          <a:p>
            <a:pPr algn="ctr" indent="0" marL="0">
              <a:buNone/>
            </a:pPr>
            <a:r>
              <a:rPr lang="en-US" sz="1400" b="1" dirty="0">
                <a:solidFill>
                  <a:schemeClr val="tx2"/>
                </a:solidFill>
              </a:rPr>
              <a:t>2</a:t>
            </a:r>
            <a:endParaRPr lang="en-US" sz="1400" dirty="0"/>
          </a:p>
        </p:txBody>
      </p:sp>
      <p:sp>
        <p:nvSpPr>
          <p:cNvPr id="10" name="Pastille 3"/>
          <p:cNvSpPr/>
          <p:nvPr/>
        </p:nvSpPr>
        <p:spPr>
          <a:xfrm>
            <a:off x="5461419" y="3129411"/>
            <a:ext cx="329184" cy="329184"/>
          </a:xfrm>
          <a:prstGeom prst="ellipse">
            <a:avLst/>
          </a:prstGeom>
          <a:solidFill>
            <a:schemeClr val="accent2"/>
          </a:solidFill>
          <a:ln w="19050">
            <a:solidFill>
              <a:schemeClr val="bg1"/>
            </a:solidFill>
            <a:prstDash val="solid"/>
          </a:ln>
          <a:effectLst>
            <a:outerShdw sx="100000" sy="100000" kx="0" ky="0" algn="bl" rotWithShape="0" blurRad="38100" dist="12700" dir="5400000">
              <a:srgbClr val="0E1C24">
                <a:alpha val="30000"/>
              </a:srgbClr>
            </a:outerShdw>
          </a:effectLst>
        </p:spPr>
      </p:sp>
      <p:sp>
        <p:nvSpPr>
          <p:cNvPr id="11" name="Text 7"/>
          <p:cNvSpPr txBox="1"/>
          <p:nvPr/>
        </p:nvSpPr>
        <p:spPr>
          <a:xfrm>
            <a:off x="5461419" y="3129411"/>
            <a:ext cx="329184" cy="329184"/>
          </a:xfrm>
          <a:prstGeom prst="rect">
            <a:avLst/>
          </a:prstGeom>
          <a:noFill/>
          <a:ln/>
        </p:spPr>
        <p:txBody>
          <a:bodyPr wrap="square" lIns="0" tIns="0" rIns="0" bIns="0" rtlCol="0" anchor="ctr"/>
          <a:lstStyle/>
          <a:p>
            <a:pPr algn="ctr" indent="0" marL="0">
              <a:buNone/>
            </a:pPr>
            <a:r>
              <a:rPr lang="en-US" sz="1400" b="1" dirty="0">
                <a:solidFill>
                  <a:schemeClr val="tx2"/>
                </a:solidFill>
              </a:rPr>
              <a:t>3</a:t>
            </a:r>
            <a:endParaRPr lang="en-US" sz="1400" dirty="0"/>
          </a:p>
        </p:txBody>
      </p:sp>
      <p:sp>
        <p:nvSpPr>
          <p:cNvPr id="12" name="Pastille 4"/>
          <p:cNvSpPr/>
          <p:nvPr/>
        </p:nvSpPr>
        <p:spPr>
          <a:xfrm>
            <a:off x="4508144" y="4346358"/>
            <a:ext cx="329184" cy="329184"/>
          </a:xfrm>
          <a:prstGeom prst="ellipse">
            <a:avLst/>
          </a:prstGeom>
          <a:solidFill>
            <a:schemeClr val="accent2"/>
          </a:solidFill>
          <a:ln w="19050">
            <a:solidFill>
              <a:schemeClr val="bg1"/>
            </a:solidFill>
            <a:prstDash val="solid"/>
          </a:ln>
          <a:effectLst>
            <a:outerShdw sx="100000" sy="100000" kx="0" ky="0" algn="bl" rotWithShape="0" blurRad="38100" dist="12700" dir="5400000">
              <a:srgbClr val="0E1C24">
                <a:alpha val="30000"/>
              </a:srgbClr>
            </a:outerShdw>
          </a:effectLst>
        </p:spPr>
      </p:sp>
      <p:sp>
        <p:nvSpPr>
          <p:cNvPr id="13" name="Text 9"/>
          <p:cNvSpPr txBox="1"/>
          <p:nvPr/>
        </p:nvSpPr>
        <p:spPr>
          <a:xfrm>
            <a:off x="4508144" y="4346358"/>
            <a:ext cx="329184" cy="329184"/>
          </a:xfrm>
          <a:prstGeom prst="rect">
            <a:avLst/>
          </a:prstGeom>
          <a:noFill/>
          <a:ln/>
        </p:spPr>
        <p:txBody>
          <a:bodyPr wrap="square" lIns="0" tIns="0" rIns="0" bIns="0" rtlCol="0" anchor="ctr"/>
          <a:lstStyle/>
          <a:p>
            <a:pPr algn="ctr" indent="0" marL="0">
              <a:buNone/>
            </a:pPr>
            <a:r>
              <a:rPr lang="en-US" sz="1400" b="1" dirty="0">
                <a:solidFill>
                  <a:schemeClr val="tx2"/>
                </a:solidFill>
              </a:rPr>
              <a:t>4</a:t>
            </a:r>
            <a:endParaRPr lang="en-US" sz="1400" dirty="0"/>
          </a:p>
        </p:txBody>
      </p:sp>
      <p:sp>
        <p:nvSpPr>
          <p:cNvPr id="14" name="Pastille 5"/>
          <p:cNvSpPr/>
          <p:nvPr/>
        </p:nvSpPr>
        <p:spPr>
          <a:xfrm>
            <a:off x="6516106" y="2252196"/>
            <a:ext cx="329184" cy="329184"/>
          </a:xfrm>
          <a:prstGeom prst="ellipse">
            <a:avLst/>
          </a:prstGeom>
          <a:solidFill>
            <a:schemeClr val="accent2"/>
          </a:solidFill>
          <a:ln w="19050">
            <a:solidFill>
              <a:schemeClr val="bg1"/>
            </a:solidFill>
            <a:prstDash val="solid"/>
          </a:ln>
          <a:effectLst>
            <a:outerShdw sx="100000" sy="100000" kx="0" ky="0" algn="bl" rotWithShape="0" blurRad="38100" dist="12700" dir="5400000">
              <a:srgbClr val="0E1C24">
                <a:alpha val="30000"/>
              </a:srgbClr>
            </a:outerShdw>
          </a:effectLst>
        </p:spPr>
      </p:sp>
      <p:sp>
        <p:nvSpPr>
          <p:cNvPr id="15" name="Text 11"/>
          <p:cNvSpPr txBox="1"/>
          <p:nvPr/>
        </p:nvSpPr>
        <p:spPr>
          <a:xfrm>
            <a:off x="6516106" y="2252196"/>
            <a:ext cx="329184" cy="329184"/>
          </a:xfrm>
          <a:prstGeom prst="rect">
            <a:avLst/>
          </a:prstGeom>
          <a:noFill/>
          <a:ln/>
        </p:spPr>
        <p:txBody>
          <a:bodyPr wrap="square" lIns="0" tIns="0" rIns="0" bIns="0" rtlCol="0" anchor="ctr"/>
          <a:lstStyle/>
          <a:p>
            <a:pPr algn="ctr" indent="0" marL="0">
              <a:buNone/>
            </a:pPr>
            <a:r>
              <a:rPr lang="en-US" sz="1400" b="1" dirty="0">
                <a:solidFill>
                  <a:schemeClr val="tx2"/>
                </a:solidFill>
              </a:rPr>
              <a:t>5</a:t>
            </a:r>
            <a:endParaRPr lang="en-US" sz="1400" dirty="0"/>
          </a:p>
        </p:txBody>
      </p:sp>
      <p:sp>
        <p:nvSpPr>
          <p:cNvPr id="16" name="Pastille 1"/>
          <p:cNvSpPr/>
          <p:nvPr/>
        </p:nvSpPr>
        <p:spPr>
          <a:xfrm>
            <a:off x="8293608" y="1600200"/>
            <a:ext cx="329184" cy="329184"/>
          </a:xfrm>
          <a:prstGeom prst="ellipse">
            <a:avLst/>
          </a:prstGeom>
          <a:solidFill>
            <a:schemeClr val="accent2"/>
          </a:solidFill>
          <a:ln w="19050">
            <a:solidFill>
              <a:schemeClr val="bg1"/>
            </a:solidFill>
            <a:prstDash val="solid"/>
          </a:ln>
          <a:effectLst>
            <a:outerShdw sx="100000" sy="100000" kx="0" ky="0" algn="bl" rotWithShape="0" blurRad="38100" dist="12700" dir="5400000">
              <a:srgbClr val="0E1C24">
                <a:alpha val="30000"/>
              </a:srgbClr>
            </a:outerShdw>
          </a:effectLst>
        </p:spPr>
      </p:sp>
      <p:sp>
        <p:nvSpPr>
          <p:cNvPr id="17" name="Text 13"/>
          <p:cNvSpPr txBox="1"/>
          <p:nvPr/>
        </p:nvSpPr>
        <p:spPr>
          <a:xfrm>
            <a:off x="8293608" y="1600200"/>
            <a:ext cx="329184" cy="329184"/>
          </a:xfrm>
          <a:prstGeom prst="rect">
            <a:avLst/>
          </a:prstGeom>
          <a:noFill/>
          <a:ln/>
        </p:spPr>
        <p:txBody>
          <a:bodyPr wrap="square" lIns="0" tIns="0" rIns="0" bIns="0" rtlCol="0" anchor="ctr"/>
          <a:lstStyle/>
          <a:p>
            <a:pPr algn="ctr" indent="0" marL="0">
              <a:buNone/>
            </a:pPr>
            <a:r>
              <a:rPr lang="en-US" sz="1400" b="1" dirty="0">
                <a:solidFill>
                  <a:schemeClr val="tx2"/>
                </a:solidFill>
              </a:rPr>
              <a:t>1</a:t>
            </a:r>
            <a:endParaRPr lang="en-US" sz="1400" dirty="0"/>
          </a:p>
        </p:txBody>
      </p:sp>
      <p:sp>
        <p:nvSpPr>
          <p:cNvPr id="18" name="Text 14"/>
          <p:cNvSpPr txBox="1"/>
          <p:nvPr/>
        </p:nvSpPr>
        <p:spPr>
          <a:xfrm>
            <a:off x="8805672" y="1600200"/>
            <a:ext cx="2837383" cy="993648"/>
          </a:xfrm>
          <a:prstGeom prst="rect">
            <a:avLst/>
          </a:prstGeom>
          <a:noFill/>
          <a:ln/>
        </p:spPr>
        <p:txBody>
          <a:bodyPr wrap="square" lIns="0" tIns="0" rIns="0" bIns="0" rtlCol="0" anchor="t"/>
          <a:lstStyle/>
          <a:p>
            <a:pPr indent="0" marL="0">
              <a:spcAft>
                <a:spcPts val="200"/>
              </a:spcAft>
              <a:buNone/>
            </a:pPr>
            <a:r>
              <a:rPr lang="en-US" sz="1600" b="1" dirty="0">
                <a:solidFill>
                  <a:schemeClr val="tx1"/>
                </a:solidFill>
              </a:rPr>
              <a:t>Des files prêtes à l'emploi</a:t>
            </a:r>
            <a:endParaRPr lang="en-US" sz="1600" dirty="0"/>
          </a:p>
          <a:p>
            <a:pPr indent="0" marL="0">
              <a:buNone/>
            </a:pPr>
            <a:r>
              <a:rPr lang="en-US" sz="1400" dirty="0">
                <a:solidFill>
                  <a:schemeClr val="accent3"/>
                </a:solidFill>
              </a:rPr>
              <a:t>Reçues, assignées à moi, urgentes, en retard, escaladées, toutes.</a:t>
            </a:r>
            <a:endParaRPr lang="en-US" sz="1600" dirty="0"/>
          </a:p>
        </p:txBody>
      </p:sp>
      <p:sp>
        <p:nvSpPr>
          <p:cNvPr id="19" name="Pastille 2"/>
          <p:cNvSpPr/>
          <p:nvPr/>
        </p:nvSpPr>
        <p:spPr>
          <a:xfrm>
            <a:off x="8293608" y="2776728"/>
            <a:ext cx="329184" cy="329184"/>
          </a:xfrm>
          <a:prstGeom prst="ellipse">
            <a:avLst/>
          </a:prstGeom>
          <a:solidFill>
            <a:schemeClr val="accent2"/>
          </a:solidFill>
          <a:ln w="19050">
            <a:solidFill>
              <a:schemeClr val="bg1"/>
            </a:solidFill>
            <a:prstDash val="solid"/>
          </a:ln>
          <a:effectLst>
            <a:outerShdw sx="100000" sy="100000" kx="0" ky="0" algn="bl" rotWithShape="0" blurRad="38100" dist="12700" dir="5400000">
              <a:srgbClr val="0E1C24">
                <a:alpha val="30000"/>
              </a:srgbClr>
            </a:outerShdw>
          </a:effectLst>
        </p:spPr>
      </p:sp>
      <p:sp>
        <p:nvSpPr>
          <p:cNvPr id="20" name="Text 16"/>
          <p:cNvSpPr txBox="1"/>
          <p:nvPr/>
        </p:nvSpPr>
        <p:spPr>
          <a:xfrm>
            <a:off x="8293608" y="2776728"/>
            <a:ext cx="329184" cy="329184"/>
          </a:xfrm>
          <a:prstGeom prst="rect">
            <a:avLst/>
          </a:prstGeom>
          <a:noFill/>
          <a:ln/>
        </p:spPr>
        <p:txBody>
          <a:bodyPr wrap="square" lIns="0" tIns="0" rIns="0" bIns="0" rtlCol="0" anchor="ctr"/>
          <a:lstStyle/>
          <a:p>
            <a:pPr algn="ctr" indent="0" marL="0">
              <a:buNone/>
            </a:pPr>
            <a:r>
              <a:rPr lang="en-US" sz="1400" b="1" dirty="0">
                <a:solidFill>
                  <a:schemeClr val="tx2"/>
                </a:solidFill>
              </a:rPr>
              <a:t>2</a:t>
            </a:r>
            <a:endParaRPr lang="en-US" sz="1400" dirty="0"/>
          </a:p>
        </p:txBody>
      </p:sp>
      <p:sp>
        <p:nvSpPr>
          <p:cNvPr id="21" name="Text 17"/>
          <p:cNvSpPr txBox="1"/>
          <p:nvPr/>
        </p:nvSpPr>
        <p:spPr>
          <a:xfrm>
            <a:off x="8805672" y="2776728"/>
            <a:ext cx="2837383" cy="993648"/>
          </a:xfrm>
          <a:prstGeom prst="rect">
            <a:avLst/>
          </a:prstGeom>
          <a:noFill/>
          <a:ln/>
        </p:spPr>
        <p:txBody>
          <a:bodyPr wrap="square" lIns="0" tIns="0" rIns="0" bIns="0" rtlCol="0" anchor="t"/>
          <a:lstStyle/>
          <a:p>
            <a:pPr indent="0" marL="0">
              <a:spcAft>
                <a:spcPts val="200"/>
              </a:spcAft>
              <a:buNone/>
            </a:pPr>
            <a:r>
              <a:rPr lang="en-US" sz="1600" b="1" dirty="0">
                <a:solidFill>
                  <a:schemeClr val="tx1"/>
                </a:solidFill>
              </a:rPr>
              <a:t>Des filtres combinables</a:t>
            </a:r>
            <a:endParaRPr lang="en-US" sz="1600" dirty="0"/>
          </a:p>
          <a:p>
            <a:pPr indent="0" marL="0">
              <a:buNone/>
            </a:pPr>
            <a:r>
              <a:rPr lang="en-US" sz="1400" dirty="0">
                <a:solidFill>
                  <a:schemeClr val="accent3"/>
                </a:solidFill>
              </a:rPr>
              <a:t>Statut, catégorie, agence, canal, agent, période ; recherche par nom ou téléphone.</a:t>
            </a:r>
            <a:endParaRPr lang="en-US" sz="1600" dirty="0"/>
          </a:p>
        </p:txBody>
      </p:sp>
      <p:sp>
        <p:nvSpPr>
          <p:cNvPr id="22" name="Pastille 3"/>
          <p:cNvSpPr/>
          <p:nvPr/>
        </p:nvSpPr>
        <p:spPr>
          <a:xfrm>
            <a:off x="8293608" y="3953256"/>
            <a:ext cx="329184" cy="329184"/>
          </a:xfrm>
          <a:prstGeom prst="ellipse">
            <a:avLst/>
          </a:prstGeom>
          <a:solidFill>
            <a:schemeClr val="accent2"/>
          </a:solidFill>
          <a:ln w="19050">
            <a:solidFill>
              <a:schemeClr val="bg1"/>
            </a:solidFill>
            <a:prstDash val="solid"/>
          </a:ln>
          <a:effectLst>
            <a:outerShdw sx="100000" sy="100000" kx="0" ky="0" algn="bl" rotWithShape="0" blurRad="38100" dist="12700" dir="5400000">
              <a:srgbClr val="0E1C24">
                <a:alpha val="30000"/>
              </a:srgbClr>
            </a:outerShdw>
          </a:effectLst>
        </p:spPr>
      </p:sp>
      <p:sp>
        <p:nvSpPr>
          <p:cNvPr id="23" name="Text 19"/>
          <p:cNvSpPr txBox="1"/>
          <p:nvPr/>
        </p:nvSpPr>
        <p:spPr>
          <a:xfrm>
            <a:off x="8293608" y="3953256"/>
            <a:ext cx="329184" cy="329184"/>
          </a:xfrm>
          <a:prstGeom prst="rect">
            <a:avLst/>
          </a:prstGeom>
          <a:noFill/>
          <a:ln/>
        </p:spPr>
        <p:txBody>
          <a:bodyPr wrap="square" lIns="0" tIns="0" rIns="0" bIns="0" rtlCol="0" anchor="ctr"/>
          <a:lstStyle/>
          <a:p>
            <a:pPr algn="ctr" indent="0" marL="0">
              <a:buNone/>
            </a:pPr>
            <a:r>
              <a:rPr lang="en-US" sz="1400" b="1" dirty="0">
                <a:solidFill>
                  <a:schemeClr val="tx2"/>
                </a:solidFill>
              </a:rPr>
              <a:t>3</a:t>
            </a:r>
            <a:endParaRPr lang="en-US" sz="1400" dirty="0"/>
          </a:p>
        </p:txBody>
      </p:sp>
      <p:sp>
        <p:nvSpPr>
          <p:cNvPr id="24" name="Text 20"/>
          <p:cNvSpPr txBox="1"/>
          <p:nvPr/>
        </p:nvSpPr>
        <p:spPr>
          <a:xfrm>
            <a:off x="8805672" y="3953256"/>
            <a:ext cx="2837383" cy="780288"/>
          </a:xfrm>
          <a:prstGeom prst="rect">
            <a:avLst/>
          </a:prstGeom>
          <a:noFill/>
          <a:ln/>
        </p:spPr>
        <p:txBody>
          <a:bodyPr wrap="square" lIns="0" tIns="0" rIns="0" bIns="0" rtlCol="0" anchor="t"/>
          <a:lstStyle/>
          <a:p>
            <a:pPr indent="0" marL="0">
              <a:spcAft>
                <a:spcPts val="200"/>
              </a:spcAft>
              <a:buNone/>
            </a:pPr>
            <a:r>
              <a:rPr lang="en-US" sz="1600" b="1" dirty="0">
                <a:solidFill>
                  <a:schemeClr val="tx1"/>
                </a:solidFill>
              </a:rPr>
              <a:t>Le chrono de chaque dossier</a:t>
            </a:r>
            <a:endParaRPr lang="en-US" sz="1600" dirty="0"/>
          </a:p>
          <a:p>
            <a:pPr indent="0" marL="0">
              <a:buNone/>
            </a:pPr>
            <a:r>
              <a:rPr lang="en-US" sz="1400" dirty="0">
                <a:solidFill>
                  <a:schemeClr val="accent3"/>
                </a:solidFill>
              </a:rPr>
              <a:t>Temps ouvré restant et échéance.</a:t>
            </a:r>
            <a:endParaRPr lang="en-US" sz="1600" dirty="0"/>
          </a:p>
        </p:txBody>
      </p:sp>
      <p:sp>
        <p:nvSpPr>
          <p:cNvPr id="25" name="Pastille 4"/>
          <p:cNvSpPr/>
          <p:nvPr/>
        </p:nvSpPr>
        <p:spPr>
          <a:xfrm>
            <a:off x="8293608" y="4916424"/>
            <a:ext cx="329184" cy="329184"/>
          </a:xfrm>
          <a:prstGeom prst="ellipse">
            <a:avLst/>
          </a:prstGeom>
          <a:solidFill>
            <a:schemeClr val="accent2"/>
          </a:solidFill>
          <a:ln w="19050">
            <a:solidFill>
              <a:schemeClr val="bg1"/>
            </a:solidFill>
            <a:prstDash val="solid"/>
          </a:ln>
          <a:effectLst>
            <a:outerShdw sx="100000" sy="100000" kx="0" ky="0" algn="bl" rotWithShape="0" blurRad="38100" dist="12700" dir="5400000">
              <a:srgbClr val="0E1C24">
                <a:alpha val="30000"/>
              </a:srgbClr>
            </a:outerShdw>
          </a:effectLst>
        </p:spPr>
      </p:sp>
      <p:sp>
        <p:nvSpPr>
          <p:cNvPr id="26" name="Text 22"/>
          <p:cNvSpPr txBox="1"/>
          <p:nvPr/>
        </p:nvSpPr>
        <p:spPr>
          <a:xfrm>
            <a:off x="8293608" y="4916424"/>
            <a:ext cx="329184" cy="329184"/>
          </a:xfrm>
          <a:prstGeom prst="rect">
            <a:avLst/>
          </a:prstGeom>
          <a:noFill/>
          <a:ln/>
        </p:spPr>
        <p:txBody>
          <a:bodyPr wrap="square" lIns="0" tIns="0" rIns="0" bIns="0" rtlCol="0" anchor="ctr"/>
          <a:lstStyle/>
          <a:p>
            <a:pPr algn="ctr" indent="0" marL="0">
              <a:buNone/>
            </a:pPr>
            <a:r>
              <a:rPr lang="en-US" sz="1400" b="1" dirty="0">
                <a:solidFill>
                  <a:schemeClr val="tx2"/>
                </a:solidFill>
              </a:rPr>
              <a:t>4</a:t>
            </a:r>
            <a:endParaRPr lang="en-US" sz="1400" dirty="0"/>
          </a:p>
        </p:txBody>
      </p:sp>
      <p:sp>
        <p:nvSpPr>
          <p:cNvPr id="27" name="Text 23"/>
          <p:cNvSpPr txBox="1"/>
          <p:nvPr/>
        </p:nvSpPr>
        <p:spPr>
          <a:xfrm>
            <a:off x="8805672" y="4916424"/>
            <a:ext cx="2837383" cy="780288"/>
          </a:xfrm>
          <a:prstGeom prst="rect">
            <a:avLst/>
          </a:prstGeom>
          <a:noFill/>
          <a:ln/>
        </p:spPr>
        <p:txBody>
          <a:bodyPr wrap="square" lIns="0" tIns="0" rIns="0" bIns="0" rtlCol="0" anchor="t"/>
          <a:lstStyle/>
          <a:p>
            <a:pPr indent="0" marL="0">
              <a:spcAft>
                <a:spcPts val="200"/>
              </a:spcAft>
              <a:buNone/>
            </a:pPr>
            <a:r>
              <a:rPr lang="en-US" sz="1600" b="1" dirty="0">
                <a:solidFill>
                  <a:schemeClr val="tx1"/>
                </a:solidFill>
              </a:rPr>
              <a:t>Une suggestion à valider</a:t>
            </a:r>
            <a:endParaRPr lang="en-US" sz="1600" dirty="0"/>
          </a:p>
          <a:p>
            <a:pPr indent="0" marL="0">
              <a:buNone/>
            </a:pPr>
            <a:r>
              <a:rPr lang="en-US" sz="1400" dirty="0">
                <a:solidFill>
                  <a:schemeClr val="accent3"/>
                </a:solidFill>
              </a:rPr>
              <a:t>L'agent proposé s'assigne en un clic.</a:t>
            </a:r>
            <a:endParaRPr lang="en-US" sz="1600" dirty="0"/>
          </a:p>
        </p:txBody>
      </p:sp>
      <p:sp>
        <p:nvSpPr>
          <p:cNvPr id="28" name="Pastille 5"/>
          <p:cNvSpPr/>
          <p:nvPr/>
        </p:nvSpPr>
        <p:spPr>
          <a:xfrm>
            <a:off x="8293608" y="5879592"/>
            <a:ext cx="329184" cy="329184"/>
          </a:xfrm>
          <a:prstGeom prst="ellipse">
            <a:avLst/>
          </a:prstGeom>
          <a:solidFill>
            <a:schemeClr val="accent2"/>
          </a:solidFill>
          <a:ln w="19050">
            <a:solidFill>
              <a:schemeClr val="bg1"/>
            </a:solidFill>
            <a:prstDash val="solid"/>
          </a:ln>
          <a:effectLst>
            <a:outerShdw sx="100000" sy="100000" kx="0" ky="0" algn="bl" rotWithShape="0" blurRad="38100" dist="12700" dir="5400000">
              <a:srgbClr val="0E1C24">
                <a:alpha val="30000"/>
              </a:srgbClr>
            </a:outerShdw>
          </a:effectLst>
        </p:spPr>
      </p:sp>
      <p:sp>
        <p:nvSpPr>
          <p:cNvPr id="29" name="Text 25"/>
          <p:cNvSpPr txBox="1"/>
          <p:nvPr/>
        </p:nvSpPr>
        <p:spPr>
          <a:xfrm>
            <a:off x="8293608" y="5879592"/>
            <a:ext cx="329184" cy="329184"/>
          </a:xfrm>
          <a:prstGeom prst="rect">
            <a:avLst/>
          </a:prstGeom>
          <a:noFill/>
          <a:ln/>
        </p:spPr>
        <p:txBody>
          <a:bodyPr wrap="square" lIns="0" tIns="0" rIns="0" bIns="0" rtlCol="0" anchor="ctr"/>
          <a:lstStyle/>
          <a:p>
            <a:pPr algn="ctr" indent="0" marL="0">
              <a:buNone/>
            </a:pPr>
            <a:r>
              <a:rPr lang="en-US" sz="1400" b="1" dirty="0">
                <a:solidFill>
                  <a:schemeClr val="tx2"/>
                </a:solidFill>
              </a:rPr>
              <a:t>5</a:t>
            </a:r>
            <a:endParaRPr lang="en-US" sz="1400" dirty="0"/>
          </a:p>
        </p:txBody>
      </p:sp>
      <p:sp>
        <p:nvSpPr>
          <p:cNvPr id="30" name="Text 26"/>
          <p:cNvSpPr txBox="1"/>
          <p:nvPr/>
        </p:nvSpPr>
        <p:spPr>
          <a:xfrm>
            <a:off x="8805672" y="5879592"/>
            <a:ext cx="2837383" cy="780288"/>
          </a:xfrm>
          <a:prstGeom prst="rect">
            <a:avLst/>
          </a:prstGeom>
          <a:noFill/>
          <a:ln/>
        </p:spPr>
        <p:txBody>
          <a:bodyPr wrap="square" lIns="0" tIns="0" rIns="0" bIns="0" rtlCol="0" anchor="t"/>
          <a:lstStyle/>
          <a:p>
            <a:pPr indent="0" marL="0">
              <a:spcAft>
                <a:spcPts val="200"/>
              </a:spcAft>
              <a:buNone/>
            </a:pPr>
            <a:r>
              <a:rPr lang="en-US" sz="1600" b="1" dirty="0">
                <a:solidFill>
                  <a:schemeClr val="tx1"/>
                </a:solidFill>
              </a:rPr>
              <a:t>Export CSV</a:t>
            </a:r>
            <a:endParaRPr lang="en-US" sz="1600" dirty="0"/>
          </a:p>
          <a:p>
            <a:pPr indent="0" marL="0">
              <a:buNone/>
            </a:pPr>
            <a:r>
              <a:rPr lang="en-US" sz="1400" dirty="0">
                <a:solidFill>
                  <a:schemeClr val="accent3"/>
                </a:solidFill>
              </a:rPr>
              <a:t>La liste filtrée, prête pour Excel.</a:t>
            </a:r>
            <a:endParaRPr lang="en-US" sz="1600" dirty="0"/>
          </a:p>
        </p:txBody>
      </p:sp>
      <p:sp>
        <p:nvSpPr>
          <p:cNvPr id="25" name="Slide Number Placeholder 0"/>
          <p:cNvSpPr>
            <a:spLocks noGrp="1"/>
          </p:cNvSpPr>
          <p:nvPr>
            <p:ph type="sldNum" sz="quarter" idx="4294967295"/>
          </p:nvPr>
        </p:nvSpPr>
        <p:spPr>
          <a:xfrm>
            <a:off x="11183112" y="6446520"/>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LES ÉQUIPES · ATTRIBUTION</a:t>
            </a:r>
            <a:endParaRPr lang="en-US" sz="1200" dirty="0"/>
          </a:p>
        </p:txBody>
      </p:sp>
      <p:sp>
        <p:nvSpPr>
          <p:cNvPr id="3" name="Text 0"/>
          <p:cNvSpPr/>
          <p:nvPr>
            <p:ph idx="101" type="title" hasCustomPrompt="1"/>
          </p:nvPr>
        </p:nvSpPr>
        <p:spPr>
          <a:xfrm>
            <a:off x="548640" y="603504"/>
            <a:ext cx="11091672" cy="685800"/>
          </a:xfrm>
          <a:prstGeom prst="rect">
            <a:avLst/>
          </a:prstGeom>
          <a:noFill/>
          <a:ln/>
        </p:spPr>
        <p:txBody>
          <a:bodyPr wrap="square" lIns="0" tIns="0" rIns="0" bIns="0" rtlCol="0" anchor="t"/>
          <a:lstStyle/>
          <a:p>
            <a:pPr algn="l" indent="0" marL="0">
              <a:buNone/>
            </a:pPr>
            <a:r>
              <a:rPr lang="en-US" sz="3600" b="1" dirty="0">
                <a:solidFill>
                  <a:schemeClr val="tx1"/>
                </a:solidFill>
              </a:rPr>
              <a:t>Le bon agent proposé, en un clic</a:t>
            </a:r>
            <a:endParaRPr lang="en-US" sz="3600" dirty="0"/>
          </a:p>
        </p:txBody>
      </p:sp>
      <p:pic>
        <p:nvPicPr>
          <p:cNvPr id="5" name="Image 0" descr="Fiche avec l'attribution suggérée">    </p:cNvPr>
          <p:cNvPicPr>
            <a:picLocks noChangeAspect="1"/>
          </p:cNvPicPr>
          <p:nvPr/>
        </p:nvPicPr>
        <p:blipFill>
          <a:blip r:embed="rId1"/>
          <a:stretch>
            <a:fillRect/>
          </a:stretch>
        </p:blipFill>
        <p:spPr>
          <a:xfrm>
            <a:off x="312012" y="1299564"/>
            <a:ext cx="7788457" cy="5239630"/>
          </a:xfrm>
          <a:prstGeom prst="rect">
            <a:avLst/>
          </a:prstGeom>
        </p:spPr>
      </p:pic>
      <p:sp>
        <p:nvSpPr>
          <p:cNvPr id="6" name="Pastille 1"/>
          <p:cNvSpPr/>
          <p:nvPr/>
        </p:nvSpPr>
        <p:spPr>
          <a:xfrm>
            <a:off x="3889530" y="2546291"/>
            <a:ext cx="329184" cy="329184"/>
          </a:xfrm>
          <a:prstGeom prst="ellipse">
            <a:avLst/>
          </a:prstGeom>
          <a:solidFill>
            <a:schemeClr val="accent2"/>
          </a:solidFill>
          <a:ln w="19050">
            <a:solidFill>
              <a:schemeClr val="bg1"/>
            </a:solidFill>
            <a:prstDash val="solid"/>
          </a:ln>
          <a:effectLst>
            <a:outerShdw sx="100000" sy="100000" kx="0" ky="0" algn="bl" rotWithShape="0" blurRad="38100" dist="12700" dir="5400000">
              <a:srgbClr val="0E1C24">
                <a:alpha val="30000"/>
              </a:srgbClr>
            </a:outerShdw>
          </a:effectLst>
        </p:spPr>
      </p:sp>
      <p:sp>
        <p:nvSpPr>
          <p:cNvPr id="7" name="Text 3"/>
          <p:cNvSpPr txBox="1"/>
          <p:nvPr/>
        </p:nvSpPr>
        <p:spPr>
          <a:xfrm>
            <a:off x="3889530" y="2546291"/>
            <a:ext cx="329184" cy="329184"/>
          </a:xfrm>
          <a:prstGeom prst="rect">
            <a:avLst/>
          </a:prstGeom>
          <a:noFill/>
          <a:ln/>
        </p:spPr>
        <p:txBody>
          <a:bodyPr wrap="square" lIns="0" tIns="0" rIns="0" bIns="0" rtlCol="0" anchor="ctr"/>
          <a:lstStyle/>
          <a:p>
            <a:pPr algn="ctr" indent="0" marL="0">
              <a:buNone/>
            </a:pPr>
            <a:r>
              <a:rPr lang="en-US" sz="1400" b="1" dirty="0">
                <a:solidFill>
                  <a:schemeClr val="tx2"/>
                </a:solidFill>
              </a:rPr>
              <a:t>1</a:t>
            </a:r>
            <a:endParaRPr lang="en-US" sz="1400" dirty="0"/>
          </a:p>
        </p:txBody>
      </p:sp>
      <p:sp>
        <p:nvSpPr>
          <p:cNvPr id="8" name="Pastille 2"/>
          <p:cNvSpPr/>
          <p:nvPr/>
        </p:nvSpPr>
        <p:spPr>
          <a:xfrm>
            <a:off x="4421944" y="2911375"/>
            <a:ext cx="329184" cy="329184"/>
          </a:xfrm>
          <a:prstGeom prst="ellipse">
            <a:avLst/>
          </a:prstGeom>
          <a:solidFill>
            <a:schemeClr val="accent2"/>
          </a:solidFill>
          <a:ln w="19050">
            <a:solidFill>
              <a:schemeClr val="bg1"/>
            </a:solidFill>
            <a:prstDash val="solid"/>
          </a:ln>
          <a:effectLst>
            <a:outerShdw sx="100000" sy="100000" kx="0" ky="0" algn="bl" rotWithShape="0" blurRad="38100" dist="12700" dir="5400000">
              <a:srgbClr val="0E1C24">
                <a:alpha val="30000"/>
              </a:srgbClr>
            </a:outerShdw>
          </a:effectLst>
        </p:spPr>
      </p:sp>
      <p:sp>
        <p:nvSpPr>
          <p:cNvPr id="9" name="Text 5"/>
          <p:cNvSpPr txBox="1"/>
          <p:nvPr/>
        </p:nvSpPr>
        <p:spPr>
          <a:xfrm>
            <a:off x="4421944" y="2911375"/>
            <a:ext cx="329184" cy="329184"/>
          </a:xfrm>
          <a:prstGeom prst="rect">
            <a:avLst/>
          </a:prstGeom>
          <a:noFill/>
          <a:ln/>
        </p:spPr>
        <p:txBody>
          <a:bodyPr wrap="square" lIns="0" tIns="0" rIns="0" bIns="0" rtlCol="0" anchor="ctr"/>
          <a:lstStyle/>
          <a:p>
            <a:pPr algn="ctr" indent="0" marL="0">
              <a:buNone/>
            </a:pPr>
            <a:r>
              <a:rPr lang="en-US" sz="1400" b="1" dirty="0">
                <a:solidFill>
                  <a:schemeClr val="tx2"/>
                </a:solidFill>
              </a:rPr>
              <a:t>2</a:t>
            </a:r>
            <a:endParaRPr lang="en-US" sz="1400" dirty="0"/>
          </a:p>
        </p:txBody>
      </p:sp>
      <p:sp>
        <p:nvSpPr>
          <p:cNvPr id="10" name="Pastille 3"/>
          <p:cNvSpPr/>
          <p:nvPr/>
        </p:nvSpPr>
        <p:spPr>
          <a:xfrm>
            <a:off x="5816361" y="2693339"/>
            <a:ext cx="329184" cy="329184"/>
          </a:xfrm>
          <a:prstGeom prst="ellipse">
            <a:avLst/>
          </a:prstGeom>
          <a:solidFill>
            <a:schemeClr val="accent2"/>
          </a:solidFill>
          <a:ln w="19050">
            <a:solidFill>
              <a:schemeClr val="bg1"/>
            </a:solidFill>
            <a:prstDash val="solid"/>
          </a:ln>
          <a:effectLst>
            <a:outerShdw sx="100000" sy="100000" kx="0" ky="0" algn="bl" rotWithShape="0" blurRad="38100" dist="12700" dir="5400000">
              <a:srgbClr val="0E1C24">
                <a:alpha val="30000"/>
              </a:srgbClr>
            </a:outerShdw>
          </a:effectLst>
        </p:spPr>
      </p:sp>
      <p:sp>
        <p:nvSpPr>
          <p:cNvPr id="11" name="Text 7"/>
          <p:cNvSpPr txBox="1"/>
          <p:nvPr/>
        </p:nvSpPr>
        <p:spPr>
          <a:xfrm>
            <a:off x="5816361" y="2693339"/>
            <a:ext cx="329184" cy="329184"/>
          </a:xfrm>
          <a:prstGeom prst="rect">
            <a:avLst/>
          </a:prstGeom>
          <a:noFill/>
          <a:ln/>
        </p:spPr>
        <p:txBody>
          <a:bodyPr wrap="square" lIns="0" tIns="0" rIns="0" bIns="0" rtlCol="0" anchor="ctr"/>
          <a:lstStyle/>
          <a:p>
            <a:pPr algn="ctr" indent="0" marL="0">
              <a:buNone/>
            </a:pPr>
            <a:r>
              <a:rPr lang="en-US" sz="1400" b="1" dirty="0">
                <a:solidFill>
                  <a:schemeClr val="tx2"/>
                </a:solidFill>
              </a:rPr>
              <a:t>3</a:t>
            </a:r>
            <a:endParaRPr lang="en-US" sz="1400" dirty="0"/>
          </a:p>
        </p:txBody>
      </p:sp>
      <p:sp>
        <p:nvSpPr>
          <p:cNvPr id="12" name="Pastille 4"/>
          <p:cNvSpPr/>
          <p:nvPr/>
        </p:nvSpPr>
        <p:spPr>
          <a:xfrm>
            <a:off x="5725091" y="5958812"/>
            <a:ext cx="329184" cy="329184"/>
          </a:xfrm>
          <a:prstGeom prst="ellipse">
            <a:avLst/>
          </a:prstGeom>
          <a:solidFill>
            <a:schemeClr val="accent2"/>
          </a:solidFill>
          <a:ln w="19050">
            <a:solidFill>
              <a:schemeClr val="bg1"/>
            </a:solidFill>
            <a:prstDash val="solid"/>
          </a:ln>
          <a:effectLst>
            <a:outerShdw sx="100000" sy="100000" kx="0" ky="0" algn="bl" rotWithShape="0" blurRad="38100" dist="12700" dir="5400000">
              <a:srgbClr val="0E1C24">
                <a:alpha val="30000"/>
              </a:srgbClr>
            </a:outerShdw>
          </a:effectLst>
        </p:spPr>
      </p:sp>
      <p:sp>
        <p:nvSpPr>
          <p:cNvPr id="13" name="Text 9"/>
          <p:cNvSpPr txBox="1"/>
          <p:nvPr/>
        </p:nvSpPr>
        <p:spPr>
          <a:xfrm>
            <a:off x="5725091" y="5958812"/>
            <a:ext cx="329184" cy="329184"/>
          </a:xfrm>
          <a:prstGeom prst="rect">
            <a:avLst/>
          </a:prstGeom>
          <a:noFill/>
          <a:ln/>
        </p:spPr>
        <p:txBody>
          <a:bodyPr wrap="square" lIns="0" tIns="0" rIns="0" bIns="0" rtlCol="0" anchor="ctr"/>
          <a:lstStyle/>
          <a:p>
            <a:pPr algn="ctr" indent="0" marL="0">
              <a:buNone/>
            </a:pPr>
            <a:r>
              <a:rPr lang="en-US" sz="1400" b="1" dirty="0">
                <a:solidFill>
                  <a:schemeClr val="tx2"/>
                </a:solidFill>
              </a:rPr>
              <a:t>4</a:t>
            </a:r>
            <a:endParaRPr lang="en-US" sz="1400" dirty="0"/>
          </a:p>
        </p:txBody>
      </p:sp>
      <p:sp>
        <p:nvSpPr>
          <p:cNvPr id="14" name="Pastille 1"/>
          <p:cNvSpPr/>
          <p:nvPr/>
        </p:nvSpPr>
        <p:spPr>
          <a:xfrm>
            <a:off x="8293608" y="1691640"/>
            <a:ext cx="329184" cy="329184"/>
          </a:xfrm>
          <a:prstGeom prst="ellipse">
            <a:avLst/>
          </a:prstGeom>
          <a:solidFill>
            <a:schemeClr val="accent2"/>
          </a:solidFill>
          <a:ln w="19050">
            <a:solidFill>
              <a:schemeClr val="bg1"/>
            </a:solidFill>
            <a:prstDash val="solid"/>
          </a:ln>
          <a:effectLst>
            <a:outerShdw sx="100000" sy="100000" kx="0" ky="0" algn="bl" rotWithShape="0" blurRad="38100" dist="12700" dir="5400000">
              <a:srgbClr val="0E1C24">
                <a:alpha val="30000"/>
              </a:srgbClr>
            </a:outerShdw>
          </a:effectLst>
        </p:spPr>
      </p:sp>
      <p:sp>
        <p:nvSpPr>
          <p:cNvPr id="15" name="Text 11"/>
          <p:cNvSpPr txBox="1"/>
          <p:nvPr/>
        </p:nvSpPr>
        <p:spPr>
          <a:xfrm>
            <a:off x="8293608" y="1691640"/>
            <a:ext cx="329184" cy="329184"/>
          </a:xfrm>
          <a:prstGeom prst="rect">
            <a:avLst/>
          </a:prstGeom>
          <a:noFill/>
          <a:ln/>
        </p:spPr>
        <p:txBody>
          <a:bodyPr wrap="square" lIns="0" tIns="0" rIns="0" bIns="0" rtlCol="0" anchor="ctr"/>
          <a:lstStyle/>
          <a:p>
            <a:pPr algn="ctr" indent="0" marL="0">
              <a:buNone/>
            </a:pPr>
            <a:r>
              <a:rPr lang="en-US" sz="1400" b="1" dirty="0">
                <a:solidFill>
                  <a:schemeClr val="tx2"/>
                </a:solidFill>
              </a:rPr>
              <a:t>1</a:t>
            </a:r>
            <a:endParaRPr lang="en-US" sz="1400" dirty="0"/>
          </a:p>
        </p:txBody>
      </p:sp>
      <p:sp>
        <p:nvSpPr>
          <p:cNvPr id="16" name="Text 12"/>
          <p:cNvSpPr txBox="1"/>
          <p:nvPr/>
        </p:nvSpPr>
        <p:spPr>
          <a:xfrm>
            <a:off x="8805672" y="1691640"/>
            <a:ext cx="2837383" cy="993648"/>
          </a:xfrm>
          <a:prstGeom prst="rect">
            <a:avLst/>
          </a:prstGeom>
          <a:noFill/>
          <a:ln/>
        </p:spPr>
        <p:txBody>
          <a:bodyPr wrap="square" lIns="0" tIns="0" rIns="0" bIns="0" rtlCol="0" anchor="t"/>
          <a:lstStyle/>
          <a:p>
            <a:pPr indent="0" marL="0">
              <a:spcAft>
                <a:spcPts val="200"/>
              </a:spcAft>
              <a:buNone/>
            </a:pPr>
            <a:r>
              <a:rPr lang="en-US" sz="1600" b="1" dirty="0">
                <a:solidFill>
                  <a:schemeClr val="tx1"/>
                </a:solidFill>
              </a:rPr>
              <a:t>L'origine du dépôt</a:t>
            </a:r>
            <a:endParaRPr lang="en-US" sz="1600" dirty="0"/>
          </a:p>
          <a:p>
            <a:pPr indent="0" marL="0">
              <a:buNone/>
            </a:pPr>
            <a:r>
              <a:rPr lang="en-US" sz="1400" dirty="0">
                <a:solidFill>
                  <a:schemeClr val="accent3"/>
                </a:solidFill>
              </a:rPr>
              <a:t>QR code, lien ou assistant : le superviseur sait d'où vient la demande.</a:t>
            </a:r>
            <a:endParaRPr lang="en-US" sz="1600" dirty="0"/>
          </a:p>
        </p:txBody>
      </p:sp>
      <p:sp>
        <p:nvSpPr>
          <p:cNvPr id="17" name="Pastille 2"/>
          <p:cNvSpPr/>
          <p:nvPr/>
        </p:nvSpPr>
        <p:spPr>
          <a:xfrm>
            <a:off x="8293608" y="2977896"/>
            <a:ext cx="329184" cy="329184"/>
          </a:xfrm>
          <a:prstGeom prst="ellipse">
            <a:avLst/>
          </a:prstGeom>
          <a:solidFill>
            <a:schemeClr val="accent2"/>
          </a:solidFill>
          <a:ln w="19050">
            <a:solidFill>
              <a:schemeClr val="bg1"/>
            </a:solidFill>
            <a:prstDash val="solid"/>
          </a:ln>
          <a:effectLst>
            <a:outerShdw sx="100000" sy="100000" kx="0" ky="0" algn="bl" rotWithShape="0" blurRad="38100" dist="12700" dir="5400000">
              <a:srgbClr val="0E1C24">
                <a:alpha val="30000"/>
              </a:srgbClr>
            </a:outerShdw>
          </a:effectLst>
        </p:spPr>
      </p:sp>
      <p:sp>
        <p:nvSpPr>
          <p:cNvPr id="18" name="Text 14"/>
          <p:cNvSpPr txBox="1"/>
          <p:nvPr/>
        </p:nvSpPr>
        <p:spPr>
          <a:xfrm>
            <a:off x="8293608" y="2977896"/>
            <a:ext cx="329184" cy="329184"/>
          </a:xfrm>
          <a:prstGeom prst="rect">
            <a:avLst/>
          </a:prstGeom>
          <a:noFill/>
          <a:ln/>
        </p:spPr>
        <p:txBody>
          <a:bodyPr wrap="square" lIns="0" tIns="0" rIns="0" bIns="0" rtlCol="0" anchor="ctr"/>
          <a:lstStyle/>
          <a:p>
            <a:pPr algn="ctr" indent="0" marL="0">
              <a:buNone/>
            </a:pPr>
            <a:r>
              <a:rPr lang="en-US" sz="1400" b="1" dirty="0">
                <a:solidFill>
                  <a:schemeClr val="tx2"/>
                </a:solidFill>
              </a:rPr>
              <a:t>2</a:t>
            </a:r>
            <a:endParaRPr lang="en-US" sz="1400" dirty="0"/>
          </a:p>
        </p:txBody>
      </p:sp>
      <p:sp>
        <p:nvSpPr>
          <p:cNvPr id="19" name="Text 15"/>
          <p:cNvSpPr txBox="1"/>
          <p:nvPr/>
        </p:nvSpPr>
        <p:spPr>
          <a:xfrm>
            <a:off x="8805672" y="2977896"/>
            <a:ext cx="2837383" cy="780288"/>
          </a:xfrm>
          <a:prstGeom prst="rect">
            <a:avLst/>
          </a:prstGeom>
          <a:noFill/>
          <a:ln/>
        </p:spPr>
        <p:txBody>
          <a:bodyPr wrap="square" lIns="0" tIns="0" rIns="0" bIns="0" rtlCol="0" anchor="t"/>
          <a:lstStyle/>
          <a:p>
            <a:pPr indent="0" marL="0">
              <a:spcAft>
                <a:spcPts val="200"/>
              </a:spcAft>
              <a:buNone/>
            </a:pPr>
            <a:r>
              <a:rPr lang="en-US" sz="1600" b="1" dirty="0">
                <a:solidFill>
                  <a:schemeClr val="tx1"/>
                </a:solidFill>
              </a:rPr>
              <a:t>Le délai démarre au dépôt</a:t>
            </a:r>
            <a:endParaRPr lang="en-US" sz="1600" dirty="0"/>
          </a:p>
          <a:p>
            <a:pPr indent="0" marL="0">
              <a:buNone/>
            </a:pPr>
            <a:r>
              <a:rPr lang="en-US" sz="1400" dirty="0">
                <a:solidFill>
                  <a:schemeClr val="accent3"/>
                </a:solidFill>
              </a:rPr>
              <a:t>Temps ouvré restant, alerte à 75 %, échéance affichée.</a:t>
            </a:r>
            <a:endParaRPr lang="en-US" sz="1600" dirty="0"/>
          </a:p>
        </p:txBody>
      </p:sp>
      <p:sp>
        <p:nvSpPr>
          <p:cNvPr id="20" name="Pastille 3"/>
          <p:cNvSpPr/>
          <p:nvPr/>
        </p:nvSpPr>
        <p:spPr>
          <a:xfrm>
            <a:off x="8293608" y="4050792"/>
            <a:ext cx="329184" cy="329184"/>
          </a:xfrm>
          <a:prstGeom prst="ellipse">
            <a:avLst/>
          </a:prstGeom>
          <a:solidFill>
            <a:schemeClr val="accent2"/>
          </a:solidFill>
          <a:ln w="19050">
            <a:solidFill>
              <a:schemeClr val="bg1"/>
            </a:solidFill>
            <a:prstDash val="solid"/>
          </a:ln>
          <a:effectLst>
            <a:outerShdw sx="100000" sy="100000" kx="0" ky="0" algn="bl" rotWithShape="0" blurRad="38100" dist="12700" dir="5400000">
              <a:srgbClr val="0E1C24">
                <a:alpha val="30000"/>
              </a:srgbClr>
            </a:outerShdw>
          </a:effectLst>
        </p:spPr>
      </p:sp>
      <p:sp>
        <p:nvSpPr>
          <p:cNvPr id="21" name="Text 17"/>
          <p:cNvSpPr txBox="1"/>
          <p:nvPr/>
        </p:nvSpPr>
        <p:spPr>
          <a:xfrm>
            <a:off x="8293608" y="4050792"/>
            <a:ext cx="329184" cy="329184"/>
          </a:xfrm>
          <a:prstGeom prst="rect">
            <a:avLst/>
          </a:prstGeom>
          <a:noFill/>
          <a:ln/>
        </p:spPr>
        <p:txBody>
          <a:bodyPr wrap="square" lIns="0" tIns="0" rIns="0" bIns="0" rtlCol="0" anchor="ctr"/>
          <a:lstStyle/>
          <a:p>
            <a:pPr algn="ctr" indent="0" marL="0">
              <a:buNone/>
            </a:pPr>
            <a:r>
              <a:rPr lang="en-US" sz="1400" b="1" dirty="0">
                <a:solidFill>
                  <a:schemeClr val="tx2"/>
                </a:solidFill>
              </a:rPr>
              <a:t>3</a:t>
            </a:r>
            <a:endParaRPr lang="en-US" sz="1400" dirty="0"/>
          </a:p>
        </p:txBody>
      </p:sp>
      <p:sp>
        <p:nvSpPr>
          <p:cNvPr id="22" name="Text 18"/>
          <p:cNvSpPr txBox="1"/>
          <p:nvPr/>
        </p:nvSpPr>
        <p:spPr>
          <a:xfrm>
            <a:off x="8805672" y="4050792"/>
            <a:ext cx="2837383" cy="993648"/>
          </a:xfrm>
          <a:prstGeom prst="rect">
            <a:avLst/>
          </a:prstGeom>
          <a:noFill/>
          <a:ln/>
        </p:spPr>
        <p:txBody>
          <a:bodyPr wrap="square" lIns="0" tIns="0" rIns="0" bIns="0" rtlCol="0" anchor="t"/>
          <a:lstStyle/>
          <a:p>
            <a:pPr indent="0" marL="0">
              <a:spcAft>
                <a:spcPts val="200"/>
              </a:spcAft>
              <a:buNone/>
            </a:pPr>
            <a:r>
              <a:rPr lang="en-US" sz="1600" b="1" dirty="0">
                <a:solidFill>
                  <a:schemeClr val="tx1"/>
                </a:solidFill>
              </a:rPr>
              <a:t>Attribution suggérée</a:t>
            </a:r>
            <a:endParaRPr lang="en-US" sz="1600" dirty="0"/>
          </a:p>
          <a:p>
            <a:pPr indent="0" marL="0">
              <a:buNone/>
            </a:pPr>
            <a:r>
              <a:rPr lang="en-US" sz="1400" dirty="0">
                <a:solidFill>
                  <a:schemeClr val="accent3"/>
                </a:solidFill>
              </a:rPr>
              <a:t>L'agent disponible le moins chargé du groupe, absences et horaires pris en compte.</a:t>
            </a:r>
            <a:endParaRPr lang="en-US" sz="1600" dirty="0"/>
          </a:p>
        </p:txBody>
      </p:sp>
      <p:sp>
        <p:nvSpPr>
          <p:cNvPr id="23" name="Pastille 4"/>
          <p:cNvSpPr/>
          <p:nvPr/>
        </p:nvSpPr>
        <p:spPr>
          <a:xfrm>
            <a:off x="8293608" y="5337048"/>
            <a:ext cx="329184" cy="329184"/>
          </a:xfrm>
          <a:prstGeom prst="ellipse">
            <a:avLst/>
          </a:prstGeom>
          <a:solidFill>
            <a:schemeClr val="accent2"/>
          </a:solidFill>
          <a:ln w="19050">
            <a:solidFill>
              <a:schemeClr val="bg1"/>
            </a:solidFill>
            <a:prstDash val="solid"/>
          </a:ln>
          <a:effectLst>
            <a:outerShdw sx="100000" sy="100000" kx="0" ky="0" algn="bl" rotWithShape="0" blurRad="38100" dist="12700" dir="5400000">
              <a:srgbClr val="0E1C24">
                <a:alpha val="30000"/>
              </a:srgbClr>
            </a:outerShdw>
          </a:effectLst>
        </p:spPr>
      </p:sp>
      <p:sp>
        <p:nvSpPr>
          <p:cNvPr id="24" name="Text 20"/>
          <p:cNvSpPr txBox="1"/>
          <p:nvPr/>
        </p:nvSpPr>
        <p:spPr>
          <a:xfrm>
            <a:off x="8293608" y="5337048"/>
            <a:ext cx="329184" cy="329184"/>
          </a:xfrm>
          <a:prstGeom prst="rect">
            <a:avLst/>
          </a:prstGeom>
          <a:noFill/>
          <a:ln/>
        </p:spPr>
        <p:txBody>
          <a:bodyPr wrap="square" lIns="0" tIns="0" rIns="0" bIns="0" rtlCol="0" anchor="ctr"/>
          <a:lstStyle/>
          <a:p>
            <a:pPr algn="ctr" indent="0" marL="0">
              <a:buNone/>
            </a:pPr>
            <a:r>
              <a:rPr lang="en-US" sz="1400" b="1" dirty="0">
                <a:solidFill>
                  <a:schemeClr val="tx2"/>
                </a:solidFill>
              </a:rPr>
              <a:t>4</a:t>
            </a:r>
            <a:endParaRPr lang="en-US" sz="1400" dirty="0"/>
          </a:p>
        </p:txBody>
      </p:sp>
      <p:sp>
        <p:nvSpPr>
          <p:cNvPr id="25" name="Text 21"/>
          <p:cNvSpPr txBox="1"/>
          <p:nvPr/>
        </p:nvSpPr>
        <p:spPr>
          <a:xfrm>
            <a:off x="8805672" y="5337048"/>
            <a:ext cx="2837383" cy="1024128"/>
          </a:xfrm>
          <a:prstGeom prst="rect">
            <a:avLst/>
          </a:prstGeom>
          <a:noFill/>
          <a:ln/>
        </p:spPr>
        <p:txBody>
          <a:bodyPr wrap="square" lIns="0" tIns="0" rIns="0" bIns="0" rtlCol="0" anchor="t"/>
          <a:lstStyle/>
          <a:p>
            <a:pPr indent="0" marL="0">
              <a:spcAft>
                <a:spcPts val="200"/>
              </a:spcAft>
              <a:buNone/>
            </a:pPr>
            <a:r>
              <a:rPr lang="en-US" sz="1600" b="1" dirty="0">
                <a:solidFill>
                  <a:schemeClr val="tx1"/>
                </a:solidFill>
              </a:rPr>
              <a:t>Le superviseur garde la main</a:t>
            </a:r>
            <a:endParaRPr lang="en-US" sz="1600" dirty="0"/>
          </a:p>
          <a:p>
            <a:pPr indent="0" marL="0">
              <a:buNone/>
            </a:pPr>
            <a:r>
              <a:rPr lang="en-US" sz="1400" dirty="0">
                <a:solidFill>
                  <a:schemeClr val="accent3"/>
                </a:solidFill>
              </a:rPr>
              <a:t>Il valide la suggestion ou assigne qui il veut.</a:t>
            </a:r>
            <a:endParaRPr lang="en-US" sz="1600" dirty="0"/>
          </a:p>
        </p:txBody>
      </p:sp>
      <p:sp>
        <p:nvSpPr>
          <p:cNvPr id="25" name="Slide Number Placeholder 0"/>
          <p:cNvSpPr>
            <a:spLocks noGrp="1"/>
          </p:cNvSpPr>
          <p:nvPr>
            <p:ph type="sldNum" sz="quarter" idx="4294967295"/>
          </p:nvPr>
        </p:nvSpPr>
        <p:spPr>
          <a:xfrm>
            <a:off x="11183112" y="6446520"/>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LES ÉQUIPES · FICHE DE RÉCLAMATION</a:t>
            </a:r>
            <a:endParaRPr lang="en-US" sz="1200" dirty="0"/>
          </a:p>
        </p:txBody>
      </p:sp>
      <p:sp>
        <p:nvSpPr>
          <p:cNvPr id="3" name="Text 0"/>
          <p:cNvSpPr/>
          <p:nvPr>
            <p:ph idx="101" type="title" hasCustomPrompt="1"/>
          </p:nvPr>
        </p:nvSpPr>
        <p:spPr>
          <a:xfrm>
            <a:off x="548640" y="603504"/>
            <a:ext cx="11091672" cy="685800"/>
          </a:xfrm>
          <a:prstGeom prst="rect">
            <a:avLst/>
          </a:prstGeom>
          <a:noFill/>
          <a:ln/>
        </p:spPr>
        <p:txBody>
          <a:bodyPr wrap="square" lIns="0" tIns="0" rIns="0" bIns="0" rtlCol="0" anchor="t"/>
          <a:lstStyle/>
          <a:p>
            <a:pPr algn="l" indent="0" marL="0">
              <a:buNone/>
            </a:pPr>
            <a:r>
              <a:rPr lang="en-US" sz="3600" b="1" dirty="0">
                <a:solidFill>
                  <a:schemeClr val="tx1"/>
                </a:solidFill>
              </a:rPr>
              <a:t>Tout le dossier sur une seule fiche</a:t>
            </a:r>
            <a:endParaRPr lang="en-US" sz="3600" dirty="0"/>
          </a:p>
        </p:txBody>
      </p:sp>
      <p:pic>
        <p:nvPicPr>
          <p:cNvPr id="5" name="Image 0" descr="Fiche d'une réclamation vue par l'agente">    </p:cNvPr>
          <p:cNvPicPr>
            <a:picLocks noChangeAspect="1"/>
          </p:cNvPicPr>
          <p:nvPr/>
        </p:nvPicPr>
        <p:blipFill>
          <a:blip r:embed="rId1"/>
          <a:stretch>
            <a:fillRect/>
          </a:stretch>
        </p:blipFill>
        <p:spPr>
          <a:xfrm>
            <a:off x="312012" y="1299564"/>
            <a:ext cx="7788457" cy="5239630"/>
          </a:xfrm>
          <a:prstGeom prst="rect">
            <a:avLst/>
          </a:prstGeom>
        </p:spPr>
      </p:pic>
      <p:sp>
        <p:nvSpPr>
          <p:cNvPr id="6" name="Pastille 1"/>
          <p:cNvSpPr/>
          <p:nvPr/>
        </p:nvSpPr>
        <p:spPr>
          <a:xfrm>
            <a:off x="5197747" y="2348538"/>
            <a:ext cx="329184" cy="329184"/>
          </a:xfrm>
          <a:prstGeom prst="ellipse">
            <a:avLst/>
          </a:prstGeom>
          <a:solidFill>
            <a:schemeClr val="accent2"/>
          </a:solidFill>
          <a:ln w="19050">
            <a:solidFill>
              <a:schemeClr val="bg1"/>
            </a:solidFill>
            <a:prstDash val="solid"/>
          </a:ln>
          <a:effectLst>
            <a:outerShdw sx="100000" sy="100000" kx="0" ky="0" algn="bl" rotWithShape="0" blurRad="38100" dist="12700" dir="5400000">
              <a:srgbClr val="0E1C24">
                <a:alpha val="30000"/>
              </a:srgbClr>
            </a:outerShdw>
          </a:effectLst>
        </p:spPr>
      </p:sp>
      <p:sp>
        <p:nvSpPr>
          <p:cNvPr id="7" name="Text 3"/>
          <p:cNvSpPr txBox="1"/>
          <p:nvPr/>
        </p:nvSpPr>
        <p:spPr>
          <a:xfrm>
            <a:off x="5197747" y="2348538"/>
            <a:ext cx="329184" cy="329184"/>
          </a:xfrm>
          <a:prstGeom prst="rect">
            <a:avLst/>
          </a:prstGeom>
          <a:noFill/>
          <a:ln/>
        </p:spPr>
        <p:txBody>
          <a:bodyPr wrap="square" lIns="0" tIns="0" rIns="0" bIns="0" rtlCol="0" anchor="ctr"/>
          <a:lstStyle/>
          <a:p>
            <a:pPr algn="ctr" indent="0" marL="0">
              <a:buNone/>
            </a:pPr>
            <a:r>
              <a:rPr lang="en-US" sz="1400" b="1" dirty="0">
                <a:solidFill>
                  <a:schemeClr val="tx2"/>
                </a:solidFill>
              </a:rPr>
              <a:t>1</a:t>
            </a:r>
            <a:endParaRPr lang="en-US" sz="1400" dirty="0"/>
          </a:p>
        </p:txBody>
      </p:sp>
      <p:sp>
        <p:nvSpPr>
          <p:cNvPr id="8" name="Pastille 2"/>
          <p:cNvSpPr/>
          <p:nvPr/>
        </p:nvSpPr>
        <p:spPr>
          <a:xfrm>
            <a:off x="4421944" y="2916446"/>
            <a:ext cx="329184" cy="329184"/>
          </a:xfrm>
          <a:prstGeom prst="ellipse">
            <a:avLst/>
          </a:prstGeom>
          <a:solidFill>
            <a:schemeClr val="accent2"/>
          </a:solidFill>
          <a:ln w="19050">
            <a:solidFill>
              <a:schemeClr val="bg1"/>
            </a:solidFill>
            <a:prstDash val="solid"/>
          </a:ln>
          <a:effectLst>
            <a:outerShdw sx="100000" sy="100000" kx="0" ky="0" algn="bl" rotWithShape="0" blurRad="38100" dist="12700" dir="5400000">
              <a:srgbClr val="0E1C24">
                <a:alpha val="30000"/>
              </a:srgbClr>
            </a:outerShdw>
          </a:effectLst>
        </p:spPr>
      </p:sp>
      <p:sp>
        <p:nvSpPr>
          <p:cNvPr id="9" name="Text 5"/>
          <p:cNvSpPr txBox="1"/>
          <p:nvPr/>
        </p:nvSpPr>
        <p:spPr>
          <a:xfrm>
            <a:off x="4421944" y="2916446"/>
            <a:ext cx="329184" cy="329184"/>
          </a:xfrm>
          <a:prstGeom prst="rect">
            <a:avLst/>
          </a:prstGeom>
          <a:noFill/>
          <a:ln/>
        </p:spPr>
        <p:txBody>
          <a:bodyPr wrap="square" lIns="0" tIns="0" rIns="0" bIns="0" rtlCol="0" anchor="ctr"/>
          <a:lstStyle/>
          <a:p>
            <a:pPr algn="ctr" indent="0" marL="0">
              <a:buNone/>
            </a:pPr>
            <a:r>
              <a:rPr lang="en-US" sz="1400" b="1" dirty="0">
                <a:solidFill>
                  <a:schemeClr val="tx2"/>
                </a:solidFill>
              </a:rPr>
              <a:t>2</a:t>
            </a:r>
            <a:endParaRPr lang="en-US" sz="1400" dirty="0"/>
          </a:p>
        </p:txBody>
      </p:sp>
      <p:sp>
        <p:nvSpPr>
          <p:cNvPr id="10" name="Pastille 3"/>
          <p:cNvSpPr/>
          <p:nvPr/>
        </p:nvSpPr>
        <p:spPr>
          <a:xfrm>
            <a:off x="1749732" y="4752007"/>
            <a:ext cx="329184" cy="329184"/>
          </a:xfrm>
          <a:prstGeom prst="ellipse">
            <a:avLst/>
          </a:prstGeom>
          <a:solidFill>
            <a:schemeClr val="accent2"/>
          </a:solidFill>
          <a:ln w="19050">
            <a:solidFill>
              <a:schemeClr val="bg1"/>
            </a:solidFill>
            <a:prstDash val="solid"/>
          </a:ln>
          <a:effectLst>
            <a:outerShdw sx="100000" sy="100000" kx="0" ky="0" algn="bl" rotWithShape="0" blurRad="38100" dist="12700" dir="5400000">
              <a:srgbClr val="0E1C24">
                <a:alpha val="30000"/>
              </a:srgbClr>
            </a:outerShdw>
          </a:effectLst>
        </p:spPr>
      </p:sp>
      <p:sp>
        <p:nvSpPr>
          <p:cNvPr id="11" name="Text 7"/>
          <p:cNvSpPr txBox="1"/>
          <p:nvPr/>
        </p:nvSpPr>
        <p:spPr>
          <a:xfrm>
            <a:off x="1749732" y="4752007"/>
            <a:ext cx="329184" cy="329184"/>
          </a:xfrm>
          <a:prstGeom prst="rect">
            <a:avLst/>
          </a:prstGeom>
          <a:noFill/>
          <a:ln/>
        </p:spPr>
        <p:txBody>
          <a:bodyPr wrap="square" lIns="0" tIns="0" rIns="0" bIns="0" rtlCol="0" anchor="ctr"/>
          <a:lstStyle/>
          <a:p>
            <a:pPr algn="ctr" indent="0" marL="0">
              <a:buNone/>
            </a:pPr>
            <a:r>
              <a:rPr lang="en-US" sz="1400" b="1" dirty="0">
                <a:solidFill>
                  <a:schemeClr val="tx2"/>
                </a:solidFill>
              </a:rPr>
              <a:t>3</a:t>
            </a:r>
            <a:endParaRPr lang="en-US" sz="1400" dirty="0"/>
          </a:p>
        </p:txBody>
      </p:sp>
      <p:sp>
        <p:nvSpPr>
          <p:cNvPr id="12" name="Pastille 4"/>
          <p:cNvSpPr/>
          <p:nvPr/>
        </p:nvSpPr>
        <p:spPr>
          <a:xfrm>
            <a:off x="1749732" y="5330056"/>
            <a:ext cx="329184" cy="329184"/>
          </a:xfrm>
          <a:prstGeom prst="ellipse">
            <a:avLst/>
          </a:prstGeom>
          <a:solidFill>
            <a:schemeClr val="accent2"/>
          </a:solidFill>
          <a:ln w="19050">
            <a:solidFill>
              <a:schemeClr val="bg1"/>
            </a:solidFill>
            <a:prstDash val="solid"/>
          </a:ln>
          <a:effectLst>
            <a:outerShdw sx="100000" sy="100000" kx="0" ky="0" algn="bl" rotWithShape="0" blurRad="38100" dist="12700" dir="5400000">
              <a:srgbClr val="0E1C24">
                <a:alpha val="30000"/>
              </a:srgbClr>
            </a:outerShdw>
          </a:effectLst>
        </p:spPr>
      </p:sp>
      <p:sp>
        <p:nvSpPr>
          <p:cNvPr id="13" name="Text 9"/>
          <p:cNvSpPr txBox="1"/>
          <p:nvPr/>
        </p:nvSpPr>
        <p:spPr>
          <a:xfrm>
            <a:off x="1749732" y="5330056"/>
            <a:ext cx="329184" cy="329184"/>
          </a:xfrm>
          <a:prstGeom prst="rect">
            <a:avLst/>
          </a:prstGeom>
          <a:noFill/>
          <a:ln/>
        </p:spPr>
        <p:txBody>
          <a:bodyPr wrap="square" lIns="0" tIns="0" rIns="0" bIns="0" rtlCol="0" anchor="ctr"/>
          <a:lstStyle/>
          <a:p>
            <a:pPr algn="ctr" indent="0" marL="0">
              <a:buNone/>
            </a:pPr>
            <a:r>
              <a:rPr lang="en-US" sz="1400" b="1" dirty="0">
                <a:solidFill>
                  <a:schemeClr val="tx2"/>
                </a:solidFill>
              </a:rPr>
              <a:t>4</a:t>
            </a:r>
            <a:endParaRPr lang="en-US" sz="1400" dirty="0"/>
          </a:p>
        </p:txBody>
      </p:sp>
      <p:sp>
        <p:nvSpPr>
          <p:cNvPr id="14" name="Pastille 5"/>
          <p:cNvSpPr/>
          <p:nvPr/>
        </p:nvSpPr>
        <p:spPr>
          <a:xfrm>
            <a:off x="5704808" y="2764328"/>
            <a:ext cx="329184" cy="329184"/>
          </a:xfrm>
          <a:prstGeom prst="ellipse">
            <a:avLst/>
          </a:prstGeom>
          <a:solidFill>
            <a:schemeClr val="accent2"/>
          </a:solidFill>
          <a:ln w="19050">
            <a:solidFill>
              <a:schemeClr val="bg1"/>
            </a:solidFill>
            <a:prstDash val="solid"/>
          </a:ln>
          <a:effectLst>
            <a:outerShdw sx="100000" sy="100000" kx="0" ky="0" algn="bl" rotWithShape="0" blurRad="38100" dist="12700" dir="5400000">
              <a:srgbClr val="0E1C24">
                <a:alpha val="30000"/>
              </a:srgbClr>
            </a:outerShdw>
          </a:effectLst>
        </p:spPr>
      </p:sp>
      <p:sp>
        <p:nvSpPr>
          <p:cNvPr id="15" name="Text 11"/>
          <p:cNvSpPr txBox="1"/>
          <p:nvPr/>
        </p:nvSpPr>
        <p:spPr>
          <a:xfrm>
            <a:off x="5704808" y="2764328"/>
            <a:ext cx="329184" cy="329184"/>
          </a:xfrm>
          <a:prstGeom prst="rect">
            <a:avLst/>
          </a:prstGeom>
          <a:noFill/>
          <a:ln/>
        </p:spPr>
        <p:txBody>
          <a:bodyPr wrap="square" lIns="0" tIns="0" rIns="0" bIns="0" rtlCol="0" anchor="ctr"/>
          <a:lstStyle/>
          <a:p>
            <a:pPr algn="ctr" indent="0" marL="0">
              <a:buNone/>
            </a:pPr>
            <a:r>
              <a:rPr lang="en-US" sz="1400" b="1" dirty="0">
                <a:solidFill>
                  <a:schemeClr val="tx2"/>
                </a:solidFill>
              </a:rPr>
              <a:t>5</a:t>
            </a:r>
            <a:endParaRPr lang="en-US" sz="1400" dirty="0"/>
          </a:p>
        </p:txBody>
      </p:sp>
      <p:sp>
        <p:nvSpPr>
          <p:cNvPr id="16" name="Pastille 1"/>
          <p:cNvSpPr/>
          <p:nvPr/>
        </p:nvSpPr>
        <p:spPr>
          <a:xfrm>
            <a:off x="8293608" y="1572768"/>
            <a:ext cx="329184" cy="329184"/>
          </a:xfrm>
          <a:prstGeom prst="ellipse">
            <a:avLst/>
          </a:prstGeom>
          <a:solidFill>
            <a:schemeClr val="accent2"/>
          </a:solidFill>
          <a:ln w="19050">
            <a:solidFill>
              <a:schemeClr val="bg1"/>
            </a:solidFill>
            <a:prstDash val="solid"/>
          </a:ln>
          <a:effectLst>
            <a:outerShdw sx="100000" sy="100000" kx="0" ky="0" algn="bl" rotWithShape="0" blurRad="38100" dist="12700" dir="5400000">
              <a:srgbClr val="0E1C24">
                <a:alpha val="30000"/>
              </a:srgbClr>
            </a:outerShdw>
          </a:effectLst>
        </p:spPr>
      </p:sp>
      <p:sp>
        <p:nvSpPr>
          <p:cNvPr id="17" name="Text 13"/>
          <p:cNvSpPr txBox="1"/>
          <p:nvPr/>
        </p:nvSpPr>
        <p:spPr>
          <a:xfrm>
            <a:off x="8293608" y="1572768"/>
            <a:ext cx="329184" cy="329184"/>
          </a:xfrm>
          <a:prstGeom prst="rect">
            <a:avLst/>
          </a:prstGeom>
          <a:noFill/>
          <a:ln/>
        </p:spPr>
        <p:txBody>
          <a:bodyPr wrap="square" lIns="0" tIns="0" rIns="0" bIns="0" rtlCol="0" anchor="ctr"/>
          <a:lstStyle/>
          <a:p>
            <a:pPr algn="ctr" indent="0" marL="0">
              <a:buNone/>
            </a:pPr>
            <a:r>
              <a:rPr lang="en-US" sz="1400" b="1" dirty="0">
                <a:solidFill>
                  <a:schemeClr val="tx2"/>
                </a:solidFill>
              </a:rPr>
              <a:t>1</a:t>
            </a:r>
            <a:endParaRPr lang="en-US" sz="1400" dirty="0"/>
          </a:p>
        </p:txBody>
      </p:sp>
      <p:sp>
        <p:nvSpPr>
          <p:cNvPr id="18" name="Text 14"/>
          <p:cNvSpPr txBox="1"/>
          <p:nvPr/>
        </p:nvSpPr>
        <p:spPr>
          <a:xfrm>
            <a:off x="8805672" y="1572768"/>
            <a:ext cx="2837383" cy="780288"/>
          </a:xfrm>
          <a:prstGeom prst="rect">
            <a:avLst/>
          </a:prstGeom>
          <a:noFill/>
          <a:ln/>
        </p:spPr>
        <p:txBody>
          <a:bodyPr wrap="square" lIns="0" tIns="0" rIns="0" bIns="0" rtlCol="0" anchor="t"/>
          <a:lstStyle/>
          <a:p>
            <a:pPr indent="0" marL="0">
              <a:spcAft>
                <a:spcPts val="200"/>
              </a:spcAft>
              <a:buNone/>
            </a:pPr>
            <a:r>
              <a:rPr lang="en-US" sz="1600" b="1" dirty="0">
                <a:solidFill>
                  <a:schemeClr val="tx1"/>
                </a:solidFill>
              </a:rPr>
              <a:t>Les actions du dossier</a:t>
            </a:r>
            <a:endParaRPr lang="en-US" sz="1600" dirty="0"/>
          </a:p>
          <a:p>
            <a:pPr indent="0" marL="0">
              <a:buNone/>
            </a:pPr>
            <a:r>
              <a:rPr lang="en-US" sz="1400" dirty="0">
                <a:solidFill>
                  <a:schemeClr val="accent3"/>
                </a:solidFill>
              </a:rPr>
              <a:t>Passer en urgent, escalader, résoudre.</a:t>
            </a:r>
            <a:endParaRPr lang="en-US" sz="1600" dirty="0"/>
          </a:p>
        </p:txBody>
      </p:sp>
      <p:sp>
        <p:nvSpPr>
          <p:cNvPr id="19" name="Pastille 2"/>
          <p:cNvSpPr/>
          <p:nvPr/>
        </p:nvSpPr>
        <p:spPr>
          <a:xfrm>
            <a:off x="8293608" y="2444496"/>
            <a:ext cx="329184" cy="329184"/>
          </a:xfrm>
          <a:prstGeom prst="ellipse">
            <a:avLst/>
          </a:prstGeom>
          <a:solidFill>
            <a:schemeClr val="accent2"/>
          </a:solidFill>
          <a:ln w="19050">
            <a:solidFill>
              <a:schemeClr val="bg1"/>
            </a:solidFill>
            <a:prstDash val="solid"/>
          </a:ln>
          <a:effectLst>
            <a:outerShdw sx="100000" sy="100000" kx="0" ky="0" algn="bl" rotWithShape="0" blurRad="38100" dist="12700" dir="5400000">
              <a:srgbClr val="0E1C24">
                <a:alpha val="30000"/>
              </a:srgbClr>
            </a:outerShdw>
          </a:effectLst>
        </p:spPr>
      </p:sp>
      <p:sp>
        <p:nvSpPr>
          <p:cNvPr id="20" name="Text 16"/>
          <p:cNvSpPr txBox="1"/>
          <p:nvPr/>
        </p:nvSpPr>
        <p:spPr>
          <a:xfrm>
            <a:off x="8293608" y="2444496"/>
            <a:ext cx="329184" cy="329184"/>
          </a:xfrm>
          <a:prstGeom prst="rect">
            <a:avLst/>
          </a:prstGeom>
          <a:noFill/>
          <a:ln/>
        </p:spPr>
        <p:txBody>
          <a:bodyPr wrap="square" lIns="0" tIns="0" rIns="0" bIns="0" rtlCol="0" anchor="ctr"/>
          <a:lstStyle/>
          <a:p>
            <a:pPr algn="ctr" indent="0" marL="0">
              <a:buNone/>
            </a:pPr>
            <a:r>
              <a:rPr lang="en-US" sz="1400" b="1" dirty="0">
                <a:solidFill>
                  <a:schemeClr val="tx2"/>
                </a:solidFill>
              </a:rPr>
              <a:t>2</a:t>
            </a:r>
            <a:endParaRPr lang="en-US" sz="1400" dirty="0"/>
          </a:p>
        </p:txBody>
      </p:sp>
      <p:sp>
        <p:nvSpPr>
          <p:cNvPr id="21" name="Text 17"/>
          <p:cNvSpPr txBox="1"/>
          <p:nvPr/>
        </p:nvSpPr>
        <p:spPr>
          <a:xfrm>
            <a:off x="8805672" y="2444496"/>
            <a:ext cx="2837383" cy="1237488"/>
          </a:xfrm>
          <a:prstGeom prst="rect">
            <a:avLst/>
          </a:prstGeom>
          <a:noFill/>
          <a:ln/>
        </p:spPr>
        <p:txBody>
          <a:bodyPr wrap="square" lIns="0" tIns="0" rIns="0" bIns="0" rtlCol="0" anchor="t"/>
          <a:lstStyle/>
          <a:p>
            <a:pPr indent="0" marL="0">
              <a:spcAft>
                <a:spcPts val="200"/>
              </a:spcAft>
              <a:buNone/>
            </a:pPr>
            <a:r>
              <a:rPr lang="en-US" sz="1600" b="1" dirty="0">
                <a:solidFill>
                  <a:schemeClr val="tx1"/>
                </a:solidFill>
              </a:rPr>
              <a:t>Le chrono SLA en temps ouvré</a:t>
            </a:r>
            <a:endParaRPr lang="en-US" sz="1600" dirty="0"/>
          </a:p>
          <a:p>
            <a:pPr indent="0" marL="0">
              <a:buNone/>
            </a:pPr>
            <a:r>
              <a:rPr lang="en-US" sz="1400" dirty="0">
                <a:solidFill>
                  <a:schemeClr val="accent3"/>
                </a:solidFill>
              </a:rPr>
              <a:t>Consommé, alerte, échéance ; en pause quand on attend le client.</a:t>
            </a:r>
            <a:endParaRPr lang="en-US" sz="1600" dirty="0"/>
          </a:p>
        </p:txBody>
      </p:sp>
      <p:sp>
        <p:nvSpPr>
          <p:cNvPr id="22" name="Pastille 3"/>
          <p:cNvSpPr/>
          <p:nvPr/>
        </p:nvSpPr>
        <p:spPr>
          <a:xfrm>
            <a:off x="8293608" y="3773424"/>
            <a:ext cx="329184" cy="329184"/>
          </a:xfrm>
          <a:prstGeom prst="ellipse">
            <a:avLst/>
          </a:prstGeom>
          <a:solidFill>
            <a:schemeClr val="accent2"/>
          </a:solidFill>
          <a:ln w="19050">
            <a:solidFill>
              <a:schemeClr val="bg1"/>
            </a:solidFill>
            <a:prstDash val="solid"/>
          </a:ln>
          <a:effectLst>
            <a:outerShdw sx="100000" sy="100000" kx="0" ky="0" algn="bl" rotWithShape="0" blurRad="38100" dist="12700" dir="5400000">
              <a:srgbClr val="0E1C24">
                <a:alpha val="30000"/>
              </a:srgbClr>
            </a:outerShdw>
          </a:effectLst>
        </p:spPr>
      </p:sp>
      <p:sp>
        <p:nvSpPr>
          <p:cNvPr id="23" name="Text 19"/>
          <p:cNvSpPr txBox="1"/>
          <p:nvPr/>
        </p:nvSpPr>
        <p:spPr>
          <a:xfrm>
            <a:off x="8293608" y="3773424"/>
            <a:ext cx="329184" cy="329184"/>
          </a:xfrm>
          <a:prstGeom prst="rect">
            <a:avLst/>
          </a:prstGeom>
          <a:noFill/>
          <a:ln/>
        </p:spPr>
        <p:txBody>
          <a:bodyPr wrap="square" lIns="0" tIns="0" rIns="0" bIns="0" rtlCol="0" anchor="ctr"/>
          <a:lstStyle/>
          <a:p>
            <a:pPr algn="ctr" indent="0" marL="0">
              <a:buNone/>
            </a:pPr>
            <a:r>
              <a:rPr lang="en-US" sz="1400" b="1" dirty="0">
                <a:solidFill>
                  <a:schemeClr val="tx2"/>
                </a:solidFill>
              </a:rPr>
              <a:t>3</a:t>
            </a:r>
            <a:endParaRPr lang="en-US" sz="1400" dirty="0"/>
          </a:p>
        </p:txBody>
      </p:sp>
      <p:sp>
        <p:nvSpPr>
          <p:cNvPr id="24" name="Text 20"/>
          <p:cNvSpPr txBox="1"/>
          <p:nvPr/>
        </p:nvSpPr>
        <p:spPr>
          <a:xfrm>
            <a:off x="8805672" y="3773424"/>
            <a:ext cx="2837383" cy="780288"/>
          </a:xfrm>
          <a:prstGeom prst="rect">
            <a:avLst/>
          </a:prstGeom>
          <a:noFill/>
          <a:ln/>
        </p:spPr>
        <p:txBody>
          <a:bodyPr wrap="square" lIns="0" tIns="0" rIns="0" bIns="0" rtlCol="0" anchor="t"/>
          <a:lstStyle/>
          <a:p>
            <a:pPr indent="0" marL="0">
              <a:spcAft>
                <a:spcPts val="200"/>
              </a:spcAft>
              <a:buNone/>
            </a:pPr>
            <a:r>
              <a:rPr lang="en-US" sz="1600" b="1" dirty="0">
                <a:solidFill>
                  <a:schemeClr val="tx1"/>
                </a:solidFill>
              </a:rPr>
              <a:t>Les réponses au client</a:t>
            </a:r>
            <a:endParaRPr lang="en-US" sz="1600" dirty="0"/>
          </a:p>
          <a:p>
            <a:pPr indent="0" marL="0">
              <a:buNone/>
            </a:pPr>
            <a:r>
              <a:rPr lang="en-US" sz="1400" dirty="0">
                <a:solidFill>
                  <a:schemeClr val="accent3"/>
                </a:solidFill>
              </a:rPr>
              <a:t>Envoyées par e-mail et SMS, visibles dans son suivi.</a:t>
            </a:r>
            <a:endParaRPr lang="en-US" sz="1600" dirty="0"/>
          </a:p>
        </p:txBody>
      </p:sp>
      <p:sp>
        <p:nvSpPr>
          <p:cNvPr id="25" name="Pastille 4"/>
          <p:cNvSpPr/>
          <p:nvPr/>
        </p:nvSpPr>
        <p:spPr>
          <a:xfrm>
            <a:off x="8293608" y="4645152"/>
            <a:ext cx="329184" cy="329184"/>
          </a:xfrm>
          <a:prstGeom prst="ellipse">
            <a:avLst/>
          </a:prstGeom>
          <a:solidFill>
            <a:schemeClr val="accent2"/>
          </a:solidFill>
          <a:ln w="19050">
            <a:solidFill>
              <a:schemeClr val="bg1"/>
            </a:solidFill>
            <a:prstDash val="solid"/>
          </a:ln>
          <a:effectLst>
            <a:outerShdw sx="100000" sy="100000" kx="0" ky="0" algn="bl" rotWithShape="0" blurRad="38100" dist="12700" dir="5400000">
              <a:srgbClr val="0E1C24">
                <a:alpha val="30000"/>
              </a:srgbClr>
            </a:outerShdw>
          </a:effectLst>
        </p:spPr>
      </p:sp>
      <p:sp>
        <p:nvSpPr>
          <p:cNvPr id="26" name="Text 22"/>
          <p:cNvSpPr txBox="1"/>
          <p:nvPr/>
        </p:nvSpPr>
        <p:spPr>
          <a:xfrm>
            <a:off x="8293608" y="4645152"/>
            <a:ext cx="329184" cy="329184"/>
          </a:xfrm>
          <a:prstGeom prst="rect">
            <a:avLst/>
          </a:prstGeom>
          <a:noFill/>
          <a:ln/>
        </p:spPr>
        <p:txBody>
          <a:bodyPr wrap="square" lIns="0" tIns="0" rIns="0" bIns="0" rtlCol="0" anchor="ctr"/>
          <a:lstStyle/>
          <a:p>
            <a:pPr algn="ctr" indent="0" marL="0">
              <a:buNone/>
            </a:pPr>
            <a:r>
              <a:rPr lang="en-US" sz="1400" b="1" dirty="0">
                <a:solidFill>
                  <a:schemeClr val="tx2"/>
                </a:solidFill>
              </a:rPr>
              <a:t>4</a:t>
            </a:r>
            <a:endParaRPr lang="en-US" sz="1400" dirty="0"/>
          </a:p>
        </p:txBody>
      </p:sp>
      <p:sp>
        <p:nvSpPr>
          <p:cNvPr id="27" name="Text 23"/>
          <p:cNvSpPr txBox="1"/>
          <p:nvPr/>
        </p:nvSpPr>
        <p:spPr>
          <a:xfrm>
            <a:off x="8805672" y="4645152"/>
            <a:ext cx="2837383" cy="780288"/>
          </a:xfrm>
          <a:prstGeom prst="rect">
            <a:avLst/>
          </a:prstGeom>
          <a:noFill/>
          <a:ln/>
        </p:spPr>
        <p:txBody>
          <a:bodyPr wrap="square" lIns="0" tIns="0" rIns="0" bIns="0" rtlCol="0" anchor="t"/>
          <a:lstStyle/>
          <a:p>
            <a:pPr indent="0" marL="0">
              <a:spcAft>
                <a:spcPts val="200"/>
              </a:spcAft>
              <a:buNone/>
            </a:pPr>
            <a:r>
              <a:rPr lang="en-US" sz="1600" b="1" dirty="0">
                <a:solidFill>
                  <a:schemeClr val="tx1"/>
                </a:solidFill>
              </a:rPr>
              <a:t>Les notes internes</a:t>
            </a:r>
            <a:endParaRPr lang="en-US" sz="1600" dirty="0"/>
          </a:p>
          <a:p>
            <a:pPr indent="0" marL="0">
              <a:buNone/>
            </a:pPr>
            <a:r>
              <a:rPr lang="en-US" sz="1400" dirty="0">
                <a:solidFill>
                  <a:schemeClr val="accent3"/>
                </a:solidFill>
              </a:rPr>
              <a:t>Partagées dans l'équipe, jamais visibles du client.</a:t>
            </a:r>
            <a:endParaRPr lang="en-US" sz="1600" dirty="0"/>
          </a:p>
        </p:txBody>
      </p:sp>
      <p:sp>
        <p:nvSpPr>
          <p:cNvPr id="28" name="Pastille 5"/>
          <p:cNvSpPr/>
          <p:nvPr/>
        </p:nvSpPr>
        <p:spPr>
          <a:xfrm>
            <a:off x="8293608" y="5516880"/>
            <a:ext cx="329184" cy="329184"/>
          </a:xfrm>
          <a:prstGeom prst="ellipse">
            <a:avLst/>
          </a:prstGeom>
          <a:solidFill>
            <a:schemeClr val="accent2"/>
          </a:solidFill>
          <a:ln w="19050">
            <a:solidFill>
              <a:schemeClr val="bg1"/>
            </a:solidFill>
            <a:prstDash val="solid"/>
          </a:ln>
          <a:effectLst>
            <a:outerShdw sx="100000" sy="100000" kx="0" ky="0" algn="bl" rotWithShape="0" blurRad="38100" dist="12700" dir="5400000">
              <a:srgbClr val="0E1C24">
                <a:alpha val="30000"/>
              </a:srgbClr>
            </a:outerShdw>
          </a:effectLst>
        </p:spPr>
      </p:sp>
      <p:sp>
        <p:nvSpPr>
          <p:cNvPr id="29" name="Text 25"/>
          <p:cNvSpPr txBox="1"/>
          <p:nvPr/>
        </p:nvSpPr>
        <p:spPr>
          <a:xfrm>
            <a:off x="8293608" y="5516880"/>
            <a:ext cx="329184" cy="329184"/>
          </a:xfrm>
          <a:prstGeom prst="rect">
            <a:avLst/>
          </a:prstGeom>
          <a:noFill/>
          <a:ln/>
        </p:spPr>
        <p:txBody>
          <a:bodyPr wrap="square" lIns="0" tIns="0" rIns="0" bIns="0" rtlCol="0" anchor="ctr"/>
          <a:lstStyle/>
          <a:p>
            <a:pPr algn="ctr" indent="0" marL="0">
              <a:buNone/>
            </a:pPr>
            <a:r>
              <a:rPr lang="en-US" sz="1400" b="1" dirty="0">
                <a:solidFill>
                  <a:schemeClr val="tx2"/>
                </a:solidFill>
              </a:rPr>
              <a:t>5</a:t>
            </a:r>
            <a:endParaRPr lang="en-US" sz="1400" dirty="0"/>
          </a:p>
        </p:txBody>
      </p:sp>
      <p:sp>
        <p:nvSpPr>
          <p:cNvPr id="30" name="Text 26"/>
          <p:cNvSpPr txBox="1"/>
          <p:nvPr/>
        </p:nvSpPr>
        <p:spPr>
          <a:xfrm>
            <a:off x="8805672" y="5516880"/>
            <a:ext cx="2837383" cy="780288"/>
          </a:xfrm>
          <a:prstGeom prst="rect">
            <a:avLst/>
          </a:prstGeom>
          <a:noFill/>
          <a:ln/>
        </p:spPr>
        <p:txBody>
          <a:bodyPr wrap="square" lIns="0" tIns="0" rIns="0" bIns="0" rtlCol="0" anchor="t"/>
          <a:lstStyle/>
          <a:p>
            <a:pPr indent="0" marL="0">
              <a:spcAft>
                <a:spcPts val="200"/>
              </a:spcAft>
              <a:buNone/>
            </a:pPr>
            <a:r>
              <a:rPr lang="en-US" sz="1600" b="1" dirty="0">
                <a:solidFill>
                  <a:schemeClr val="tx1"/>
                </a:solidFill>
              </a:rPr>
              <a:t>Le client et le traitement</a:t>
            </a:r>
            <a:endParaRPr lang="en-US" sz="1600" dirty="0"/>
          </a:p>
          <a:p>
            <a:pPr indent="0" marL="0">
              <a:buNone/>
            </a:pPr>
            <a:r>
              <a:rPr lang="en-US" sz="1400" dirty="0">
                <a:solidFill>
                  <a:schemeClr val="accent3"/>
                </a:solidFill>
              </a:rPr>
              <a:t>Coordonnées, agent, point de dépôt, agence, dates clés.</a:t>
            </a:r>
            <a:endParaRPr lang="en-US" sz="1600" dirty="0"/>
          </a:p>
        </p:txBody>
      </p:sp>
      <p:sp>
        <p:nvSpPr>
          <p:cNvPr id="25" name="Slide Number Placeholder 0"/>
          <p:cNvSpPr>
            <a:spLocks noGrp="1"/>
          </p:cNvSpPr>
          <p:nvPr>
            <p:ph type="sldNum" sz="quarter" idx="4294967295"/>
          </p:nvPr>
        </p:nvSpPr>
        <p:spPr>
          <a:xfrm>
            <a:off x="11183112" y="6446520"/>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LES ÉQUIPES · ASSISTANT IA</a:t>
            </a:r>
            <a:endParaRPr lang="en-US" sz="1200" dirty="0"/>
          </a:p>
        </p:txBody>
      </p:sp>
      <p:sp>
        <p:nvSpPr>
          <p:cNvPr id="3" name="Text 0"/>
          <p:cNvSpPr/>
          <p:nvPr>
            <p:ph idx="101" type="title" hasCustomPrompt="1"/>
          </p:nvPr>
        </p:nvSpPr>
        <p:spPr>
          <a:xfrm>
            <a:off x="548640" y="603504"/>
            <a:ext cx="11091672" cy="685800"/>
          </a:xfrm>
          <a:prstGeom prst="rect">
            <a:avLst/>
          </a:prstGeom>
          <a:noFill/>
          <a:ln/>
        </p:spPr>
        <p:txBody>
          <a:bodyPr wrap="square" lIns="0" tIns="0" rIns="0" bIns="0" rtlCol="0" anchor="t"/>
          <a:lstStyle/>
          <a:p>
            <a:pPr algn="l" indent="0" marL="0">
              <a:buNone/>
            </a:pPr>
            <a:r>
              <a:rPr lang="en-US" sz="3600" b="1" dirty="0">
                <a:solidFill>
                  <a:schemeClr val="tx1"/>
                </a:solidFill>
              </a:rPr>
              <a:t>Un brouillon en un clic, les risques signalés</a:t>
            </a:r>
            <a:endParaRPr lang="en-US" sz="3600" dirty="0"/>
          </a:p>
        </p:txBody>
      </p:sp>
      <p:pic>
        <p:nvPicPr>
          <p:cNvPr id="5" name="Image 0" descr="Brouillon de réponse et alerte sur une promesse">    </p:cNvPr>
          <p:cNvPicPr>
            <a:picLocks noChangeAspect="1"/>
          </p:cNvPicPr>
          <p:nvPr/>
        </p:nvPicPr>
        <p:blipFill>
          <a:blip r:embed="rId1"/>
          <a:stretch>
            <a:fillRect/>
          </a:stretch>
        </p:blipFill>
        <p:spPr>
          <a:xfrm>
            <a:off x="312012" y="1299564"/>
            <a:ext cx="7788457" cy="5239630"/>
          </a:xfrm>
          <a:prstGeom prst="rect">
            <a:avLst/>
          </a:prstGeom>
        </p:spPr>
      </p:pic>
      <p:sp>
        <p:nvSpPr>
          <p:cNvPr id="6" name="Pastille 1"/>
          <p:cNvSpPr/>
          <p:nvPr/>
        </p:nvSpPr>
        <p:spPr>
          <a:xfrm>
            <a:off x="4639980" y="3464072"/>
            <a:ext cx="329184" cy="329184"/>
          </a:xfrm>
          <a:prstGeom prst="ellipse">
            <a:avLst/>
          </a:prstGeom>
          <a:solidFill>
            <a:schemeClr val="accent2"/>
          </a:solidFill>
          <a:ln w="19050">
            <a:solidFill>
              <a:schemeClr val="bg1"/>
            </a:solidFill>
            <a:prstDash val="solid"/>
          </a:ln>
          <a:effectLst>
            <a:outerShdw sx="100000" sy="100000" kx="0" ky="0" algn="bl" rotWithShape="0" blurRad="38100" dist="12700" dir="5400000">
              <a:srgbClr val="0E1C24">
                <a:alpha val="30000"/>
              </a:srgbClr>
            </a:outerShdw>
          </a:effectLst>
        </p:spPr>
      </p:sp>
      <p:sp>
        <p:nvSpPr>
          <p:cNvPr id="7" name="Text 3"/>
          <p:cNvSpPr txBox="1"/>
          <p:nvPr/>
        </p:nvSpPr>
        <p:spPr>
          <a:xfrm>
            <a:off x="4639980" y="3464072"/>
            <a:ext cx="329184" cy="329184"/>
          </a:xfrm>
          <a:prstGeom prst="rect">
            <a:avLst/>
          </a:prstGeom>
          <a:noFill/>
          <a:ln/>
        </p:spPr>
        <p:txBody>
          <a:bodyPr wrap="square" lIns="0" tIns="0" rIns="0" bIns="0" rtlCol="0" anchor="ctr"/>
          <a:lstStyle/>
          <a:p>
            <a:pPr algn="ctr" indent="0" marL="0">
              <a:buNone/>
            </a:pPr>
            <a:r>
              <a:rPr lang="en-US" sz="1400" b="1" dirty="0">
                <a:solidFill>
                  <a:schemeClr val="tx2"/>
                </a:solidFill>
              </a:rPr>
              <a:t>1</a:t>
            </a:r>
            <a:endParaRPr lang="en-US" sz="1400" dirty="0"/>
          </a:p>
        </p:txBody>
      </p:sp>
      <p:sp>
        <p:nvSpPr>
          <p:cNvPr id="8" name="Pastille 2"/>
          <p:cNvSpPr/>
          <p:nvPr/>
        </p:nvSpPr>
        <p:spPr>
          <a:xfrm>
            <a:off x="1739591" y="3859579"/>
            <a:ext cx="329184" cy="329184"/>
          </a:xfrm>
          <a:prstGeom prst="ellipse">
            <a:avLst/>
          </a:prstGeom>
          <a:solidFill>
            <a:schemeClr val="accent2"/>
          </a:solidFill>
          <a:ln w="19050">
            <a:solidFill>
              <a:schemeClr val="bg1"/>
            </a:solidFill>
            <a:prstDash val="solid"/>
          </a:ln>
          <a:effectLst>
            <a:outerShdw sx="100000" sy="100000" kx="0" ky="0" algn="bl" rotWithShape="0" blurRad="38100" dist="12700" dir="5400000">
              <a:srgbClr val="0E1C24">
                <a:alpha val="30000"/>
              </a:srgbClr>
            </a:outerShdw>
          </a:effectLst>
        </p:spPr>
      </p:sp>
      <p:sp>
        <p:nvSpPr>
          <p:cNvPr id="9" name="Text 5"/>
          <p:cNvSpPr txBox="1"/>
          <p:nvPr/>
        </p:nvSpPr>
        <p:spPr>
          <a:xfrm>
            <a:off x="1739591" y="3859579"/>
            <a:ext cx="329184" cy="329184"/>
          </a:xfrm>
          <a:prstGeom prst="rect">
            <a:avLst/>
          </a:prstGeom>
          <a:noFill/>
          <a:ln/>
        </p:spPr>
        <p:txBody>
          <a:bodyPr wrap="square" lIns="0" tIns="0" rIns="0" bIns="0" rtlCol="0" anchor="ctr"/>
          <a:lstStyle/>
          <a:p>
            <a:pPr algn="ctr" indent="0" marL="0">
              <a:buNone/>
            </a:pPr>
            <a:r>
              <a:rPr lang="en-US" sz="1400" b="1" dirty="0">
                <a:solidFill>
                  <a:schemeClr val="tx2"/>
                </a:solidFill>
              </a:rPr>
              <a:t>2</a:t>
            </a:r>
            <a:endParaRPr lang="en-US" sz="1400" dirty="0"/>
          </a:p>
        </p:txBody>
      </p:sp>
      <p:sp>
        <p:nvSpPr>
          <p:cNvPr id="10" name="Pastille 3"/>
          <p:cNvSpPr/>
          <p:nvPr/>
        </p:nvSpPr>
        <p:spPr>
          <a:xfrm>
            <a:off x="5512125" y="4904125"/>
            <a:ext cx="329184" cy="329184"/>
          </a:xfrm>
          <a:prstGeom prst="ellipse">
            <a:avLst/>
          </a:prstGeom>
          <a:solidFill>
            <a:schemeClr val="accent2"/>
          </a:solidFill>
          <a:ln w="19050">
            <a:solidFill>
              <a:schemeClr val="bg1"/>
            </a:solidFill>
            <a:prstDash val="solid"/>
          </a:ln>
          <a:effectLst>
            <a:outerShdw sx="100000" sy="100000" kx="0" ky="0" algn="bl" rotWithShape="0" blurRad="38100" dist="12700" dir="5400000">
              <a:srgbClr val="0E1C24">
                <a:alpha val="30000"/>
              </a:srgbClr>
            </a:outerShdw>
          </a:effectLst>
        </p:spPr>
      </p:sp>
      <p:sp>
        <p:nvSpPr>
          <p:cNvPr id="11" name="Text 7"/>
          <p:cNvSpPr txBox="1"/>
          <p:nvPr/>
        </p:nvSpPr>
        <p:spPr>
          <a:xfrm>
            <a:off x="5512125" y="4904125"/>
            <a:ext cx="329184" cy="329184"/>
          </a:xfrm>
          <a:prstGeom prst="rect">
            <a:avLst/>
          </a:prstGeom>
          <a:noFill/>
          <a:ln/>
        </p:spPr>
        <p:txBody>
          <a:bodyPr wrap="square" lIns="0" tIns="0" rIns="0" bIns="0" rtlCol="0" anchor="ctr"/>
          <a:lstStyle/>
          <a:p>
            <a:pPr algn="ctr" indent="0" marL="0">
              <a:buNone/>
            </a:pPr>
            <a:r>
              <a:rPr lang="en-US" sz="1400" b="1" dirty="0">
                <a:solidFill>
                  <a:schemeClr val="tx2"/>
                </a:solidFill>
              </a:rPr>
              <a:t>3</a:t>
            </a:r>
            <a:endParaRPr lang="en-US" sz="1400" dirty="0"/>
          </a:p>
        </p:txBody>
      </p:sp>
      <p:sp>
        <p:nvSpPr>
          <p:cNvPr id="12" name="Pastille 1"/>
          <p:cNvSpPr/>
          <p:nvPr/>
        </p:nvSpPr>
        <p:spPr>
          <a:xfrm>
            <a:off x="8293608" y="1783080"/>
            <a:ext cx="329184" cy="329184"/>
          </a:xfrm>
          <a:prstGeom prst="ellipse">
            <a:avLst/>
          </a:prstGeom>
          <a:solidFill>
            <a:schemeClr val="accent2"/>
          </a:solidFill>
          <a:ln w="19050">
            <a:solidFill>
              <a:schemeClr val="bg1"/>
            </a:solidFill>
            <a:prstDash val="solid"/>
          </a:ln>
          <a:effectLst>
            <a:outerShdw sx="100000" sy="100000" kx="0" ky="0" algn="bl" rotWithShape="0" blurRad="38100" dist="12700" dir="5400000">
              <a:srgbClr val="0E1C24">
                <a:alpha val="30000"/>
              </a:srgbClr>
            </a:outerShdw>
          </a:effectLst>
        </p:spPr>
      </p:sp>
      <p:sp>
        <p:nvSpPr>
          <p:cNvPr id="13" name="Text 9"/>
          <p:cNvSpPr txBox="1"/>
          <p:nvPr/>
        </p:nvSpPr>
        <p:spPr>
          <a:xfrm>
            <a:off x="8293608" y="1783080"/>
            <a:ext cx="329184" cy="329184"/>
          </a:xfrm>
          <a:prstGeom prst="rect">
            <a:avLst/>
          </a:prstGeom>
          <a:noFill/>
          <a:ln/>
        </p:spPr>
        <p:txBody>
          <a:bodyPr wrap="square" lIns="0" tIns="0" rIns="0" bIns="0" rtlCol="0" anchor="ctr"/>
          <a:lstStyle/>
          <a:p>
            <a:pPr algn="ctr" indent="0" marL="0">
              <a:buNone/>
            </a:pPr>
            <a:r>
              <a:rPr lang="en-US" sz="1400" b="1" dirty="0">
                <a:solidFill>
                  <a:schemeClr val="tx2"/>
                </a:solidFill>
              </a:rPr>
              <a:t>1</a:t>
            </a:r>
            <a:endParaRPr lang="en-US" sz="1400" dirty="0"/>
          </a:p>
        </p:txBody>
      </p:sp>
      <p:sp>
        <p:nvSpPr>
          <p:cNvPr id="14" name="Text 10"/>
          <p:cNvSpPr txBox="1"/>
          <p:nvPr/>
        </p:nvSpPr>
        <p:spPr>
          <a:xfrm>
            <a:off x="8805672" y="1783080"/>
            <a:ext cx="2837383" cy="993648"/>
          </a:xfrm>
          <a:prstGeom prst="rect">
            <a:avLst/>
          </a:prstGeom>
          <a:noFill/>
          <a:ln/>
        </p:spPr>
        <p:txBody>
          <a:bodyPr wrap="square" lIns="0" tIns="0" rIns="0" bIns="0" rtlCol="0" anchor="t"/>
          <a:lstStyle/>
          <a:p>
            <a:pPr indent="0" marL="0">
              <a:spcAft>
                <a:spcPts val="200"/>
              </a:spcAft>
              <a:buNone/>
            </a:pPr>
            <a:r>
              <a:rPr lang="en-US" sz="1600" b="1" dirty="0">
                <a:solidFill>
                  <a:schemeClr val="tx1"/>
                </a:solidFill>
              </a:rPr>
              <a:t>Suggérer une réponse</a:t>
            </a:r>
            <a:endParaRPr lang="en-US" sz="1600" dirty="0"/>
          </a:p>
          <a:p>
            <a:pPr indent="0" marL="0">
              <a:buNone/>
            </a:pPr>
            <a:r>
              <a:rPr lang="en-US" sz="1400" dirty="0">
                <a:solidFill>
                  <a:schemeClr val="accent3"/>
                </a:solidFill>
              </a:rPr>
              <a:t>Un brouillon adapté au dossier, ou un modèle type si l'IA n'est pas disponible.</a:t>
            </a:r>
            <a:endParaRPr lang="en-US" sz="1600" dirty="0"/>
          </a:p>
        </p:txBody>
      </p:sp>
      <p:sp>
        <p:nvSpPr>
          <p:cNvPr id="15" name="Pastille 2"/>
          <p:cNvSpPr/>
          <p:nvPr/>
        </p:nvSpPr>
        <p:spPr>
          <a:xfrm>
            <a:off x="8293608" y="3160776"/>
            <a:ext cx="329184" cy="329184"/>
          </a:xfrm>
          <a:prstGeom prst="ellipse">
            <a:avLst/>
          </a:prstGeom>
          <a:solidFill>
            <a:schemeClr val="accent2"/>
          </a:solidFill>
          <a:ln w="19050">
            <a:solidFill>
              <a:schemeClr val="bg1"/>
            </a:solidFill>
            <a:prstDash val="solid"/>
          </a:ln>
          <a:effectLst>
            <a:outerShdw sx="100000" sy="100000" kx="0" ky="0" algn="bl" rotWithShape="0" blurRad="38100" dist="12700" dir="5400000">
              <a:srgbClr val="0E1C24">
                <a:alpha val="30000"/>
              </a:srgbClr>
            </a:outerShdw>
          </a:effectLst>
        </p:spPr>
      </p:sp>
      <p:sp>
        <p:nvSpPr>
          <p:cNvPr id="16" name="Text 12"/>
          <p:cNvSpPr txBox="1"/>
          <p:nvPr/>
        </p:nvSpPr>
        <p:spPr>
          <a:xfrm>
            <a:off x="8293608" y="3160776"/>
            <a:ext cx="329184" cy="329184"/>
          </a:xfrm>
          <a:prstGeom prst="rect">
            <a:avLst/>
          </a:prstGeom>
          <a:noFill/>
          <a:ln/>
        </p:spPr>
        <p:txBody>
          <a:bodyPr wrap="square" lIns="0" tIns="0" rIns="0" bIns="0" rtlCol="0" anchor="ctr"/>
          <a:lstStyle/>
          <a:p>
            <a:pPr algn="ctr" indent="0" marL="0">
              <a:buNone/>
            </a:pPr>
            <a:r>
              <a:rPr lang="en-US" sz="1400" b="1" dirty="0">
                <a:solidFill>
                  <a:schemeClr val="tx2"/>
                </a:solidFill>
              </a:rPr>
              <a:t>2</a:t>
            </a:r>
            <a:endParaRPr lang="en-US" sz="1400" dirty="0"/>
          </a:p>
        </p:txBody>
      </p:sp>
      <p:sp>
        <p:nvSpPr>
          <p:cNvPr id="17" name="Text 13"/>
          <p:cNvSpPr txBox="1"/>
          <p:nvPr/>
        </p:nvSpPr>
        <p:spPr>
          <a:xfrm>
            <a:off x="8805672" y="3160776"/>
            <a:ext cx="2837383" cy="1237488"/>
          </a:xfrm>
          <a:prstGeom prst="rect">
            <a:avLst/>
          </a:prstGeom>
          <a:noFill/>
          <a:ln/>
        </p:spPr>
        <p:txBody>
          <a:bodyPr wrap="square" lIns="0" tIns="0" rIns="0" bIns="0" rtlCol="0" anchor="t"/>
          <a:lstStyle/>
          <a:p>
            <a:pPr indent="0" marL="0">
              <a:spcAft>
                <a:spcPts val="200"/>
              </a:spcAft>
              <a:buNone/>
            </a:pPr>
            <a:r>
              <a:rPr lang="en-US" sz="1600" b="1" dirty="0">
                <a:solidFill>
                  <a:schemeClr val="tx1"/>
                </a:solidFill>
              </a:rPr>
              <a:t>Les promesses risquées signalées</a:t>
            </a:r>
            <a:endParaRPr lang="en-US" sz="1600" dirty="0"/>
          </a:p>
          <a:p>
            <a:pPr indent="0" marL="0">
              <a:buNone/>
            </a:pPr>
            <a:r>
              <a:rPr lang="en-US" sz="1400" dirty="0">
                <a:solidFill>
                  <a:schemeClr val="accent3"/>
                </a:solidFill>
              </a:rPr>
              <a:t>Remboursement, délai, conseil, demande de code : l'agent corrige pendant la frappe.</a:t>
            </a:r>
            <a:endParaRPr lang="en-US" sz="1600" dirty="0"/>
          </a:p>
        </p:txBody>
      </p:sp>
      <p:sp>
        <p:nvSpPr>
          <p:cNvPr id="18" name="Pastille 3"/>
          <p:cNvSpPr/>
          <p:nvPr/>
        </p:nvSpPr>
        <p:spPr>
          <a:xfrm>
            <a:off x="8293608" y="4782312"/>
            <a:ext cx="329184" cy="329184"/>
          </a:xfrm>
          <a:prstGeom prst="ellipse">
            <a:avLst/>
          </a:prstGeom>
          <a:solidFill>
            <a:schemeClr val="accent2"/>
          </a:solidFill>
          <a:ln w="19050">
            <a:solidFill>
              <a:schemeClr val="bg1"/>
            </a:solidFill>
            <a:prstDash val="solid"/>
          </a:ln>
          <a:effectLst>
            <a:outerShdw sx="100000" sy="100000" kx="0" ky="0" algn="bl" rotWithShape="0" blurRad="38100" dist="12700" dir="5400000">
              <a:srgbClr val="0E1C24">
                <a:alpha val="30000"/>
              </a:srgbClr>
            </a:outerShdw>
          </a:effectLst>
        </p:spPr>
      </p:sp>
      <p:sp>
        <p:nvSpPr>
          <p:cNvPr id="19" name="Text 15"/>
          <p:cNvSpPr txBox="1"/>
          <p:nvPr/>
        </p:nvSpPr>
        <p:spPr>
          <a:xfrm>
            <a:off x="8293608" y="4782312"/>
            <a:ext cx="329184" cy="329184"/>
          </a:xfrm>
          <a:prstGeom prst="rect">
            <a:avLst/>
          </a:prstGeom>
          <a:noFill/>
          <a:ln/>
        </p:spPr>
        <p:txBody>
          <a:bodyPr wrap="square" lIns="0" tIns="0" rIns="0" bIns="0" rtlCol="0" anchor="ctr"/>
          <a:lstStyle/>
          <a:p>
            <a:pPr algn="ctr" indent="0" marL="0">
              <a:buNone/>
            </a:pPr>
            <a:r>
              <a:rPr lang="en-US" sz="1400" b="1" dirty="0">
                <a:solidFill>
                  <a:schemeClr val="tx2"/>
                </a:solidFill>
              </a:rPr>
              <a:t>3</a:t>
            </a:r>
            <a:endParaRPr lang="en-US" sz="1400" dirty="0"/>
          </a:p>
        </p:txBody>
      </p:sp>
      <p:sp>
        <p:nvSpPr>
          <p:cNvPr id="20" name="Text 16"/>
          <p:cNvSpPr txBox="1"/>
          <p:nvPr/>
        </p:nvSpPr>
        <p:spPr>
          <a:xfrm>
            <a:off x="8805672" y="4782312"/>
            <a:ext cx="2837383" cy="993648"/>
          </a:xfrm>
          <a:prstGeom prst="rect">
            <a:avLst/>
          </a:prstGeom>
          <a:noFill/>
          <a:ln/>
        </p:spPr>
        <p:txBody>
          <a:bodyPr wrap="square" lIns="0" tIns="0" rIns="0" bIns="0" rtlCol="0" anchor="t"/>
          <a:lstStyle/>
          <a:p>
            <a:pPr indent="0" marL="0">
              <a:spcAft>
                <a:spcPts val="200"/>
              </a:spcAft>
              <a:buNone/>
            </a:pPr>
            <a:r>
              <a:rPr lang="en-US" sz="1600" b="1" dirty="0">
                <a:solidFill>
                  <a:schemeClr val="tx1"/>
                </a:solidFill>
              </a:rPr>
              <a:t>Rien ne part sans l'agent</a:t>
            </a:r>
            <a:endParaRPr lang="en-US" sz="1600" dirty="0"/>
          </a:p>
          <a:p>
            <a:pPr indent="0" marL="0">
              <a:buNone/>
            </a:pPr>
            <a:r>
              <a:rPr lang="en-US" sz="1400" dirty="0">
                <a:solidFill>
                  <a:schemeClr val="accent3"/>
                </a:solidFill>
              </a:rPr>
              <a:t>C'est lui qui envoie. Chaque demande de brouillon est inscrite au journal d'audit.</a:t>
            </a:r>
            <a:endParaRPr lang="en-US" sz="1600" dirty="0"/>
          </a:p>
        </p:txBody>
      </p:sp>
      <p:sp>
        <p:nvSpPr>
          <p:cNvPr id="25" name="Slide Number Placeholder 0"/>
          <p:cNvSpPr>
            <a:spLocks noGrp="1"/>
          </p:cNvSpPr>
          <p:nvPr>
            <p:ph type="sldNum" sz="quarter" idx="4294967295"/>
          </p:nvPr>
        </p:nvSpPr>
        <p:spPr>
          <a:xfrm>
            <a:off x="11183112" y="6446520"/>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LES ÉQUIPES · CHAT WEB</a:t>
            </a:r>
            <a:endParaRPr lang="en-US" sz="1200" dirty="0"/>
          </a:p>
        </p:txBody>
      </p:sp>
      <p:sp>
        <p:nvSpPr>
          <p:cNvPr id="3" name="Text 0"/>
          <p:cNvSpPr/>
          <p:nvPr>
            <p:ph idx="101" type="title" hasCustomPrompt="1"/>
          </p:nvPr>
        </p:nvSpPr>
        <p:spPr>
          <a:xfrm>
            <a:off x="548640" y="603504"/>
            <a:ext cx="11091672" cy="685800"/>
          </a:xfrm>
          <a:prstGeom prst="rect">
            <a:avLst/>
          </a:prstGeom>
          <a:noFill/>
          <a:ln/>
        </p:spPr>
        <p:txBody>
          <a:bodyPr wrap="square" lIns="0" tIns="0" rIns="0" bIns="0" rtlCol="0" anchor="t"/>
          <a:lstStyle/>
          <a:p>
            <a:pPr algn="l" indent="0" marL="0">
              <a:buNone/>
            </a:pPr>
            <a:r>
              <a:rPr lang="en-US" sz="3600" b="1" dirty="0">
                <a:solidFill>
                  <a:schemeClr val="tx1"/>
                </a:solidFill>
              </a:rPr>
              <a:t>Les messages clients dans une seule boîte</a:t>
            </a:r>
            <a:endParaRPr lang="en-US" sz="3600" dirty="0"/>
          </a:p>
        </p:txBody>
      </p:sp>
      <p:pic>
        <p:nvPicPr>
          <p:cNvPr id="5" name="Image 0" descr="Boîte de réception des conversations">    </p:cNvPr>
          <p:cNvPicPr>
            <a:picLocks noChangeAspect="1"/>
          </p:cNvPicPr>
          <p:nvPr/>
        </p:nvPicPr>
        <p:blipFill>
          <a:blip r:embed="rId1"/>
          <a:stretch>
            <a:fillRect/>
          </a:stretch>
        </p:blipFill>
        <p:spPr>
          <a:xfrm>
            <a:off x="312012" y="1299564"/>
            <a:ext cx="7788457" cy="5239630"/>
          </a:xfrm>
          <a:prstGeom prst="rect">
            <a:avLst/>
          </a:prstGeom>
        </p:spPr>
      </p:pic>
      <p:sp>
        <p:nvSpPr>
          <p:cNvPr id="6" name="Pastille 1"/>
          <p:cNvSpPr/>
          <p:nvPr/>
        </p:nvSpPr>
        <p:spPr>
          <a:xfrm>
            <a:off x="1648320" y="2693339"/>
            <a:ext cx="329184" cy="329184"/>
          </a:xfrm>
          <a:prstGeom prst="ellipse">
            <a:avLst/>
          </a:prstGeom>
          <a:solidFill>
            <a:schemeClr val="accent2"/>
          </a:solidFill>
          <a:ln w="19050">
            <a:solidFill>
              <a:schemeClr val="bg1"/>
            </a:solidFill>
            <a:prstDash val="solid"/>
          </a:ln>
          <a:effectLst>
            <a:outerShdw sx="100000" sy="100000" kx="0" ky="0" algn="bl" rotWithShape="0" blurRad="38100" dist="12700" dir="5400000">
              <a:srgbClr val="0E1C24">
                <a:alpha val="30000"/>
              </a:srgbClr>
            </a:outerShdw>
          </a:effectLst>
        </p:spPr>
      </p:sp>
      <p:sp>
        <p:nvSpPr>
          <p:cNvPr id="7" name="Text 3"/>
          <p:cNvSpPr txBox="1"/>
          <p:nvPr/>
        </p:nvSpPr>
        <p:spPr>
          <a:xfrm>
            <a:off x="1648320" y="2693339"/>
            <a:ext cx="329184" cy="329184"/>
          </a:xfrm>
          <a:prstGeom prst="rect">
            <a:avLst/>
          </a:prstGeom>
          <a:noFill/>
          <a:ln/>
        </p:spPr>
        <p:txBody>
          <a:bodyPr wrap="square" lIns="0" tIns="0" rIns="0" bIns="0" rtlCol="0" anchor="ctr"/>
          <a:lstStyle/>
          <a:p>
            <a:pPr algn="ctr" indent="0" marL="0">
              <a:buNone/>
            </a:pPr>
            <a:r>
              <a:rPr lang="en-US" sz="1400" b="1" dirty="0">
                <a:solidFill>
                  <a:schemeClr val="tx2"/>
                </a:solidFill>
              </a:rPr>
              <a:t>1</a:t>
            </a:r>
            <a:endParaRPr lang="en-US" sz="1400" dirty="0"/>
          </a:p>
        </p:txBody>
      </p:sp>
      <p:sp>
        <p:nvSpPr>
          <p:cNvPr id="8" name="Pastille 2"/>
          <p:cNvSpPr/>
          <p:nvPr/>
        </p:nvSpPr>
        <p:spPr>
          <a:xfrm>
            <a:off x="3686705" y="2561503"/>
            <a:ext cx="329184" cy="329184"/>
          </a:xfrm>
          <a:prstGeom prst="ellipse">
            <a:avLst/>
          </a:prstGeom>
          <a:solidFill>
            <a:schemeClr val="accent2"/>
          </a:solidFill>
          <a:ln w="19050">
            <a:solidFill>
              <a:schemeClr val="bg1"/>
            </a:solidFill>
            <a:prstDash val="solid"/>
          </a:ln>
          <a:effectLst>
            <a:outerShdw sx="100000" sy="100000" kx="0" ky="0" algn="bl" rotWithShape="0" blurRad="38100" dist="12700" dir="5400000">
              <a:srgbClr val="0E1C24">
                <a:alpha val="30000"/>
              </a:srgbClr>
            </a:outerShdw>
          </a:effectLst>
        </p:spPr>
      </p:sp>
      <p:sp>
        <p:nvSpPr>
          <p:cNvPr id="9" name="Text 5"/>
          <p:cNvSpPr txBox="1"/>
          <p:nvPr/>
        </p:nvSpPr>
        <p:spPr>
          <a:xfrm>
            <a:off x="3686705" y="2561503"/>
            <a:ext cx="329184" cy="329184"/>
          </a:xfrm>
          <a:prstGeom prst="rect">
            <a:avLst/>
          </a:prstGeom>
          <a:noFill/>
          <a:ln/>
        </p:spPr>
        <p:txBody>
          <a:bodyPr wrap="square" lIns="0" tIns="0" rIns="0" bIns="0" rtlCol="0" anchor="ctr"/>
          <a:lstStyle/>
          <a:p>
            <a:pPr algn="ctr" indent="0" marL="0">
              <a:buNone/>
            </a:pPr>
            <a:r>
              <a:rPr lang="en-US" sz="1400" b="1" dirty="0">
                <a:solidFill>
                  <a:schemeClr val="tx2"/>
                </a:solidFill>
              </a:rPr>
              <a:t>2</a:t>
            </a:r>
            <a:endParaRPr lang="en-US" sz="1400" dirty="0"/>
          </a:p>
        </p:txBody>
      </p:sp>
      <p:sp>
        <p:nvSpPr>
          <p:cNvPr id="10" name="Pastille 3"/>
          <p:cNvSpPr/>
          <p:nvPr/>
        </p:nvSpPr>
        <p:spPr>
          <a:xfrm>
            <a:off x="6789919" y="4391993"/>
            <a:ext cx="329184" cy="329184"/>
          </a:xfrm>
          <a:prstGeom prst="ellipse">
            <a:avLst/>
          </a:prstGeom>
          <a:solidFill>
            <a:schemeClr val="accent2"/>
          </a:solidFill>
          <a:ln w="19050">
            <a:solidFill>
              <a:schemeClr val="bg1"/>
            </a:solidFill>
            <a:prstDash val="solid"/>
          </a:ln>
          <a:effectLst>
            <a:outerShdw sx="100000" sy="100000" kx="0" ky="0" algn="bl" rotWithShape="0" blurRad="38100" dist="12700" dir="5400000">
              <a:srgbClr val="0E1C24">
                <a:alpha val="30000"/>
              </a:srgbClr>
            </a:outerShdw>
          </a:effectLst>
        </p:spPr>
      </p:sp>
      <p:sp>
        <p:nvSpPr>
          <p:cNvPr id="11" name="Text 7"/>
          <p:cNvSpPr txBox="1"/>
          <p:nvPr/>
        </p:nvSpPr>
        <p:spPr>
          <a:xfrm>
            <a:off x="6789919" y="4391993"/>
            <a:ext cx="329184" cy="329184"/>
          </a:xfrm>
          <a:prstGeom prst="rect">
            <a:avLst/>
          </a:prstGeom>
          <a:noFill/>
          <a:ln/>
        </p:spPr>
        <p:txBody>
          <a:bodyPr wrap="square" lIns="0" tIns="0" rIns="0" bIns="0" rtlCol="0" anchor="ctr"/>
          <a:lstStyle/>
          <a:p>
            <a:pPr algn="ctr" indent="0" marL="0">
              <a:buNone/>
            </a:pPr>
            <a:r>
              <a:rPr lang="en-US" sz="1400" b="1" dirty="0">
                <a:solidFill>
                  <a:schemeClr val="tx2"/>
                </a:solidFill>
              </a:rPr>
              <a:t>3</a:t>
            </a:r>
            <a:endParaRPr lang="en-US" sz="1400" dirty="0"/>
          </a:p>
        </p:txBody>
      </p:sp>
      <p:sp>
        <p:nvSpPr>
          <p:cNvPr id="12" name="Pastille 4"/>
          <p:cNvSpPr/>
          <p:nvPr/>
        </p:nvSpPr>
        <p:spPr>
          <a:xfrm>
            <a:off x="3676564" y="5127232"/>
            <a:ext cx="329184" cy="329184"/>
          </a:xfrm>
          <a:prstGeom prst="ellipse">
            <a:avLst/>
          </a:prstGeom>
          <a:solidFill>
            <a:schemeClr val="accent2"/>
          </a:solidFill>
          <a:ln w="19050">
            <a:solidFill>
              <a:schemeClr val="bg1"/>
            </a:solidFill>
            <a:prstDash val="solid"/>
          </a:ln>
          <a:effectLst>
            <a:outerShdw sx="100000" sy="100000" kx="0" ky="0" algn="bl" rotWithShape="0" blurRad="38100" dist="12700" dir="5400000">
              <a:srgbClr val="0E1C24">
                <a:alpha val="30000"/>
              </a:srgbClr>
            </a:outerShdw>
          </a:effectLst>
        </p:spPr>
      </p:sp>
      <p:sp>
        <p:nvSpPr>
          <p:cNvPr id="13" name="Text 9"/>
          <p:cNvSpPr txBox="1"/>
          <p:nvPr/>
        </p:nvSpPr>
        <p:spPr>
          <a:xfrm>
            <a:off x="3676564" y="5127232"/>
            <a:ext cx="329184" cy="329184"/>
          </a:xfrm>
          <a:prstGeom prst="rect">
            <a:avLst/>
          </a:prstGeom>
          <a:noFill/>
          <a:ln/>
        </p:spPr>
        <p:txBody>
          <a:bodyPr wrap="square" lIns="0" tIns="0" rIns="0" bIns="0" rtlCol="0" anchor="ctr"/>
          <a:lstStyle/>
          <a:p>
            <a:pPr algn="ctr" indent="0" marL="0">
              <a:buNone/>
            </a:pPr>
            <a:r>
              <a:rPr lang="en-US" sz="1400" b="1" dirty="0">
                <a:solidFill>
                  <a:schemeClr val="tx2"/>
                </a:solidFill>
              </a:rPr>
              <a:t>4</a:t>
            </a:r>
            <a:endParaRPr lang="en-US" sz="1400" dirty="0"/>
          </a:p>
        </p:txBody>
      </p:sp>
      <p:sp>
        <p:nvSpPr>
          <p:cNvPr id="14" name="Pastille 1"/>
          <p:cNvSpPr/>
          <p:nvPr/>
        </p:nvSpPr>
        <p:spPr>
          <a:xfrm>
            <a:off x="8293608" y="1691640"/>
            <a:ext cx="329184" cy="329184"/>
          </a:xfrm>
          <a:prstGeom prst="ellipse">
            <a:avLst/>
          </a:prstGeom>
          <a:solidFill>
            <a:schemeClr val="accent2"/>
          </a:solidFill>
          <a:ln w="19050">
            <a:solidFill>
              <a:schemeClr val="bg1"/>
            </a:solidFill>
            <a:prstDash val="solid"/>
          </a:ln>
          <a:effectLst>
            <a:outerShdw sx="100000" sy="100000" kx="0" ky="0" algn="bl" rotWithShape="0" blurRad="38100" dist="12700" dir="5400000">
              <a:srgbClr val="0E1C24">
                <a:alpha val="30000"/>
              </a:srgbClr>
            </a:outerShdw>
          </a:effectLst>
        </p:spPr>
      </p:sp>
      <p:sp>
        <p:nvSpPr>
          <p:cNvPr id="15" name="Text 11"/>
          <p:cNvSpPr txBox="1"/>
          <p:nvPr/>
        </p:nvSpPr>
        <p:spPr>
          <a:xfrm>
            <a:off x="8293608" y="1691640"/>
            <a:ext cx="329184" cy="329184"/>
          </a:xfrm>
          <a:prstGeom prst="rect">
            <a:avLst/>
          </a:prstGeom>
          <a:noFill/>
          <a:ln/>
        </p:spPr>
        <p:txBody>
          <a:bodyPr wrap="square" lIns="0" tIns="0" rIns="0" bIns="0" rtlCol="0" anchor="ctr"/>
          <a:lstStyle/>
          <a:p>
            <a:pPr algn="ctr" indent="0" marL="0">
              <a:buNone/>
            </a:pPr>
            <a:r>
              <a:rPr lang="en-US" sz="1400" b="1" dirty="0">
                <a:solidFill>
                  <a:schemeClr val="tx2"/>
                </a:solidFill>
              </a:rPr>
              <a:t>1</a:t>
            </a:r>
            <a:endParaRPr lang="en-US" sz="1400" dirty="0"/>
          </a:p>
        </p:txBody>
      </p:sp>
      <p:sp>
        <p:nvSpPr>
          <p:cNvPr id="16" name="Text 12"/>
          <p:cNvSpPr txBox="1"/>
          <p:nvPr/>
        </p:nvSpPr>
        <p:spPr>
          <a:xfrm>
            <a:off x="8805672" y="1691640"/>
            <a:ext cx="2837383" cy="1024128"/>
          </a:xfrm>
          <a:prstGeom prst="rect">
            <a:avLst/>
          </a:prstGeom>
          <a:noFill/>
          <a:ln/>
        </p:spPr>
        <p:txBody>
          <a:bodyPr wrap="square" lIns="0" tIns="0" rIns="0" bIns="0" rtlCol="0" anchor="t"/>
          <a:lstStyle/>
          <a:p>
            <a:pPr indent="0" marL="0">
              <a:spcAft>
                <a:spcPts val="200"/>
              </a:spcAft>
              <a:buNone/>
            </a:pPr>
            <a:r>
              <a:rPr lang="en-US" sz="1600" b="1" dirty="0">
                <a:solidFill>
                  <a:schemeClr val="tx1"/>
                </a:solidFill>
              </a:rPr>
              <a:t>À répondre, non lues, toutes</a:t>
            </a:r>
            <a:endParaRPr lang="en-US" sz="1600" dirty="0"/>
          </a:p>
          <a:p>
            <a:pPr indent="0" marL="0">
              <a:buNone/>
            </a:pPr>
            <a:r>
              <a:rPr lang="en-US" sz="1400" dirty="0">
                <a:solidFill>
                  <a:schemeClr val="accent3"/>
                </a:solidFill>
              </a:rPr>
              <a:t>Les conversations à traiter, en un coup d'œil.</a:t>
            </a:r>
            <a:endParaRPr lang="en-US" sz="1600" dirty="0"/>
          </a:p>
        </p:txBody>
      </p:sp>
      <p:sp>
        <p:nvSpPr>
          <p:cNvPr id="17" name="Pastille 2"/>
          <p:cNvSpPr/>
          <p:nvPr/>
        </p:nvSpPr>
        <p:spPr>
          <a:xfrm>
            <a:off x="8293608" y="3008376"/>
            <a:ext cx="329184" cy="329184"/>
          </a:xfrm>
          <a:prstGeom prst="ellipse">
            <a:avLst/>
          </a:prstGeom>
          <a:solidFill>
            <a:schemeClr val="accent2"/>
          </a:solidFill>
          <a:ln w="19050">
            <a:solidFill>
              <a:schemeClr val="bg1"/>
            </a:solidFill>
            <a:prstDash val="solid"/>
          </a:ln>
          <a:effectLst>
            <a:outerShdw sx="100000" sy="100000" kx="0" ky="0" algn="bl" rotWithShape="0" blurRad="38100" dist="12700" dir="5400000">
              <a:srgbClr val="0E1C24">
                <a:alpha val="30000"/>
              </a:srgbClr>
            </a:outerShdw>
          </a:effectLst>
        </p:spPr>
      </p:sp>
      <p:sp>
        <p:nvSpPr>
          <p:cNvPr id="18" name="Text 14"/>
          <p:cNvSpPr txBox="1"/>
          <p:nvPr/>
        </p:nvSpPr>
        <p:spPr>
          <a:xfrm>
            <a:off x="8293608" y="3008376"/>
            <a:ext cx="329184" cy="329184"/>
          </a:xfrm>
          <a:prstGeom prst="rect">
            <a:avLst/>
          </a:prstGeom>
          <a:noFill/>
          <a:ln/>
        </p:spPr>
        <p:txBody>
          <a:bodyPr wrap="square" lIns="0" tIns="0" rIns="0" bIns="0" rtlCol="0" anchor="ctr"/>
          <a:lstStyle/>
          <a:p>
            <a:pPr algn="ctr" indent="0" marL="0">
              <a:buNone/>
            </a:pPr>
            <a:r>
              <a:rPr lang="en-US" sz="1400" b="1" dirty="0">
                <a:solidFill>
                  <a:schemeClr val="tx2"/>
                </a:solidFill>
              </a:rPr>
              <a:t>2</a:t>
            </a:r>
            <a:endParaRPr lang="en-US" sz="1400" dirty="0"/>
          </a:p>
        </p:txBody>
      </p:sp>
      <p:sp>
        <p:nvSpPr>
          <p:cNvPr id="19" name="Text 15"/>
          <p:cNvSpPr txBox="1"/>
          <p:nvPr/>
        </p:nvSpPr>
        <p:spPr>
          <a:xfrm>
            <a:off x="8805672" y="3008376"/>
            <a:ext cx="2837383" cy="780288"/>
          </a:xfrm>
          <a:prstGeom prst="rect">
            <a:avLst/>
          </a:prstGeom>
          <a:noFill/>
          <a:ln/>
        </p:spPr>
        <p:txBody>
          <a:bodyPr wrap="square" lIns="0" tIns="0" rIns="0" bIns="0" rtlCol="0" anchor="t"/>
          <a:lstStyle/>
          <a:p>
            <a:pPr indent="0" marL="0">
              <a:spcAft>
                <a:spcPts val="200"/>
              </a:spcAft>
              <a:buNone/>
            </a:pPr>
            <a:r>
              <a:rPr lang="en-US" sz="1600" b="1" dirty="0">
                <a:solidFill>
                  <a:schemeClr val="tx1"/>
                </a:solidFill>
              </a:rPr>
              <a:t>Le client et son dossier</a:t>
            </a:r>
            <a:endParaRPr lang="en-US" sz="1600" dirty="0"/>
          </a:p>
          <a:p>
            <a:pPr indent="0" marL="0">
              <a:buNone/>
            </a:pPr>
            <a:r>
              <a:rPr lang="en-US" sz="1400" dirty="0">
                <a:solidFill>
                  <a:schemeClr val="accent3"/>
                </a:solidFill>
              </a:rPr>
              <a:t>En ligne ou non, statut, numéro et lien vers la fiche.</a:t>
            </a:r>
            <a:endParaRPr lang="en-US" sz="1600" dirty="0"/>
          </a:p>
        </p:txBody>
      </p:sp>
      <p:sp>
        <p:nvSpPr>
          <p:cNvPr id="20" name="Pastille 3"/>
          <p:cNvSpPr/>
          <p:nvPr/>
        </p:nvSpPr>
        <p:spPr>
          <a:xfrm>
            <a:off x="8293608" y="4081272"/>
            <a:ext cx="329184" cy="329184"/>
          </a:xfrm>
          <a:prstGeom prst="ellipse">
            <a:avLst/>
          </a:prstGeom>
          <a:solidFill>
            <a:schemeClr val="accent2"/>
          </a:solidFill>
          <a:ln w="19050">
            <a:solidFill>
              <a:schemeClr val="bg1"/>
            </a:solidFill>
            <a:prstDash val="solid"/>
          </a:ln>
          <a:effectLst>
            <a:outerShdw sx="100000" sy="100000" kx="0" ky="0" algn="bl" rotWithShape="0" blurRad="38100" dist="12700" dir="5400000">
              <a:srgbClr val="0E1C24">
                <a:alpha val="30000"/>
              </a:srgbClr>
            </a:outerShdw>
          </a:effectLst>
        </p:spPr>
      </p:sp>
      <p:sp>
        <p:nvSpPr>
          <p:cNvPr id="21" name="Text 17"/>
          <p:cNvSpPr txBox="1"/>
          <p:nvPr/>
        </p:nvSpPr>
        <p:spPr>
          <a:xfrm>
            <a:off x="8293608" y="4081272"/>
            <a:ext cx="329184" cy="329184"/>
          </a:xfrm>
          <a:prstGeom prst="rect">
            <a:avLst/>
          </a:prstGeom>
          <a:noFill/>
          <a:ln/>
        </p:spPr>
        <p:txBody>
          <a:bodyPr wrap="square" lIns="0" tIns="0" rIns="0" bIns="0" rtlCol="0" anchor="ctr"/>
          <a:lstStyle/>
          <a:p>
            <a:pPr algn="ctr" indent="0" marL="0">
              <a:buNone/>
            </a:pPr>
            <a:r>
              <a:rPr lang="en-US" sz="1400" b="1" dirty="0">
                <a:solidFill>
                  <a:schemeClr val="tx2"/>
                </a:solidFill>
              </a:rPr>
              <a:t>3</a:t>
            </a:r>
            <a:endParaRPr lang="en-US" sz="1400" dirty="0"/>
          </a:p>
        </p:txBody>
      </p:sp>
      <p:sp>
        <p:nvSpPr>
          <p:cNvPr id="22" name="Text 18"/>
          <p:cNvSpPr txBox="1"/>
          <p:nvPr/>
        </p:nvSpPr>
        <p:spPr>
          <a:xfrm>
            <a:off x="8805672" y="4081272"/>
            <a:ext cx="2837383" cy="780288"/>
          </a:xfrm>
          <a:prstGeom prst="rect">
            <a:avLst/>
          </a:prstGeom>
          <a:noFill/>
          <a:ln/>
        </p:spPr>
        <p:txBody>
          <a:bodyPr wrap="square" lIns="0" tIns="0" rIns="0" bIns="0" rtlCol="0" anchor="t"/>
          <a:lstStyle/>
          <a:p>
            <a:pPr indent="0" marL="0">
              <a:spcAft>
                <a:spcPts val="200"/>
              </a:spcAft>
              <a:buNone/>
            </a:pPr>
            <a:r>
              <a:rPr lang="en-US" sz="1600" b="1" dirty="0">
                <a:solidFill>
                  <a:schemeClr val="tx1"/>
                </a:solidFill>
              </a:rPr>
              <a:t>Lu par le client</a:t>
            </a:r>
            <a:endParaRPr lang="en-US" sz="1600" dirty="0"/>
          </a:p>
          <a:p>
            <a:pPr indent="0" marL="0">
              <a:buNone/>
            </a:pPr>
            <a:r>
              <a:rPr lang="en-US" sz="1400" dirty="0">
                <a:solidFill>
                  <a:schemeClr val="accent3"/>
                </a:solidFill>
              </a:rPr>
              <a:t>Pas lu après 2 minutes ? Il est prévenu par e-mail ou SMS.</a:t>
            </a:r>
            <a:endParaRPr lang="en-US" sz="1600" dirty="0"/>
          </a:p>
        </p:txBody>
      </p:sp>
      <p:sp>
        <p:nvSpPr>
          <p:cNvPr id="23" name="Pastille 4"/>
          <p:cNvSpPr/>
          <p:nvPr/>
        </p:nvSpPr>
        <p:spPr>
          <a:xfrm>
            <a:off x="8293608" y="5154168"/>
            <a:ext cx="329184" cy="329184"/>
          </a:xfrm>
          <a:prstGeom prst="ellipse">
            <a:avLst/>
          </a:prstGeom>
          <a:solidFill>
            <a:schemeClr val="accent2"/>
          </a:solidFill>
          <a:ln w="19050">
            <a:solidFill>
              <a:schemeClr val="bg1"/>
            </a:solidFill>
            <a:prstDash val="solid"/>
          </a:ln>
          <a:effectLst>
            <a:outerShdw sx="100000" sy="100000" kx="0" ky="0" algn="bl" rotWithShape="0" blurRad="38100" dist="12700" dir="5400000">
              <a:srgbClr val="0E1C24">
                <a:alpha val="30000"/>
              </a:srgbClr>
            </a:outerShdw>
          </a:effectLst>
        </p:spPr>
      </p:sp>
      <p:sp>
        <p:nvSpPr>
          <p:cNvPr id="24" name="Text 20"/>
          <p:cNvSpPr txBox="1"/>
          <p:nvPr/>
        </p:nvSpPr>
        <p:spPr>
          <a:xfrm>
            <a:off x="8293608" y="5154168"/>
            <a:ext cx="329184" cy="329184"/>
          </a:xfrm>
          <a:prstGeom prst="rect">
            <a:avLst/>
          </a:prstGeom>
          <a:noFill/>
          <a:ln/>
        </p:spPr>
        <p:txBody>
          <a:bodyPr wrap="square" lIns="0" tIns="0" rIns="0" bIns="0" rtlCol="0" anchor="ctr"/>
          <a:lstStyle/>
          <a:p>
            <a:pPr algn="ctr" indent="0" marL="0">
              <a:buNone/>
            </a:pPr>
            <a:r>
              <a:rPr lang="en-US" sz="1400" b="1" dirty="0">
                <a:solidFill>
                  <a:schemeClr val="tx2"/>
                </a:solidFill>
              </a:rPr>
              <a:t>4</a:t>
            </a:r>
            <a:endParaRPr lang="en-US" sz="1400" dirty="0"/>
          </a:p>
        </p:txBody>
      </p:sp>
      <p:sp>
        <p:nvSpPr>
          <p:cNvPr id="25" name="Text 21"/>
          <p:cNvSpPr txBox="1"/>
          <p:nvPr/>
        </p:nvSpPr>
        <p:spPr>
          <a:xfrm>
            <a:off x="8805672" y="5154168"/>
            <a:ext cx="2837383" cy="993648"/>
          </a:xfrm>
          <a:prstGeom prst="rect">
            <a:avLst/>
          </a:prstGeom>
          <a:noFill/>
          <a:ln/>
        </p:spPr>
        <p:txBody>
          <a:bodyPr wrap="square" lIns="0" tIns="0" rIns="0" bIns="0" rtlCol="0" anchor="t"/>
          <a:lstStyle/>
          <a:p>
            <a:pPr indent="0" marL="0">
              <a:spcAft>
                <a:spcPts val="200"/>
              </a:spcAft>
              <a:buNone/>
            </a:pPr>
            <a:r>
              <a:rPr lang="en-US" sz="1600" b="1" dirty="0">
                <a:solidFill>
                  <a:schemeClr val="tx1"/>
                </a:solidFill>
              </a:rPr>
              <a:t>Répondre ou attendre</a:t>
            </a:r>
            <a:endParaRPr lang="en-US" sz="1600" dirty="0"/>
          </a:p>
          <a:p>
            <a:pPr indent="0" marL="0">
              <a:buNone/>
            </a:pPr>
            <a:r>
              <a:rPr lang="en-US" sz="1400" dirty="0">
                <a:solidFill>
                  <a:schemeClr val="accent3"/>
                </a:solidFill>
              </a:rPr>
              <a:t>Pièce jointe possible ; « attendre sa réponse » met le chrono en pause.</a:t>
            </a:r>
            <a:endParaRPr lang="en-US" sz="1600" dirty="0"/>
          </a:p>
        </p:txBody>
      </p:sp>
      <p:sp>
        <p:nvSpPr>
          <p:cNvPr id="25" name="Slide Number Placeholder 0"/>
          <p:cNvSpPr>
            <a:spLocks noGrp="1"/>
          </p:cNvSpPr>
          <p:nvPr>
            <p:ph type="sldNum" sz="quarter" idx="4294967295"/>
          </p:nvPr>
        </p:nvSpPr>
        <p:spPr>
          <a:xfrm>
            <a:off x="11183112" y="6446520"/>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LES ÉQUIPES · RÉSOLUTION</a:t>
            </a:r>
            <a:endParaRPr lang="en-US" sz="1200" dirty="0"/>
          </a:p>
        </p:txBody>
      </p:sp>
      <p:sp>
        <p:nvSpPr>
          <p:cNvPr id="3" name="Text 0"/>
          <p:cNvSpPr/>
          <p:nvPr>
            <p:ph idx="101" type="title" hasCustomPrompt="1"/>
          </p:nvPr>
        </p:nvSpPr>
        <p:spPr>
          <a:xfrm>
            <a:off x="548640" y="603504"/>
            <a:ext cx="11091672" cy="685800"/>
          </a:xfrm>
          <a:prstGeom prst="rect">
            <a:avLst/>
          </a:prstGeom>
          <a:noFill/>
          <a:ln/>
        </p:spPr>
        <p:txBody>
          <a:bodyPr wrap="square" lIns="0" tIns="0" rIns="0" bIns="0" rtlCol="0" anchor="t"/>
          <a:lstStyle/>
          <a:p>
            <a:pPr algn="l" indent="0" marL="0">
              <a:buNone/>
            </a:pPr>
            <a:r>
              <a:rPr lang="en-US" sz="3600" b="1" dirty="0">
                <a:solidFill>
                  <a:schemeClr val="tx1"/>
                </a:solidFill>
              </a:rPr>
              <a:t>Une résolution que le client valide</a:t>
            </a:r>
            <a:endParaRPr lang="en-US" sz="3600" dirty="0"/>
          </a:p>
        </p:txBody>
      </p:sp>
      <p:pic>
        <p:nvPicPr>
          <p:cNvPr id="5" name="Image 0" descr="Fenêtre de résolution">    </p:cNvPr>
          <p:cNvPicPr>
            <a:picLocks noChangeAspect="1"/>
          </p:cNvPicPr>
          <p:nvPr/>
        </p:nvPicPr>
        <p:blipFill>
          <a:blip r:embed="rId1"/>
          <a:stretch>
            <a:fillRect/>
          </a:stretch>
        </p:blipFill>
        <p:spPr>
          <a:xfrm>
            <a:off x="312012" y="1299564"/>
            <a:ext cx="7788457" cy="5239630"/>
          </a:xfrm>
          <a:prstGeom prst="rect">
            <a:avLst/>
          </a:prstGeom>
        </p:spPr>
      </p:pic>
      <p:sp>
        <p:nvSpPr>
          <p:cNvPr id="6" name="Pastille 1"/>
          <p:cNvSpPr/>
          <p:nvPr/>
        </p:nvSpPr>
        <p:spPr>
          <a:xfrm>
            <a:off x="2611736" y="2439809"/>
            <a:ext cx="329184" cy="329184"/>
          </a:xfrm>
          <a:prstGeom prst="ellipse">
            <a:avLst/>
          </a:prstGeom>
          <a:solidFill>
            <a:schemeClr val="accent2"/>
          </a:solidFill>
          <a:ln w="19050">
            <a:solidFill>
              <a:schemeClr val="bg1"/>
            </a:solidFill>
            <a:prstDash val="solid"/>
          </a:ln>
          <a:effectLst>
            <a:outerShdw sx="100000" sy="100000" kx="0" ky="0" algn="bl" rotWithShape="0" blurRad="38100" dist="12700" dir="5400000">
              <a:srgbClr val="0E1C24">
                <a:alpha val="30000"/>
              </a:srgbClr>
            </a:outerShdw>
          </a:effectLst>
        </p:spPr>
      </p:sp>
      <p:sp>
        <p:nvSpPr>
          <p:cNvPr id="7" name="Text 3"/>
          <p:cNvSpPr txBox="1"/>
          <p:nvPr/>
        </p:nvSpPr>
        <p:spPr>
          <a:xfrm>
            <a:off x="2611736" y="2439809"/>
            <a:ext cx="329184" cy="329184"/>
          </a:xfrm>
          <a:prstGeom prst="rect">
            <a:avLst/>
          </a:prstGeom>
          <a:noFill/>
          <a:ln/>
        </p:spPr>
        <p:txBody>
          <a:bodyPr wrap="square" lIns="0" tIns="0" rIns="0" bIns="0" rtlCol="0" anchor="ctr"/>
          <a:lstStyle/>
          <a:p>
            <a:pPr algn="ctr" indent="0" marL="0">
              <a:buNone/>
            </a:pPr>
            <a:r>
              <a:rPr lang="en-US" sz="1400" b="1" dirty="0">
                <a:solidFill>
                  <a:schemeClr val="tx2"/>
                </a:solidFill>
              </a:rPr>
              <a:t>1</a:t>
            </a:r>
            <a:endParaRPr lang="en-US" sz="1400" dirty="0"/>
          </a:p>
        </p:txBody>
      </p:sp>
      <p:sp>
        <p:nvSpPr>
          <p:cNvPr id="8" name="Pastille 2"/>
          <p:cNvSpPr/>
          <p:nvPr/>
        </p:nvSpPr>
        <p:spPr>
          <a:xfrm>
            <a:off x="2611736" y="2896163"/>
            <a:ext cx="329184" cy="329184"/>
          </a:xfrm>
          <a:prstGeom prst="ellipse">
            <a:avLst/>
          </a:prstGeom>
          <a:solidFill>
            <a:schemeClr val="accent2"/>
          </a:solidFill>
          <a:ln w="19050">
            <a:solidFill>
              <a:schemeClr val="bg1"/>
            </a:solidFill>
            <a:prstDash val="solid"/>
          </a:ln>
          <a:effectLst>
            <a:outerShdw sx="100000" sy="100000" kx="0" ky="0" algn="bl" rotWithShape="0" blurRad="38100" dist="12700" dir="5400000">
              <a:srgbClr val="0E1C24">
                <a:alpha val="30000"/>
              </a:srgbClr>
            </a:outerShdw>
          </a:effectLst>
        </p:spPr>
      </p:sp>
      <p:sp>
        <p:nvSpPr>
          <p:cNvPr id="9" name="Text 5"/>
          <p:cNvSpPr txBox="1"/>
          <p:nvPr/>
        </p:nvSpPr>
        <p:spPr>
          <a:xfrm>
            <a:off x="2611736" y="2896163"/>
            <a:ext cx="329184" cy="329184"/>
          </a:xfrm>
          <a:prstGeom prst="rect">
            <a:avLst/>
          </a:prstGeom>
          <a:noFill/>
          <a:ln/>
        </p:spPr>
        <p:txBody>
          <a:bodyPr wrap="square" lIns="0" tIns="0" rIns="0" bIns="0" rtlCol="0" anchor="ctr"/>
          <a:lstStyle/>
          <a:p>
            <a:pPr algn="ctr" indent="0" marL="0">
              <a:buNone/>
            </a:pPr>
            <a:r>
              <a:rPr lang="en-US" sz="1400" b="1" dirty="0">
                <a:solidFill>
                  <a:schemeClr val="tx2"/>
                </a:solidFill>
              </a:rPr>
              <a:t>2</a:t>
            </a:r>
            <a:endParaRPr lang="en-US" sz="1400" dirty="0"/>
          </a:p>
        </p:txBody>
      </p:sp>
      <p:sp>
        <p:nvSpPr>
          <p:cNvPr id="10" name="Pastille 3"/>
          <p:cNvSpPr/>
          <p:nvPr/>
        </p:nvSpPr>
        <p:spPr>
          <a:xfrm>
            <a:off x="5385360" y="3940709"/>
            <a:ext cx="329184" cy="329184"/>
          </a:xfrm>
          <a:prstGeom prst="ellipse">
            <a:avLst/>
          </a:prstGeom>
          <a:solidFill>
            <a:schemeClr val="accent2"/>
          </a:solidFill>
          <a:ln w="19050">
            <a:solidFill>
              <a:schemeClr val="bg1"/>
            </a:solidFill>
            <a:prstDash val="solid"/>
          </a:ln>
          <a:effectLst>
            <a:outerShdw sx="100000" sy="100000" kx="0" ky="0" algn="bl" rotWithShape="0" blurRad="38100" dist="12700" dir="5400000">
              <a:srgbClr val="0E1C24">
                <a:alpha val="30000"/>
              </a:srgbClr>
            </a:outerShdw>
          </a:effectLst>
        </p:spPr>
      </p:sp>
      <p:sp>
        <p:nvSpPr>
          <p:cNvPr id="11" name="Text 7"/>
          <p:cNvSpPr txBox="1"/>
          <p:nvPr/>
        </p:nvSpPr>
        <p:spPr>
          <a:xfrm>
            <a:off x="5385360" y="3940709"/>
            <a:ext cx="329184" cy="329184"/>
          </a:xfrm>
          <a:prstGeom prst="rect">
            <a:avLst/>
          </a:prstGeom>
          <a:noFill/>
          <a:ln/>
        </p:spPr>
        <p:txBody>
          <a:bodyPr wrap="square" lIns="0" tIns="0" rIns="0" bIns="0" rtlCol="0" anchor="ctr"/>
          <a:lstStyle/>
          <a:p>
            <a:pPr algn="ctr" indent="0" marL="0">
              <a:buNone/>
            </a:pPr>
            <a:r>
              <a:rPr lang="en-US" sz="1400" b="1" dirty="0">
                <a:solidFill>
                  <a:schemeClr val="tx2"/>
                </a:solidFill>
              </a:rPr>
              <a:t>3</a:t>
            </a:r>
            <a:endParaRPr lang="en-US" sz="1400" dirty="0"/>
          </a:p>
        </p:txBody>
      </p:sp>
      <p:sp>
        <p:nvSpPr>
          <p:cNvPr id="12" name="Pastille 1"/>
          <p:cNvSpPr/>
          <p:nvPr/>
        </p:nvSpPr>
        <p:spPr>
          <a:xfrm>
            <a:off x="8293608" y="1783080"/>
            <a:ext cx="329184" cy="329184"/>
          </a:xfrm>
          <a:prstGeom prst="ellipse">
            <a:avLst/>
          </a:prstGeom>
          <a:solidFill>
            <a:schemeClr val="accent2"/>
          </a:solidFill>
          <a:ln w="19050">
            <a:solidFill>
              <a:schemeClr val="bg1"/>
            </a:solidFill>
            <a:prstDash val="solid"/>
          </a:ln>
          <a:effectLst>
            <a:outerShdw sx="100000" sy="100000" kx="0" ky="0" algn="bl" rotWithShape="0" blurRad="38100" dist="12700" dir="5400000">
              <a:srgbClr val="0E1C24">
                <a:alpha val="30000"/>
              </a:srgbClr>
            </a:outerShdw>
          </a:effectLst>
        </p:spPr>
      </p:sp>
      <p:sp>
        <p:nvSpPr>
          <p:cNvPr id="13" name="Text 9"/>
          <p:cNvSpPr txBox="1"/>
          <p:nvPr/>
        </p:nvSpPr>
        <p:spPr>
          <a:xfrm>
            <a:off x="8293608" y="1783080"/>
            <a:ext cx="329184" cy="329184"/>
          </a:xfrm>
          <a:prstGeom prst="rect">
            <a:avLst/>
          </a:prstGeom>
          <a:noFill/>
          <a:ln/>
        </p:spPr>
        <p:txBody>
          <a:bodyPr wrap="square" lIns="0" tIns="0" rIns="0" bIns="0" rtlCol="0" anchor="ctr"/>
          <a:lstStyle/>
          <a:p>
            <a:pPr algn="ctr" indent="0" marL="0">
              <a:buNone/>
            </a:pPr>
            <a:r>
              <a:rPr lang="en-US" sz="1400" b="1" dirty="0">
                <a:solidFill>
                  <a:schemeClr val="tx2"/>
                </a:solidFill>
              </a:rPr>
              <a:t>1</a:t>
            </a:r>
            <a:endParaRPr lang="en-US" sz="1400" dirty="0"/>
          </a:p>
        </p:txBody>
      </p:sp>
      <p:sp>
        <p:nvSpPr>
          <p:cNvPr id="14" name="Text 10"/>
          <p:cNvSpPr txBox="1"/>
          <p:nvPr/>
        </p:nvSpPr>
        <p:spPr>
          <a:xfrm>
            <a:off x="8805672" y="1783080"/>
            <a:ext cx="2837383" cy="1237488"/>
          </a:xfrm>
          <a:prstGeom prst="rect">
            <a:avLst/>
          </a:prstGeom>
          <a:noFill/>
          <a:ln/>
        </p:spPr>
        <p:txBody>
          <a:bodyPr wrap="square" lIns="0" tIns="0" rIns="0" bIns="0" rtlCol="0" anchor="t"/>
          <a:lstStyle/>
          <a:p>
            <a:pPr indent="0" marL="0">
              <a:spcAft>
                <a:spcPts val="200"/>
              </a:spcAft>
              <a:buNone/>
            </a:pPr>
            <a:r>
              <a:rPr lang="en-US" sz="1600" b="1" dirty="0">
                <a:solidFill>
                  <a:schemeClr val="tx1"/>
                </a:solidFill>
              </a:rPr>
              <a:t>Les règles rappelées à l'agent</a:t>
            </a:r>
            <a:endParaRPr lang="en-US" sz="1600" dirty="0"/>
          </a:p>
          <a:p>
            <a:pPr indent="0" marL="0">
              <a:buNone/>
            </a:pPr>
            <a:r>
              <a:rPr lang="en-US" sz="1400" dirty="0">
                <a:solidFill>
                  <a:schemeClr val="accent3"/>
                </a:solidFill>
              </a:rPr>
              <a:t>5 jours pour confirmer ou contester ; sans réponse, clôture automatique.</a:t>
            </a:r>
            <a:endParaRPr lang="en-US" sz="1600" dirty="0"/>
          </a:p>
        </p:txBody>
      </p:sp>
      <p:sp>
        <p:nvSpPr>
          <p:cNvPr id="15" name="Pastille 2"/>
          <p:cNvSpPr/>
          <p:nvPr/>
        </p:nvSpPr>
        <p:spPr>
          <a:xfrm>
            <a:off x="8293608" y="3404616"/>
            <a:ext cx="329184" cy="329184"/>
          </a:xfrm>
          <a:prstGeom prst="ellipse">
            <a:avLst/>
          </a:prstGeom>
          <a:solidFill>
            <a:schemeClr val="accent2"/>
          </a:solidFill>
          <a:ln w="19050">
            <a:solidFill>
              <a:schemeClr val="bg1"/>
            </a:solidFill>
            <a:prstDash val="solid"/>
          </a:ln>
          <a:effectLst>
            <a:outerShdw sx="100000" sy="100000" kx="0" ky="0" algn="bl" rotWithShape="0" blurRad="38100" dist="12700" dir="5400000">
              <a:srgbClr val="0E1C24">
                <a:alpha val="30000"/>
              </a:srgbClr>
            </a:outerShdw>
          </a:effectLst>
        </p:spPr>
      </p:sp>
      <p:sp>
        <p:nvSpPr>
          <p:cNvPr id="16" name="Text 12"/>
          <p:cNvSpPr txBox="1"/>
          <p:nvPr/>
        </p:nvSpPr>
        <p:spPr>
          <a:xfrm>
            <a:off x="8293608" y="3404616"/>
            <a:ext cx="329184" cy="329184"/>
          </a:xfrm>
          <a:prstGeom prst="rect">
            <a:avLst/>
          </a:prstGeom>
          <a:noFill/>
          <a:ln/>
        </p:spPr>
        <p:txBody>
          <a:bodyPr wrap="square" lIns="0" tIns="0" rIns="0" bIns="0" rtlCol="0" anchor="ctr"/>
          <a:lstStyle/>
          <a:p>
            <a:pPr algn="ctr" indent="0" marL="0">
              <a:buNone/>
            </a:pPr>
            <a:r>
              <a:rPr lang="en-US" sz="1400" b="1" dirty="0">
                <a:solidFill>
                  <a:schemeClr val="tx2"/>
                </a:solidFill>
              </a:rPr>
              <a:t>2</a:t>
            </a:r>
            <a:endParaRPr lang="en-US" sz="1400" dirty="0"/>
          </a:p>
        </p:txBody>
      </p:sp>
      <p:sp>
        <p:nvSpPr>
          <p:cNvPr id="17" name="Text 13"/>
          <p:cNvSpPr txBox="1"/>
          <p:nvPr/>
        </p:nvSpPr>
        <p:spPr>
          <a:xfrm>
            <a:off x="8805672" y="3404616"/>
            <a:ext cx="2837383" cy="780288"/>
          </a:xfrm>
          <a:prstGeom prst="rect">
            <a:avLst/>
          </a:prstGeom>
          <a:noFill/>
          <a:ln/>
        </p:spPr>
        <p:txBody>
          <a:bodyPr wrap="square" lIns="0" tIns="0" rIns="0" bIns="0" rtlCol="0" anchor="t"/>
          <a:lstStyle/>
          <a:p>
            <a:pPr indent="0" marL="0">
              <a:spcAft>
                <a:spcPts val="200"/>
              </a:spcAft>
              <a:buNone/>
            </a:pPr>
            <a:r>
              <a:rPr lang="en-US" sz="1600" b="1" dirty="0">
                <a:solidFill>
                  <a:schemeClr val="tx1"/>
                </a:solidFill>
              </a:rPr>
              <a:t>Une réponse finale écrite</a:t>
            </a:r>
            <a:endParaRPr lang="en-US" sz="1600" dirty="0"/>
          </a:p>
          <a:p>
            <a:pPr indent="0" marL="0">
              <a:buNone/>
            </a:pPr>
            <a:r>
              <a:rPr lang="en-US" sz="1400" dirty="0">
                <a:solidFill>
                  <a:schemeClr val="accent3"/>
                </a:solidFill>
              </a:rPr>
              <a:t>Envoyée par e-mail et SMS, affichée dans le suivi du client.</a:t>
            </a:r>
            <a:endParaRPr lang="en-US" sz="1600" dirty="0"/>
          </a:p>
        </p:txBody>
      </p:sp>
      <p:sp>
        <p:nvSpPr>
          <p:cNvPr id="18" name="Pastille 3"/>
          <p:cNvSpPr/>
          <p:nvPr/>
        </p:nvSpPr>
        <p:spPr>
          <a:xfrm>
            <a:off x="8293608" y="4568952"/>
            <a:ext cx="329184" cy="329184"/>
          </a:xfrm>
          <a:prstGeom prst="ellipse">
            <a:avLst/>
          </a:prstGeom>
          <a:solidFill>
            <a:schemeClr val="accent2"/>
          </a:solidFill>
          <a:ln w="19050">
            <a:solidFill>
              <a:schemeClr val="bg1"/>
            </a:solidFill>
            <a:prstDash val="solid"/>
          </a:ln>
          <a:effectLst>
            <a:outerShdw sx="100000" sy="100000" kx="0" ky="0" algn="bl" rotWithShape="0" blurRad="38100" dist="12700" dir="5400000">
              <a:srgbClr val="0E1C24">
                <a:alpha val="30000"/>
              </a:srgbClr>
            </a:outerShdw>
          </a:effectLst>
        </p:spPr>
      </p:sp>
      <p:sp>
        <p:nvSpPr>
          <p:cNvPr id="19" name="Text 15"/>
          <p:cNvSpPr txBox="1"/>
          <p:nvPr/>
        </p:nvSpPr>
        <p:spPr>
          <a:xfrm>
            <a:off x="8293608" y="4568952"/>
            <a:ext cx="329184" cy="329184"/>
          </a:xfrm>
          <a:prstGeom prst="rect">
            <a:avLst/>
          </a:prstGeom>
          <a:noFill/>
          <a:ln/>
        </p:spPr>
        <p:txBody>
          <a:bodyPr wrap="square" lIns="0" tIns="0" rIns="0" bIns="0" rtlCol="0" anchor="ctr"/>
          <a:lstStyle/>
          <a:p>
            <a:pPr algn="ctr" indent="0" marL="0">
              <a:buNone/>
            </a:pPr>
            <a:r>
              <a:rPr lang="en-US" sz="1400" b="1" dirty="0">
                <a:solidFill>
                  <a:schemeClr val="tx2"/>
                </a:solidFill>
              </a:rPr>
              <a:t>3</a:t>
            </a:r>
            <a:endParaRPr lang="en-US" sz="1400" dirty="0"/>
          </a:p>
        </p:txBody>
      </p:sp>
      <p:sp>
        <p:nvSpPr>
          <p:cNvPr id="20" name="Text 16"/>
          <p:cNvSpPr txBox="1"/>
          <p:nvPr/>
        </p:nvSpPr>
        <p:spPr>
          <a:xfrm>
            <a:off x="8805672" y="4568952"/>
            <a:ext cx="2837383" cy="993648"/>
          </a:xfrm>
          <a:prstGeom prst="rect">
            <a:avLst/>
          </a:prstGeom>
          <a:noFill/>
          <a:ln/>
        </p:spPr>
        <p:txBody>
          <a:bodyPr wrap="square" lIns="0" tIns="0" rIns="0" bIns="0" rtlCol="0" anchor="t"/>
          <a:lstStyle/>
          <a:p>
            <a:pPr indent="0" marL="0">
              <a:spcAft>
                <a:spcPts val="200"/>
              </a:spcAft>
              <a:buNone/>
            </a:pPr>
            <a:r>
              <a:rPr lang="en-US" sz="1600" b="1" dirty="0">
                <a:solidFill>
                  <a:schemeClr val="tx1"/>
                </a:solidFill>
              </a:rPr>
              <a:t>Un indicateur fiable</a:t>
            </a:r>
            <a:endParaRPr lang="en-US" sz="1600" dirty="0"/>
          </a:p>
          <a:p>
            <a:pPr indent="0" marL="0">
              <a:buNone/>
            </a:pPr>
            <a:r>
              <a:rPr lang="en-US" sz="1400" dirty="0">
                <a:solidFill>
                  <a:schemeClr val="accent3"/>
                </a:solidFill>
              </a:rPr>
              <a:t>Le respect du délai se mesure à la résolution ; une contestation rouvre le dossier.</a:t>
            </a:r>
            <a:endParaRPr lang="en-US" sz="1600" dirty="0"/>
          </a:p>
        </p:txBody>
      </p:sp>
      <p:sp>
        <p:nvSpPr>
          <p:cNvPr id="25" name="Slide Number Placeholder 0"/>
          <p:cNvSpPr>
            <a:spLocks noGrp="1"/>
          </p:cNvSpPr>
          <p:nvPr>
            <p:ph type="sldNum" sz="quarter" idx="4294967295"/>
          </p:nvPr>
        </p:nvSpPr>
        <p:spPr>
          <a:xfrm>
            <a:off x="11183112" y="6446520"/>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LES ÉQUIPES · ALERTES ET ESCALADE</a:t>
            </a:r>
            <a:endParaRPr lang="en-US" sz="1200" dirty="0"/>
          </a:p>
        </p:txBody>
      </p:sp>
      <p:sp>
        <p:nvSpPr>
          <p:cNvPr id="3" name="Text 0"/>
          <p:cNvSpPr/>
          <p:nvPr>
            <p:ph idx="101" type="title" hasCustomPrompt="1"/>
          </p:nvPr>
        </p:nvSpPr>
        <p:spPr>
          <a:xfrm>
            <a:off x="548640" y="603504"/>
            <a:ext cx="11091672" cy="685800"/>
          </a:xfrm>
          <a:prstGeom prst="rect">
            <a:avLst/>
          </a:prstGeom>
          <a:noFill/>
          <a:ln/>
        </p:spPr>
        <p:txBody>
          <a:bodyPr wrap="square" lIns="0" tIns="0" rIns="0" bIns="0" rtlCol="0" anchor="t"/>
          <a:lstStyle/>
          <a:p>
            <a:pPr algn="l" indent="0" marL="0">
              <a:buNone/>
            </a:pPr>
            <a:r>
              <a:rPr lang="en-US" sz="3600" b="1" dirty="0">
                <a:solidFill>
                  <a:schemeClr val="tx1"/>
                </a:solidFill>
              </a:rPr>
              <a:t>Aucune réclamation ne tombe dans l'oubli</a:t>
            </a:r>
            <a:endParaRPr lang="en-US" sz="3600" dirty="0"/>
          </a:p>
        </p:txBody>
      </p:sp>
      <p:pic>
        <p:nvPicPr>
          <p:cNvPr id="5" name="Image 0" descr="Réclamation escaladée, délai dépassé">    </p:cNvPr>
          <p:cNvPicPr>
            <a:picLocks noChangeAspect="1"/>
          </p:cNvPicPr>
          <p:nvPr/>
        </p:nvPicPr>
        <p:blipFill>
          <a:blip r:embed="rId1"/>
          <a:stretch>
            <a:fillRect/>
          </a:stretch>
        </p:blipFill>
        <p:spPr>
          <a:xfrm>
            <a:off x="312012" y="1299564"/>
            <a:ext cx="7788457" cy="5239630"/>
          </a:xfrm>
          <a:prstGeom prst="rect">
            <a:avLst/>
          </a:prstGeom>
        </p:spPr>
      </p:pic>
      <p:sp>
        <p:nvSpPr>
          <p:cNvPr id="6" name="Pastille 1"/>
          <p:cNvSpPr/>
          <p:nvPr/>
        </p:nvSpPr>
        <p:spPr>
          <a:xfrm>
            <a:off x="5289018" y="2546291"/>
            <a:ext cx="329184" cy="329184"/>
          </a:xfrm>
          <a:prstGeom prst="ellipse">
            <a:avLst/>
          </a:prstGeom>
          <a:solidFill>
            <a:schemeClr val="accent2"/>
          </a:solidFill>
          <a:ln w="19050">
            <a:solidFill>
              <a:schemeClr val="bg1"/>
            </a:solidFill>
            <a:prstDash val="solid"/>
          </a:ln>
          <a:effectLst>
            <a:outerShdw sx="100000" sy="100000" kx="0" ky="0" algn="bl" rotWithShape="0" blurRad="38100" dist="12700" dir="5400000">
              <a:srgbClr val="0E1C24">
                <a:alpha val="30000"/>
              </a:srgbClr>
            </a:outerShdw>
          </a:effectLst>
        </p:spPr>
      </p:sp>
      <p:sp>
        <p:nvSpPr>
          <p:cNvPr id="7" name="Text 3"/>
          <p:cNvSpPr txBox="1"/>
          <p:nvPr/>
        </p:nvSpPr>
        <p:spPr>
          <a:xfrm>
            <a:off x="5289018" y="2546291"/>
            <a:ext cx="329184" cy="329184"/>
          </a:xfrm>
          <a:prstGeom prst="rect">
            <a:avLst/>
          </a:prstGeom>
          <a:noFill/>
          <a:ln/>
        </p:spPr>
        <p:txBody>
          <a:bodyPr wrap="square" lIns="0" tIns="0" rIns="0" bIns="0" rtlCol="0" anchor="ctr"/>
          <a:lstStyle/>
          <a:p>
            <a:pPr algn="ctr" indent="0" marL="0">
              <a:buNone/>
            </a:pPr>
            <a:r>
              <a:rPr lang="en-US" sz="1400" b="1" dirty="0">
                <a:solidFill>
                  <a:schemeClr val="tx2"/>
                </a:solidFill>
              </a:rPr>
              <a:t>1</a:t>
            </a:r>
            <a:endParaRPr lang="en-US" sz="1400" dirty="0"/>
          </a:p>
        </p:txBody>
      </p:sp>
      <p:sp>
        <p:nvSpPr>
          <p:cNvPr id="8" name="Pastille 2"/>
          <p:cNvSpPr/>
          <p:nvPr/>
        </p:nvSpPr>
        <p:spPr>
          <a:xfrm>
            <a:off x="2804419" y="3256177"/>
            <a:ext cx="329184" cy="329184"/>
          </a:xfrm>
          <a:prstGeom prst="ellipse">
            <a:avLst/>
          </a:prstGeom>
          <a:solidFill>
            <a:schemeClr val="accent2"/>
          </a:solidFill>
          <a:ln w="19050">
            <a:solidFill>
              <a:schemeClr val="bg1"/>
            </a:solidFill>
            <a:prstDash val="solid"/>
          </a:ln>
          <a:effectLst>
            <a:outerShdw sx="100000" sy="100000" kx="0" ky="0" algn="bl" rotWithShape="0" blurRad="38100" dist="12700" dir="5400000">
              <a:srgbClr val="0E1C24">
                <a:alpha val="30000"/>
              </a:srgbClr>
            </a:outerShdw>
          </a:effectLst>
        </p:spPr>
      </p:sp>
      <p:sp>
        <p:nvSpPr>
          <p:cNvPr id="9" name="Text 5"/>
          <p:cNvSpPr txBox="1"/>
          <p:nvPr/>
        </p:nvSpPr>
        <p:spPr>
          <a:xfrm>
            <a:off x="2804419" y="3256177"/>
            <a:ext cx="329184" cy="329184"/>
          </a:xfrm>
          <a:prstGeom prst="rect">
            <a:avLst/>
          </a:prstGeom>
          <a:noFill/>
          <a:ln/>
        </p:spPr>
        <p:txBody>
          <a:bodyPr wrap="square" lIns="0" tIns="0" rIns="0" bIns="0" rtlCol="0" anchor="ctr"/>
          <a:lstStyle/>
          <a:p>
            <a:pPr algn="ctr" indent="0" marL="0">
              <a:buNone/>
            </a:pPr>
            <a:r>
              <a:rPr lang="en-US" sz="1400" b="1" dirty="0">
                <a:solidFill>
                  <a:schemeClr val="tx2"/>
                </a:solidFill>
              </a:rPr>
              <a:t>2</a:t>
            </a:r>
            <a:endParaRPr lang="en-US" sz="1400" dirty="0"/>
          </a:p>
        </p:txBody>
      </p:sp>
      <p:sp>
        <p:nvSpPr>
          <p:cNvPr id="10" name="Pastille 3"/>
          <p:cNvSpPr/>
          <p:nvPr/>
        </p:nvSpPr>
        <p:spPr>
          <a:xfrm>
            <a:off x="6171304" y="1729923"/>
            <a:ext cx="329184" cy="329184"/>
          </a:xfrm>
          <a:prstGeom prst="ellipse">
            <a:avLst/>
          </a:prstGeom>
          <a:solidFill>
            <a:schemeClr val="accent2"/>
          </a:solidFill>
          <a:ln w="19050">
            <a:solidFill>
              <a:schemeClr val="bg1"/>
            </a:solidFill>
            <a:prstDash val="solid"/>
          </a:ln>
          <a:effectLst>
            <a:outerShdw sx="100000" sy="100000" kx="0" ky="0" algn="bl" rotWithShape="0" blurRad="38100" dist="12700" dir="5400000">
              <a:srgbClr val="0E1C24">
                <a:alpha val="30000"/>
              </a:srgbClr>
            </a:outerShdw>
          </a:effectLst>
        </p:spPr>
      </p:sp>
      <p:sp>
        <p:nvSpPr>
          <p:cNvPr id="11" name="Text 7"/>
          <p:cNvSpPr txBox="1"/>
          <p:nvPr/>
        </p:nvSpPr>
        <p:spPr>
          <a:xfrm>
            <a:off x="6171304" y="1729923"/>
            <a:ext cx="329184" cy="329184"/>
          </a:xfrm>
          <a:prstGeom prst="rect">
            <a:avLst/>
          </a:prstGeom>
          <a:noFill/>
          <a:ln/>
        </p:spPr>
        <p:txBody>
          <a:bodyPr wrap="square" lIns="0" tIns="0" rIns="0" bIns="0" rtlCol="0" anchor="ctr"/>
          <a:lstStyle/>
          <a:p>
            <a:pPr algn="ctr" indent="0" marL="0">
              <a:buNone/>
            </a:pPr>
            <a:r>
              <a:rPr lang="en-US" sz="1400" b="1" dirty="0">
                <a:solidFill>
                  <a:schemeClr val="tx2"/>
                </a:solidFill>
              </a:rPr>
              <a:t>3</a:t>
            </a:r>
            <a:endParaRPr lang="en-US" sz="1400" dirty="0"/>
          </a:p>
        </p:txBody>
      </p:sp>
      <p:sp>
        <p:nvSpPr>
          <p:cNvPr id="12" name="Pastille 1"/>
          <p:cNvSpPr/>
          <p:nvPr/>
        </p:nvSpPr>
        <p:spPr>
          <a:xfrm>
            <a:off x="8293608" y="1691640"/>
            <a:ext cx="329184" cy="329184"/>
          </a:xfrm>
          <a:prstGeom prst="ellipse">
            <a:avLst/>
          </a:prstGeom>
          <a:solidFill>
            <a:schemeClr val="accent2"/>
          </a:solidFill>
          <a:ln w="19050">
            <a:solidFill>
              <a:schemeClr val="bg1"/>
            </a:solidFill>
            <a:prstDash val="solid"/>
          </a:ln>
          <a:effectLst>
            <a:outerShdw sx="100000" sy="100000" kx="0" ky="0" algn="bl" rotWithShape="0" blurRad="38100" dist="12700" dir="5400000">
              <a:srgbClr val="0E1C24">
                <a:alpha val="30000"/>
              </a:srgbClr>
            </a:outerShdw>
          </a:effectLst>
        </p:spPr>
      </p:sp>
      <p:sp>
        <p:nvSpPr>
          <p:cNvPr id="13" name="Text 9"/>
          <p:cNvSpPr txBox="1"/>
          <p:nvPr/>
        </p:nvSpPr>
        <p:spPr>
          <a:xfrm>
            <a:off x="8293608" y="1691640"/>
            <a:ext cx="329184" cy="329184"/>
          </a:xfrm>
          <a:prstGeom prst="rect">
            <a:avLst/>
          </a:prstGeom>
          <a:noFill/>
          <a:ln/>
        </p:spPr>
        <p:txBody>
          <a:bodyPr wrap="square" lIns="0" tIns="0" rIns="0" bIns="0" rtlCol="0" anchor="ctr"/>
          <a:lstStyle/>
          <a:p>
            <a:pPr algn="ctr" indent="0" marL="0">
              <a:buNone/>
            </a:pPr>
            <a:r>
              <a:rPr lang="en-US" sz="1400" b="1" dirty="0">
                <a:solidFill>
                  <a:schemeClr val="tx2"/>
                </a:solidFill>
              </a:rPr>
              <a:t>1</a:t>
            </a:r>
            <a:endParaRPr lang="en-US" sz="1400" dirty="0"/>
          </a:p>
        </p:txBody>
      </p:sp>
      <p:sp>
        <p:nvSpPr>
          <p:cNvPr id="14" name="Text 10"/>
          <p:cNvSpPr txBox="1"/>
          <p:nvPr/>
        </p:nvSpPr>
        <p:spPr>
          <a:xfrm>
            <a:off x="8805672" y="1691640"/>
            <a:ext cx="2837383" cy="993648"/>
          </a:xfrm>
          <a:prstGeom prst="rect">
            <a:avLst/>
          </a:prstGeom>
          <a:noFill/>
          <a:ln/>
        </p:spPr>
        <p:txBody>
          <a:bodyPr wrap="square" lIns="0" tIns="0" rIns="0" bIns="0" rtlCol="0" anchor="t"/>
          <a:lstStyle/>
          <a:p>
            <a:pPr indent="0" marL="0">
              <a:spcAft>
                <a:spcPts val="200"/>
              </a:spcAft>
              <a:buNone/>
            </a:pPr>
            <a:r>
              <a:rPr lang="en-US" sz="1600" b="1" dirty="0">
                <a:solidFill>
                  <a:schemeClr val="tx1"/>
                </a:solidFill>
              </a:rPr>
              <a:t>Escalade automatique</a:t>
            </a:r>
            <a:endParaRPr lang="en-US" sz="1600" dirty="0"/>
          </a:p>
          <a:p>
            <a:pPr indent="0" marL="0">
              <a:buNone/>
            </a:pPr>
            <a:r>
              <a:rPr lang="en-US" sz="1400" dirty="0">
                <a:solidFill>
                  <a:schemeClr val="accent3"/>
                </a:solidFill>
              </a:rPr>
              <a:t>Au dépassement, vers le superviseur puis l'Admin Entreprise, selon vos règles.</a:t>
            </a:r>
            <a:endParaRPr lang="en-US" sz="1600" dirty="0"/>
          </a:p>
        </p:txBody>
      </p:sp>
      <p:sp>
        <p:nvSpPr>
          <p:cNvPr id="15" name="Pastille 2"/>
          <p:cNvSpPr/>
          <p:nvPr/>
        </p:nvSpPr>
        <p:spPr>
          <a:xfrm>
            <a:off x="8293608" y="2977896"/>
            <a:ext cx="329184" cy="329184"/>
          </a:xfrm>
          <a:prstGeom prst="ellipse">
            <a:avLst/>
          </a:prstGeom>
          <a:solidFill>
            <a:schemeClr val="accent2"/>
          </a:solidFill>
          <a:ln w="19050">
            <a:solidFill>
              <a:schemeClr val="bg1"/>
            </a:solidFill>
            <a:prstDash val="solid"/>
          </a:ln>
          <a:effectLst>
            <a:outerShdw sx="100000" sy="100000" kx="0" ky="0" algn="bl" rotWithShape="0" blurRad="38100" dist="12700" dir="5400000">
              <a:srgbClr val="0E1C24">
                <a:alpha val="30000"/>
              </a:srgbClr>
            </a:outerShdw>
          </a:effectLst>
        </p:spPr>
      </p:sp>
      <p:sp>
        <p:nvSpPr>
          <p:cNvPr id="16" name="Text 12"/>
          <p:cNvSpPr txBox="1"/>
          <p:nvPr/>
        </p:nvSpPr>
        <p:spPr>
          <a:xfrm>
            <a:off x="8293608" y="2977896"/>
            <a:ext cx="329184" cy="329184"/>
          </a:xfrm>
          <a:prstGeom prst="rect">
            <a:avLst/>
          </a:prstGeom>
          <a:noFill/>
          <a:ln/>
        </p:spPr>
        <p:txBody>
          <a:bodyPr wrap="square" lIns="0" tIns="0" rIns="0" bIns="0" rtlCol="0" anchor="ctr"/>
          <a:lstStyle/>
          <a:p>
            <a:pPr algn="ctr" indent="0" marL="0">
              <a:buNone/>
            </a:pPr>
            <a:r>
              <a:rPr lang="en-US" sz="1400" b="1" dirty="0">
                <a:solidFill>
                  <a:schemeClr val="tx2"/>
                </a:solidFill>
              </a:rPr>
              <a:t>2</a:t>
            </a:r>
            <a:endParaRPr lang="en-US" sz="1400" dirty="0"/>
          </a:p>
        </p:txBody>
      </p:sp>
      <p:sp>
        <p:nvSpPr>
          <p:cNvPr id="17" name="Text 13"/>
          <p:cNvSpPr txBox="1"/>
          <p:nvPr/>
        </p:nvSpPr>
        <p:spPr>
          <a:xfrm>
            <a:off x="8805672" y="2977896"/>
            <a:ext cx="2837383" cy="993648"/>
          </a:xfrm>
          <a:prstGeom prst="rect">
            <a:avLst/>
          </a:prstGeom>
          <a:noFill/>
          <a:ln/>
        </p:spPr>
        <p:txBody>
          <a:bodyPr wrap="square" lIns="0" tIns="0" rIns="0" bIns="0" rtlCol="0" anchor="t"/>
          <a:lstStyle/>
          <a:p>
            <a:pPr indent="0" marL="0">
              <a:spcAft>
                <a:spcPts val="200"/>
              </a:spcAft>
              <a:buNone/>
            </a:pPr>
            <a:r>
              <a:rPr lang="en-US" sz="1600" b="1" dirty="0">
                <a:solidFill>
                  <a:schemeClr val="tx1"/>
                </a:solidFill>
              </a:rPr>
              <a:t>Le retard visible</a:t>
            </a:r>
            <a:endParaRPr lang="en-US" sz="1600" dirty="0"/>
          </a:p>
          <a:p>
            <a:pPr indent="0" marL="0">
              <a:buNone/>
            </a:pPr>
            <a:r>
              <a:rPr lang="en-US" sz="1400" dirty="0">
                <a:solidFill>
                  <a:schemeClr val="accent3"/>
                </a:solidFill>
              </a:rPr>
              <a:t>Délai dépassé et heures de retard, sur la fiche et dans les files.</a:t>
            </a:r>
            <a:endParaRPr lang="en-US" sz="1600" dirty="0"/>
          </a:p>
        </p:txBody>
      </p:sp>
      <p:sp>
        <p:nvSpPr>
          <p:cNvPr id="18" name="Pastille 3"/>
          <p:cNvSpPr/>
          <p:nvPr/>
        </p:nvSpPr>
        <p:spPr>
          <a:xfrm>
            <a:off x="8293608" y="4264152"/>
            <a:ext cx="329184" cy="329184"/>
          </a:xfrm>
          <a:prstGeom prst="ellipse">
            <a:avLst/>
          </a:prstGeom>
          <a:solidFill>
            <a:schemeClr val="accent2"/>
          </a:solidFill>
          <a:ln w="19050">
            <a:solidFill>
              <a:schemeClr val="bg1"/>
            </a:solidFill>
            <a:prstDash val="solid"/>
          </a:ln>
          <a:effectLst>
            <a:outerShdw sx="100000" sy="100000" kx="0" ky="0" algn="bl" rotWithShape="0" blurRad="38100" dist="12700" dir="5400000">
              <a:srgbClr val="0E1C24">
                <a:alpha val="30000"/>
              </a:srgbClr>
            </a:outerShdw>
          </a:effectLst>
        </p:spPr>
      </p:sp>
      <p:sp>
        <p:nvSpPr>
          <p:cNvPr id="19" name="Text 15"/>
          <p:cNvSpPr txBox="1"/>
          <p:nvPr/>
        </p:nvSpPr>
        <p:spPr>
          <a:xfrm>
            <a:off x="8293608" y="4264152"/>
            <a:ext cx="329184" cy="329184"/>
          </a:xfrm>
          <a:prstGeom prst="rect">
            <a:avLst/>
          </a:prstGeom>
          <a:noFill/>
          <a:ln/>
        </p:spPr>
        <p:txBody>
          <a:bodyPr wrap="square" lIns="0" tIns="0" rIns="0" bIns="0" rtlCol="0" anchor="ctr"/>
          <a:lstStyle/>
          <a:p>
            <a:pPr algn="ctr" indent="0" marL="0">
              <a:buNone/>
            </a:pPr>
            <a:r>
              <a:rPr lang="en-US" sz="1400" b="1" dirty="0">
                <a:solidFill>
                  <a:schemeClr val="tx2"/>
                </a:solidFill>
              </a:rPr>
              <a:t>3</a:t>
            </a:r>
            <a:endParaRPr lang="en-US" sz="1400" dirty="0"/>
          </a:p>
        </p:txBody>
      </p:sp>
      <p:sp>
        <p:nvSpPr>
          <p:cNvPr id="20" name="Text 16"/>
          <p:cNvSpPr txBox="1"/>
          <p:nvPr/>
        </p:nvSpPr>
        <p:spPr>
          <a:xfrm>
            <a:off x="8805672" y="4264152"/>
            <a:ext cx="2837383" cy="993648"/>
          </a:xfrm>
          <a:prstGeom prst="rect">
            <a:avLst/>
          </a:prstGeom>
          <a:noFill/>
          <a:ln/>
        </p:spPr>
        <p:txBody>
          <a:bodyPr wrap="square" lIns="0" tIns="0" rIns="0" bIns="0" rtlCol="0" anchor="t"/>
          <a:lstStyle/>
          <a:p>
            <a:pPr indent="0" marL="0">
              <a:spcAft>
                <a:spcPts val="200"/>
              </a:spcAft>
              <a:buNone/>
            </a:pPr>
            <a:r>
              <a:rPr lang="en-US" sz="1600" b="1" dirty="0">
                <a:solidFill>
                  <a:schemeClr val="tx1"/>
                </a:solidFill>
              </a:rPr>
              <a:t>Alertes dans la console</a:t>
            </a:r>
            <a:endParaRPr lang="en-US" sz="1600" dirty="0"/>
          </a:p>
          <a:p>
            <a:pPr indent="0" marL="0">
              <a:buNone/>
            </a:pPr>
            <a:r>
              <a:rPr lang="en-US" sz="1400" dirty="0">
                <a:solidFill>
                  <a:schemeClr val="accent3"/>
                </a:solidFill>
              </a:rPr>
              <a:t>Alerte préventive à 75 % du délai ; chaque alerte part une seule fois.</a:t>
            </a:r>
            <a:endParaRPr lang="en-US" sz="1600" dirty="0"/>
          </a:p>
        </p:txBody>
      </p:sp>
      <p:sp>
        <p:nvSpPr>
          <p:cNvPr id="21" name="Rond LuTriangleAlert"/>
          <p:cNvSpPr/>
          <p:nvPr/>
        </p:nvSpPr>
        <p:spPr>
          <a:xfrm>
            <a:off x="8275320" y="5532120"/>
            <a:ext cx="384048" cy="384048"/>
          </a:xfrm>
          <a:prstGeom prst="ellipse">
            <a:avLst/>
          </a:prstGeom>
          <a:solidFill>
            <a:schemeClr val="accent4"/>
          </a:solidFill>
          <a:ln/>
        </p:spPr>
      </p:sp>
      <p:pic>
        <p:nvPicPr>
          <p:cNvPr id="22" name="Image 1" descr="preencoded.png">    </p:cNvPr>
          <p:cNvPicPr>
            <a:picLocks noChangeAspect="1"/>
          </p:cNvPicPr>
          <p:nvPr/>
        </p:nvPicPr>
        <p:blipFill>
          <a:blip r:embed="rId2"/>
          <a:stretch>
            <a:fillRect/>
          </a:stretch>
        </p:blipFill>
        <p:spPr>
          <a:xfrm>
            <a:off x="8363651" y="5620451"/>
            <a:ext cx="207386" cy="207386"/>
          </a:xfrm>
          <a:prstGeom prst="rect">
            <a:avLst/>
          </a:prstGeom>
        </p:spPr>
      </p:pic>
      <p:sp>
        <p:nvSpPr>
          <p:cNvPr id="23" name="Text 18"/>
          <p:cNvSpPr txBox="1"/>
          <p:nvPr/>
        </p:nvSpPr>
        <p:spPr>
          <a:xfrm>
            <a:off x="8805672" y="5550408"/>
            <a:ext cx="2837383" cy="993648"/>
          </a:xfrm>
          <a:prstGeom prst="rect">
            <a:avLst/>
          </a:prstGeom>
          <a:noFill/>
          <a:ln/>
        </p:spPr>
        <p:txBody>
          <a:bodyPr wrap="square" lIns="0" tIns="0" rIns="0" bIns="0" rtlCol="0" anchor="t"/>
          <a:lstStyle/>
          <a:p>
            <a:pPr indent="0" marL="0">
              <a:spcAft>
                <a:spcPts val="200"/>
              </a:spcAft>
              <a:buNone/>
            </a:pPr>
            <a:r>
              <a:rPr lang="en-US" sz="1600" b="1" dirty="0">
                <a:solidFill>
                  <a:schemeClr val="tx1"/>
                </a:solidFill>
              </a:rPr>
              <a:t>Les urgences tout de suite</a:t>
            </a:r>
            <a:endParaRPr lang="en-US" sz="1600" dirty="0"/>
          </a:p>
          <a:p>
            <a:pPr indent="0" marL="0">
              <a:buNone/>
            </a:pPr>
            <a:r>
              <a:rPr lang="en-US" sz="1400" dirty="0">
                <a:solidFill>
                  <a:schemeClr val="accent3"/>
                </a:solidFill>
              </a:rPr>
              <a:t>Agent, superviseur, Admin Entreprise et Makor prévenus aussitôt.</a:t>
            </a:r>
            <a:endParaRPr lang="en-US" sz="1600" dirty="0"/>
          </a:p>
        </p:txBody>
      </p:sp>
      <p:sp>
        <p:nvSpPr>
          <p:cNvPr id="25" name="Slide Number Placeholder 0"/>
          <p:cNvSpPr>
            <a:spLocks noGrp="1"/>
          </p:cNvSpPr>
          <p:nvPr>
            <p:ph type="sldNum" sz="quarter" idx="4294967295"/>
          </p:nvPr>
        </p:nvSpPr>
        <p:spPr>
          <a:xfrm>
            <a:off x="11183112" y="6446520"/>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548640" y="1600200"/>
            <a:ext cx="2743200" cy="914400"/>
          </a:xfrm>
          <a:prstGeom prst="rect">
            <a:avLst/>
          </a:prstGeom>
          <a:noFill/>
          <a:ln/>
        </p:spPr>
        <p:txBody>
          <a:bodyPr wrap="square" lIns="0" tIns="0" rIns="0" bIns="0" rtlCol="0" anchor="t"/>
          <a:lstStyle/>
          <a:p>
            <a:pPr indent="0" marL="0">
              <a:buNone/>
            </a:pPr>
            <a:r>
              <a:rPr lang="en-US" sz="6000" b="1" dirty="0">
                <a:solidFill>
                  <a:schemeClr val="accent2"/>
                </a:solidFill>
              </a:rPr>
              <a:t>03</a:t>
            </a:r>
            <a:endParaRPr lang="en-US" sz="6000" dirty="0"/>
          </a:p>
        </p:txBody>
      </p:sp>
      <p:sp>
        <p:nvSpPr>
          <p:cNvPr id="3" name="Text 0"/>
          <p:cNvSpPr/>
          <p:nvPr>
            <p:ph idx="101" type="title" hasCustomPrompt="1"/>
          </p:nvPr>
        </p:nvSpPr>
        <p:spPr>
          <a:xfrm>
            <a:off x="548640" y="2560320"/>
            <a:ext cx="5486400" cy="1325880"/>
          </a:xfrm>
          <a:prstGeom prst="rect">
            <a:avLst/>
          </a:prstGeom>
          <a:noFill/>
          <a:ln/>
        </p:spPr>
        <p:txBody>
          <a:bodyPr wrap="square" lIns="0" tIns="0" rIns="0" bIns="0" rtlCol="0" anchor="t"/>
          <a:lstStyle/>
          <a:p>
            <a:pPr algn="l" indent="0" marL="0">
              <a:buNone/>
            </a:pPr>
            <a:r>
              <a:rPr lang="en-US" sz="4000" b="1" dirty="0">
                <a:solidFill>
                  <a:schemeClr val="bg1"/>
                </a:solidFill>
              </a:rPr>
              <a:t>Le pilotage</a:t>
            </a:r>
            <a:endParaRPr lang="en-US" sz="4000" dirty="0"/>
          </a:p>
        </p:txBody>
      </p:sp>
      <p:sp>
        <p:nvSpPr>
          <p:cNvPr id="4" name="Text 0"/>
          <p:cNvSpPr/>
          <p:nvPr>
            <p:ph idx="102" type="body" hasCustomPrompt="1"/>
          </p:nvPr>
        </p:nvSpPr>
        <p:spPr>
          <a:xfrm>
            <a:off x="548640" y="4069080"/>
            <a:ext cx="5029200" cy="1371600"/>
          </a:xfrm>
          <a:prstGeom prst="rect">
            <a:avLst/>
          </a:prstGeom>
          <a:noFill/>
          <a:ln/>
        </p:spPr>
        <p:txBody>
          <a:bodyPr wrap="square" lIns="0" tIns="0" rIns="0" bIns="0" rtlCol="0" anchor="t"/>
          <a:lstStyle/>
          <a:p>
            <a:pPr algn="l" indent="0" marL="0">
              <a:buNone/>
            </a:pPr>
            <a:r>
              <a:rPr lang="en-US" sz="1800" dirty="0">
                <a:solidFill>
                  <a:schemeClr val="bg2"/>
                </a:solidFill>
              </a:rPr>
              <a:t>Délais, qualité et satisfaction en temps réel, agence par agence, pour l'équipe et la direction.</a:t>
            </a:r>
            <a:endParaRPr lang="en-US" sz="1800" dirty="0"/>
          </a:p>
        </p:txBody>
      </p:sp>
      <p:pic>
        <p:nvPicPr>
          <p:cNvPr id="6" name="Image 0" descr="Tableau de bord">    </p:cNvPr>
          <p:cNvPicPr>
            <a:picLocks noChangeAspect="1"/>
          </p:cNvPicPr>
          <p:nvPr/>
        </p:nvPicPr>
        <p:blipFill>
          <a:blip r:embed="rId1"/>
          <a:stretch>
            <a:fillRect/>
          </a:stretch>
        </p:blipFill>
        <p:spPr>
          <a:xfrm>
            <a:off x="6181919" y="878399"/>
            <a:ext cx="7204323" cy="4846658"/>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LE PILOTAGE · TABLEAU DE BORD</a:t>
            </a:r>
            <a:endParaRPr lang="en-US" sz="1200" dirty="0"/>
          </a:p>
        </p:txBody>
      </p:sp>
      <p:sp>
        <p:nvSpPr>
          <p:cNvPr id="3" name="Text 0"/>
          <p:cNvSpPr/>
          <p:nvPr>
            <p:ph idx="101" type="title" hasCustomPrompt="1"/>
          </p:nvPr>
        </p:nvSpPr>
        <p:spPr>
          <a:xfrm>
            <a:off x="548640" y="603504"/>
            <a:ext cx="11091672" cy="685800"/>
          </a:xfrm>
          <a:prstGeom prst="rect">
            <a:avLst/>
          </a:prstGeom>
          <a:noFill/>
          <a:ln/>
        </p:spPr>
        <p:txBody>
          <a:bodyPr wrap="square" lIns="0" tIns="0" rIns="0" bIns="0" rtlCol="0" anchor="t"/>
          <a:lstStyle/>
          <a:p>
            <a:pPr algn="l" indent="0" marL="0">
              <a:buNone/>
            </a:pPr>
            <a:r>
              <a:rPr lang="en-US" sz="3600" b="1" dirty="0">
                <a:solidFill>
                  <a:schemeClr val="tx1"/>
                </a:solidFill>
              </a:rPr>
              <a:t>Le tableau de bord, en temps réel</a:t>
            </a:r>
            <a:endParaRPr lang="en-US" sz="3600" dirty="0"/>
          </a:p>
        </p:txBody>
      </p:sp>
      <p:pic>
        <p:nvPicPr>
          <p:cNvPr id="5" name="Image 0" descr="Tableau de bord du superviseur, 30 derniers jours">    </p:cNvPr>
          <p:cNvPicPr>
            <a:picLocks noChangeAspect="1"/>
          </p:cNvPicPr>
          <p:nvPr/>
        </p:nvPicPr>
        <p:blipFill>
          <a:blip r:embed="rId1"/>
          <a:stretch>
            <a:fillRect/>
          </a:stretch>
        </p:blipFill>
        <p:spPr>
          <a:xfrm>
            <a:off x="312012" y="1299564"/>
            <a:ext cx="7788457" cy="5239630"/>
          </a:xfrm>
          <a:prstGeom prst="rect">
            <a:avLst/>
          </a:prstGeom>
        </p:spPr>
      </p:pic>
      <p:sp>
        <p:nvSpPr>
          <p:cNvPr id="6" name="Indicateur SLA respecté"/>
          <p:cNvSpPr/>
          <p:nvPr/>
        </p:nvSpPr>
        <p:spPr>
          <a:xfrm>
            <a:off x="8275320" y="1572768"/>
            <a:ext cx="1592428" cy="1344168"/>
          </a:xfrm>
          <a:prstGeom prst="roundRect">
            <a:avLst>
              <a:gd name="adj" fmla="val 8163"/>
            </a:avLst>
          </a:prstGeom>
          <a:solidFill>
            <a:schemeClr val="bg2"/>
          </a:solidFill>
          <a:ln/>
        </p:spPr>
      </p:sp>
      <p:sp>
        <p:nvSpPr>
          <p:cNvPr id="7" name="Text 3"/>
          <p:cNvSpPr txBox="1"/>
          <p:nvPr/>
        </p:nvSpPr>
        <p:spPr>
          <a:xfrm>
            <a:off x="8439912" y="1700784"/>
            <a:ext cx="1318108" cy="603504"/>
          </a:xfrm>
          <a:prstGeom prst="rect">
            <a:avLst/>
          </a:prstGeom>
          <a:noFill/>
          <a:ln/>
        </p:spPr>
        <p:txBody>
          <a:bodyPr wrap="square" lIns="0" tIns="0" rIns="0" bIns="0" rtlCol="0" anchor="ctr"/>
          <a:lstStyle/>
          <a:p>
            <a:pPr indent="0" marL="0">
              <a:buNone/>
            </a:pPr>
            <a:r>
              <a:rPr lang="en-US" sz="3400" b="1" dirty="0">
                <a:solidFill>
                  <a:schemeClr val="accent1"/>
                </a:solidFill>
              </a:rPr>
              <a:t>92 %</a:t>
            </a:r>
            <a:endParaRPr lang="en-US" sz="3400" dirty="0"/>
          </a:p>
        </p:txBody>
      </p:sp>
      <p:sp>
        <p:nvSpPr>
          <p:cNvPr id="8" name="Text 4"/>
          <p:cNvSpPr txBox="1"/>
          <p:nvPr/>
        </p:nvSpPr>
        <p:spPr>
          <a:xfrm>
            <a:off x="8439912" y="2304288"/>
            <a:ext cx="1318108" cy="548640"/>
          </a:xfrm>
          <a:prstGeom prst="rect">
            <a:avLst/>
          </a:prstGeom>
          <a:noFill/>
          <a:ln/>
        </p:spPr>
        <p:txBody>
          <a:bodyPr wrap="square" lIns="0" tIns="0" rIns="0" bIns="0" rtlCol="0" anchor="t"/>
          <a:lstStyle/>
          <a:p>
            <a:pPr indent="0" marL="0">
              <a:buNone/>
            </a:pPr>
            <a:r>
              <a:rPr lang="en-US" sz="1300" dirty="0">
                <a:solidFill>
                  <a:schemeClr val="accent3"/>
                </a:solidFill>
              </a:rPr>
              <a:t>SLA respecté</a:t>
            </a:r>
            <a:endParaRPr lang="en-US" sz="1300" dirty="0"/>
          </a:p>
        </p:txBody>
      </p:sp>
      <p:sp>
        <p:nvSpPr>
          <p:cNvPr id="9" name="Indicateur première réponse, en heures ouvrées"/>
          <p:cNvSpPr/>
          <p:nvPr/>
        </p:nvSpPr>
        <p:spPr>
          <a:xfrm>
            <a:off x="10050628" y="1572768"/>
            <a:ext cx="1592428" cy="1344168"/>
          </a:xfrm>
          <a:prstGeom prst="roundRect">
            <a:avLst>
              <a:gd name="adj" fmla="val 8163"/>
            </a:avLst>
          </a:prstGeom>
          <a:solidFill>
            <a:schemeClr val="bg2"/>
          </a:solidFill>
          <a:ln/>
        </p:spPr>
      </p:sp>
      <p:sp>
        <p:nvSpPr>
          <p:cNvPr id="10" name="Text 6"/>
          <p:cNvSpPr txBox="1"/>
          <p:nvPr/>
        </p:nvSpPr>
        <p:spPr>
          <a:xfrm>
            <a:off x="10215220" y="1700784"/>
            <a:ext cx="1318108" cy="603504"/>
          </a:xfrm>
          <a:prstGeom prst="rect">
            <a:avLst/>
          </a:prstGeom>
          <a:noFill/>
          <a:ln/>
        </p:spPr>
        <p:txBody>
          <a:bodyPr wrap="square" lIns="0" tIns="0" rIns="0" bIns="0" rtlCol="0" anchor="ctr"/>
          <a:lstStyle/>
          <a:p>
            <a:pPr indent="0" marL="0">
              <a:buNone/>
            </a:pPr>
            <a:r>
              <a:rPr lang="en-US" sz="3400" b="1" dirty="0">
                <a:solidFill>
                  <a:schemeClr val="accent1"/>
                </a:solidFill>
              </a:rPr>
              <a:t>1 h 51</a:t>
            </a:r>
            <a:endParaRPr lang="en-US" sz="3400" dirty="0"/>
          </a:p>
        </p:txBody>
      </p:sp>
      <p:sp>
        <p:nvSpPr>
          <p:cNvPr id="11" name="Text 7"/>
          <p:cNvSpPr txBox="1"/>
          <p:nvPr/>
        </p:nvSpPr>
        <p:spPr>
          <a:xfrm>
            <a:off x="10215220" y="2304288"/>
            <a:ext cx="1318108" cy="548640"/>
          </a:xfrm>
          <a:prstGeom prst="rect">
            <a:avLst/>
          </a:prstGeom>
          <a:noFill/>
          <a:ln/>
        </p:spPr>
        <p:txBody>
          <a:bodyPr wrap="square" lIns="0" tIns="0" rIns="0" bIns="0" rtlCol="0" anchor="t"/>
          <a:lstStyle/>
          <a:p>
            <a:pPr indent="0" marL="0">
              <a:buNone/>
            </a:pPr>
            <a:r>
              <a:rPr lang="en-US" sz="1300" dirty="0">
                <a:solidFill>
                  <a:schemeClr val="accent3"/>
                </a:solidFill>
              </a:rPr>
              <a:t>première réponse, en heures ouvrées</a:t>
            </a:r>
            <a:endParaRPr lang="en-US" sz="1300" dirty="0"/>
          </a:p>
        </p:txBody>
      </p:sp>
      <p:sp>
        <p:nvSpPr>
          <p:cNvPr id="12" name="Indicateur résolues au premier contact"/>
          <p:cNvSpPr/>
          <p:nvPr/>
        </p:nvSpPr>
        <p:spPr>
          <a:xfrm>
            <a:off x="8275320" y="3054096"/>
            <a:ext cx="1592428" cy="1344168"/>
          </a:xfrm>
          <a:prstGeom prst="roundRect">
            <a:avLst>
              <a:gd name="adj" fmla="val 8163"/>
            </a:avLst>
          </a:prstGeom>
          <a:solidFill>
            <a:schemeClr val="bg2"/>
          </a:solidFill>
          <a:ln/>
        </p:spPr>
      </p:sp>
      <p:sp>
        <p:nvSpPr>
          <p:cNvPr id="13" name="Text 9"/>
          <p:cNvSpPr txBox="1"/>
          <p:nvPr/>
        </p:nvSpPr>
        <p:spPr>
          <a:xfrm>
            <a:off x="8439912" y="3182112"/>
            <a:ext cx="1318108" cy="603504"/>
          </a:xfrm>
          <a:prstGeom prst="rect">
            <a:avLst/>
          </a:prstGeom>
          <a:noFill/>
          <a:ln/>
        </p:spPr>
        <p:txBody>
          <a:bodyPr wrap="square" lIns="0" tIns="0" rIns="0" bIns="0" rtlCol="0" anchor="ctr"/>
          <a:lstStyle/>
          <a:p>
            <a:pPr indent="0" marL="0">
              <a:buNone/>
            </a:pPr>
            <a:r>
              <a:rPr lang="en-US" sz="3400" b="1" dirty="0">
                <a:solidFill>
                  <a:schemeClr val="accent1"/>
                </a:solidFill>
              </a:rPr>
              <a:t>72 %</a:t>
            </a:r>
            <a:endParaRPr lang="en-US" sz="3400" dirty="0"/>
          </a:p>
        </p:txBody>
      </p:sp>
      <p:sp>
        <p:nvSpPr>
          <p:cNvPr id="14" name="Text 10"/>
          <p:cNvSpPr txBox="1"/>
          <p:nvPr/>
        </p:nvSpPr>
        <p:spPr>
          <a:xfrm>
            <a:off x="8439912" y="3785616"/>
            <a:ext cx="1318108" cy="548640"/>
          </a:xfrm>
          <a:prstGeom prst="rect">
            <a:avLst/>
          </a:prstGeom>
          <a:noFill/>
          <a:ln/>
        </p:spPr>
        <p:txBody>
          <a:bodyPr wrap="square" lIns="0" tIns="0" rIns="0" bIns="0" rtlCol="0" anchor="t"/>
          <a:lstStyle/>
          <a:p>
            <a:pPr indent="0" marL="0">
              <a:buNone/>
            </a:pPr>
            <a:r>
              <a:rPr lang="en-US" sz="1300" dirty="0">
                <a:solidFill>
                  <a:schemeClr val="accent3"/>
                </a:solidFill>
              </a:rPr>
              <a:t>résolues au premier contact</a:t>
            </a:r>
            <a:endParaRPr lang="en-US" sz="1300" dirty="0"/>
          </a:p>
        </p:txBody>
      </p:sp>
      <p:sp>
        <p:nvSpPr>
          <p:cNvPr id="15" name="Indicateur NPS des clients"/>
          <p:cNvSpPr/>
          <p:nvPr/>
        </p:nvSpPr>
        <p:spPr>
          <a:xfrm>
            <a:off x="10050628" y="3054096"/>
            <a:ext cx="1592428" cy="1344168"/>
          </a:xfrm>
          <a:prstGeom prst="roundRect">
            <a:avLst>
              <a:gd name="adj" fmla="val 8163"/>
            </a:avLst>
          </a:prstGeom>
          <a:solidFill>
            <a:schemeClr val="bg2"/>
          </a:solidFill>
          <a:ln/>
        </p:spPr>
      </p:sp>
      <p:sp>
        <p:nvSpPr>
          <p:cNvPr id="16" name="Text 12"/>
          <p:cNvSpPr txBox="1"/>
          <p:nvPr/>
        </p:nvSpPr>
        <p:spPr>
          <a:xfrm>
            <a:off x="10215220" y="3182112"/>
            <a:ext cx="1318108" cy="603504"/>
          </a:xfrm>
          <a:prstGeom prst="rect">
            <a:avLst/>
          </a:prstGeom>
          <a:noFill/>
          <a:ln/>
        </p:spPr>
        <p:txBody>
          <a:bodyPr wrap="square" lIns="0" tIns="0" rIns="0" bIns="0" rtlCol="0" anchor="ctr"/>
          <a:lstStyle/>
          <a:p>
            <a:pPr indent="0" marL="0">
              <a:buNone/>
            </a:pPr>
            <a:r>
              <a:rPr lang="en-US" sz="3400" b="1" dirty="0">
                <a:solidFill>
                  <a:schemeClr val="accent1"/>
                </a:solidFill>
              </a:rPr>
              <a:t>+49</a:t>
            </a:r>
            <a:endParaRPr lang="en-US" sz="3400" dirty="0"/>
          </a:p>
        </p:txBody>
      </p:sp>
      <p:sp>
        <p:nvSpPr>
          <p:cNvPr id="17" name="Text 13"/>
          <p:cNvSpPr txBox="1"/>
          <p:nvPr/>
        </p:nvSpPr>
        <p:spPr>
          <a:xfrm>
            <a:off x="10215220" y="3785616"/>
            <a:ext cx="1318108" cy="548640"/>
          </a:xfrm>
          <a:prstGeom prst="rect">
            <a:avLst/>
          </a:prstGeom>
          <a:noFill/>
          <a:ln/>
        </p:spPr>
        <p:txBody>
          <a:bodyPr wrap="square" lIns="0" tIns="0" rIns="0" bIns="0" rtlCol="0" anchor="t"/>
          <a:lstStyle/>
          <a:p>
            <a:pPr indent="0" marL="0">
              <a:buNone/>
            </a:pPr>
            <a:r>
              <a:rPr lang="en-US" sz="1300" dirty="0">
                <a:solidFill>
                  <a:schemeClr val="accent3"/>
                </a:solidFill>
              </a:rPr>
              <a:t>NPS des clients</a:t>
            </a:r>
            <a:endParaRPr lang="en-US" sz="1300" dirty="0"/>
          </a:p>
        </p:txBody>
      </p:sp>
      <p:sp>
        <p:nvSpPr>
          <p:cNvPr id="18" name="Rond LuSlidersHorizontal"/>
          <p:cNvSpPr/>
          <p:nvPr/>
        </p:nvSpPr>
        <p:spPr>
          <a:xfrm>
            <a:off x="8275320" y="4626864"/>
            <a:ext cx="384048" cy="384048"/>
          </a:xfrm>
          <a:prstGeom prst="ellipse">
            <a:avLst/>
          </a:prstGeom>
          <a:solidFill>
            <a:schemeClr val="accent4"/>
          </a:solidFill>
          <a:ln/>
        </p:spPr>
      </p:sp>
      <p:pic>
        <p:nvPicPr>
          <p:cNvPr id="19" name="Image 1" descr="preencoded.png">    </p:cNvPr>
          <p:cNvPicPr>
            <a:picLocks noChangeAspect="1"/>
          </p:cNvPicPr>
          <p:nvPr/>
        </p:nvPicPr>
        <p:blipFill>
          <a:blip r:embed="rId2"/>
          <a:stretch>
            <a:fillRect/>
          </a:stretch>
        </p:blipFill>
        <p:spPr>
          <a:xfrm>
            <a:off x="8363651" y="4715195"/>
            <a:ext cx="207386" cy="207386"/>
          </a:xfrm>
          <a:prstGeom prst="rect">
            <a:avLst/>
          </a:prstGeom>
        </p:spPr>
      </p:pic>
      <p:sp>
        <p:nvSpPr>
          <p:cNvPr id="20" name="Text 15"/>
          <p:cNvSpPr txBox="1"/>
          <p:nvPr/>
        </p:nvSpPr>
        <p:spPr>
          <a:xfrm>
            <a:off x="8805672" y="4645152"/>
            <a:ext cx="2837383" cy="780288"/>
          </a:xfrm>
          <a:prstGeom prst="rect">
            <a:avLst/>
          </a:prstGeom>
          <a:noFill/>
          <a:ln/>
        </p:spPr>
        <p:txBody>
          <a:bodyPr wrap="square" lIns="0" tIns="0" rIns="0" bIns="0" rtlCol="0" anchor="t"/>
          <a:lstStyle/>
          <a:p>
            <a:pPr indent="0" marL="0">
              <a:spcAft>
                <a:spcPts val="200"/>
              </a:spcAft>
              <a:buNone/>
            </a:pPr>
            <a:r>
              <a:rPr lang="en-US" sz="1600" b="1" dirty="0">
                <a:solidFill>
                  <a:schemeClr val="tx1"/>
                </a:solidFill>
              </a:rPr>
              <a:t>Filtrer et exporter</a:t>
            </a:r>
            <a:endParaRPr lang="en-US" sz="1600" dirty="0"/>
          </a:p>
          <a:p>
            <a:pPr indent="0" marL="0">
              <a:buNone/>
            </a:pPr>
            <a:r>
              <a:rPr lang="en-US" sz="1400" dirty="0">
                <a:solidFill>
                  <a:schemeClr val="accent3"/>
                </a:solidFill>
              </a:rPr>
              <a:t>Période, agence, catégorie, canal ; export CSV.</a:t>
            </a:r>
            <a:endParaRPr lang="en-US" sz="1600" dirty="0"/>
          </a:p>
        </p:txBody>
      </p:sp>
      <p:sp>
        <p:nvSpPr>
          <p:cNvPr id="21" name="Text 16"/>
          <p:cNvSpPr txBox="1"/>
          <p:nvPr/>
        </p:nvSpPr>
        <p:spPr>
          <a:xfrm>
            <a:off x="8275320" y="5897880"/>
            <a:ext cx="3367735" cy="274320"/>
          </a:xfrm>
          <a:prstGeom prst="rect">
            <a:avLst/>
          </a:prstGeom>
          <a:noFill/>
          <a:ln/>
        </p:spPr>
        <p:txBody>
          <a:bodyPr wrap="square" lIns="0" tIns="0" rIns="0" bIns="0" rtlCol="0" anchor="ctr"/>
          <a:lstStyle/>
          <a:p>
            <a:pPr indent="0" marL="0">
              <a:buNone/>
            </a:pPr>
            <a:r>
              <a:rPr lang="en-US" sz="1200" i="1" dirty="0">
                <a:solidFill>
                  <a:schemeClr val="accent3"/>
                </a:solidFill>
              </a:rPr>
              <a:t>Jeu de démonstration, 30 derniers jours.</a:t>
            </a:r>
            <a:endParaRPr lang="en-US" sz="1200" dirty="0"/>
          </a:p>
        </p:txBody>
      </p:sp>
      <p:sp>
        <p:nvSpPr>
          <p:cNvPr id="25" name="Slide Number Placeholder 0"/>
          <p:cNvSpPr>
            <a:spLocks noGrp="1"/>
          </p:cNvSpPr>
          <p:nvPr>
            <p:ph type="sldNum" sz="quarter" idx="4294967295"/>
          </p:nvPr>
        </p:nvSpPr>
        <p:spPr>
          <a:xfrm>
            <a:off x="11183112" y="6446520"/>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LE PILOTAGE · SATISFACTION</a:t>
            </a:r>
            <a:endParaRPr lang="en-US" sz="1200" dirty="0"/>
          </a:p>
        </p:txBody>
      </p:sp>
      <p:sp>
        <p:nvSpPr>
          <p:cNvPr id="3" name="Text 0"/>
          <p:cNvSpPr/>
          <p:nvPr>
            <p:ph idx="101" type="title" hasCustomPrompt="1"/>
          </p:nvPr>
        </p:nvSpPr>
        <p:spPr>
          <a:xfrm>
            <a:off x="548640" y="603504"/>
            <a:ext cx="11091672" cy="685800"/>
          </a:xfrm>
          <a:prstGeom prst="rect">
            <a:avLst/>
          </a:prstGeom>
          <a:noFill/>
          <a:ln/>
        </p:spPr>
        <p:txBody>
          <a:bodyPr wrap="square" lIns="0" tIns="0" rIns="0" bIns="0" rtlCol="0" anchor="t"/>
          <a:lstStyle/>
          <a:p>
            <a:pPr algn="l" indent="0" marL="0">
              <a:buNone/>
            </a:pPr>
            <a:r>
              <a:rPr lang="en-US" sz="3600" b="1" dirty="0">
                <a:solidFill>
                  <a:schemeClr val="tx1"/>
                </a:solidFill>
              </a:rPr>
              <a:t>La satisfaction mesurée, agent par agent</a:t>
            </a:r>
            <a:endParaRPr lang="en-US" sz="3600" dirty="0"/>
          </a:p>
        </p:txBody>
      </p:sp>
      <p:pic>
        <p:nvPicPr>
          <p:cNvPr id="5" name="Image 0" descr="Satisfaction des clients sur le tableau de bord">    </p:cNvPr>
          <p:cNvPicPr>
            <a:picLocks noChangeAspect="1"/>
          </p:cNvPicPr>
          <p:nvPr/>
        </p:nvPicPr>
        <p:blipFill>
          <a:blip r:embed="rId1"/>
          <a:stretch>
            <a:fillRect/>
          </a:stretch>
        </p:blipFill>
        <p:spPr>
          <a:xfrm>
            <a:off x="312012" y="1299564"/>
            <a:ext cx="7788457" cy="5239630"/>
          </a:xfrm>
          <a:prstGeom prst="rect">
            <a:avLst/>
          </a:prstGeom>
        </p:spPr>
      </p:pic>
      <p:sp>
        <p:nvSpPr>
          <p:cNvPr id="6" name="Rond LuSmile"/>
          <p:cNvSpPr/>
          <p:nvPr/>
        </p:nvSpPr>
        <p:spPr>
          <a:xfrm>
            <a:off x="8275320" y="1673352"/>
            <a:ext cx="384048" cy="384048"/>
          </a:xfrm>
          <a:prstGeom prst="ellipse">
            <a:avLst/>
          </a:prstGeom>
          <a:solidFill>
            <a:schemeClr val="accent4"/>
          </a:solidFill>
          <a:ln/>
        </p:spPr>
      </p:sp>
      <p:pic>
        <p:nvPicPr>
          <p:cNvPr id="7" name="Image 1" descr="preencoded.png">    </p:cNvPr>
          <p:cNvPicPr>
            <a:picLocks noChangeAspect="1"/>
          </p:cNvPicPr>
          <p:nvPr/>
        </p:nvPicPr>
        <p:blipFill>
          <a:blip r:embed="rId2"/>
          <a:stretch>
            <a:fillRect/>
          </a:stretch>
        </p:blipFill>
        <p:spPr>
          <a:xfrm>
            <a:off x="8363651" y="1761683"/>
            <a:ext cx="207386" cy="207386"/>
          </a:xfrm>
          <a:prstGeom prst="rect">
            <a:avLst/>
          </a:prstGeom>
        </p:spPr>
      </p:pic>
      <p:sp>
        <p:nvSpPr>
          <p:cNvPr id="8" name="Text 3"/>
          <p:cNvSpPr txBox="1"/>
          <p:nvPr/>
        </p:nvSpPr>
        <p:spPr>
          <a:xfrm>
            <a:off x="8805672" y="1691640"/>
            <a:ext cx="2837383" cy="993648"/>
          </a:xfrm>
          <a:prstGeom prst="rect">
            <a:avLst/>
          </a:prstGeom>
          <a:noFill/>
          <a:ln/>
        </p:spPr>
        <p:txBody>
          <a:bodyPr wrap="square" lIns="0" tIns="0" rIns="0" bIns="0" rtlCol="0" anchor="t"/>
          <a:lstStyle/>
          <a:p>
            <a:pPr indent="0" marL="0">
              <a:spcAft>
                <a:spcPts val="200"/>
              </a:spcAft>
              <a:buNone/>
            </a:pPr>
            <a:r>
              <a:rPr lang="en-US" sz="1600" b="1" dirty="0">
                <a:solidFill>
                  <a:schemeClr val="tx1"/>
                </a:solidFill>
              </a:rPr>
              <a:t>CSAT, note et NPS</a:t>
            </a:r>
            <a:endParaRPr lang="en-US" sz="1600" dirty="0"/>
          </a:p>
          <a:p>
            <a:pPr indent="0" marL="0">
              <a:buNone/>
            </a:pPr>
            <a:r>
              <a:rPr lang="en-US" sz="1400" dirty="0">
                <a:solidFill>
                  <a:schemeClr val="accent3"/>
                </a:solidFill>
              </a:rPr>
              <a:t>Taux de réponse, clients satisfaits (4 et 5 sur 5), note moyenne, NPS.</a:t>
            </a:r>
            <a:endParaRPr lang="en-US" sz="1600" dirty="0"/>
          </a:p>
        </p:txBody>
      </p:sp>
      <p:sp>
        <p:nvSpPr>
          <p:cNvPr id="9" name="Rond LuUsers"/>
          <p:cNvSpPr/>
          <p:nvPr/>
        </p:nvSpPr>
        <p:spPr>
          <a:xfrm>
            <a:off x="8275320" y="2959608"/>
            <a:ext cx="384048" cy="384048"/>
          </a:xfrm>
          <a:prstGeom prst="ellipse">
            <a:avLst/>
          </a:prstGeom>
          <a:solidFill>
            <a:schemeClr val="accent4"/>
          </a:solidFill>
          <a:ln/>
        </p:spPr>
      </p:sp>
      <p:pic>
        <p:nvPicPr>
          <p:cNvPr id="10" name="Image 2" descr="preencoded.png">    </p:cNvPr>
          <p:cNvPicPr>
            <a:picLocks noChangeAspect="1"/>
          </p:cNvPicPr>
          <p:nvPr/>
        </p:nvPicPr>
        <p:blipFill>
          <a:blip r:embed="rId3"/>
          <a:stretch>
            <a:fillRect/>
          </a:stretch>
        </p:blipFill>
        <p:spPr>
          <a:xfrm>
            <a:off x="8363651" y="3047939"/>
            <a:ext cx="207386" cy="207386"/>
          </a:xfrm>
          <a:prstGeom prst="rect">
            <a:avLst/>
          </a:prstGeom>
        </p:spPr>
      </p:pic>
      <p:sp>
        <p:nvSpPr>
          <p:cNvPr id="11" name="Text 5"/>
          <p:cNvSpPr txBox="1"/>
          <p:nvPr/>
        </p:nvSpPr>
        <p:spPr>
          <a:xfrm>
            <a:off x="8805672" y="2977896"/>
            <a:ext cx="2837383" cy="993648"/>
          </a:xfrm>
          <a:prstGeom prst="rect">
            <a:avLst/>
          </a:prstGeom>
          <a:noFill/>
          <a:ln/>
        </p:spPr>
        <p:txBody>
          <a:bodyPr wrap="square" lIns="0" tIns="0" rIns="0" bIns="0" rtlCol="0" anchor="t"/>
          <a:lstStyle/>
          <a:p>
            <a:pPr indent="0" marL="0">
              <a:spcAft>
                <a:spcPts val="200"/>
              </a:spcAft>
              <a:buNone/>
            </a:pPr>
            <a:r>
              <a:rPr lang="en-US" sz="1600" b="1" dirty="0">
                <a:solidFill>
                  <a:schemeClr val="tx1"/>
                </a:solidFill>
              </a:rPr>
              <a:t>Par agent</a:t>
            </a:r>
            <a:endParaRPr lang="en-US" sz="1600" dirty="0"/>
          </a:p>
          <a:p>
            <a:pPr indent="0" marL="0">
              <a:buNone/>
            </a:pPr>
            <a:r>
              <a:rPr lang="en-US" sz="1400" dirty="0">
                <a:solidFill>
                  <a:schemeClr val="accent3"/>
                </a:solidFill>
              </a:rPr>
              <a:t>Réponses, satisfaits et NPS de chaque agent, pour accompagner l'équipe.</a:t>
            </a:r>
            <a:endParaRPr lang="en-US" sz="1600" dirty="0"/>
          </a:p>
        </p:txBody>
      </p:sp>
      <p:sp>
        <p:nvSpPr>
          <p:cNvPr id="12" name="Rond LuMessageSquareText"/>
          <p:cNvSpPr/>
          <p:nvPr/>
        </p:nvSpPr>
        <p:spPr>
          <a:xfrm>
            <a:off x="8275320" y="4245864"/>
            <a:ext cx="384048" cy="384048"/>
          </a:xfrm>
          <a:prstGeom prst="ellipse">
            <a:avLst/>
          </a:prstGeom>
          <a:solidFill>
            <a:schemeClr val="accent4"/>
          </a:solidFill>
          <a:ln/>
        </p:spPr>
      </p:sp>
      <p:pic>
        <p:nvPicPr>
          <p:cNvPr id="13" name="Image 3" descr="preencoded.png">    </p:cNvPr>
          <p:cNvPicPr>
            <a:picLocks noChangeAspect="1"/>
          </p:cNvPicPr>
          <p:nvPr/>
        </p:nvPicPr>
        <p:blipFill>
          <a:blip r:embed="rId4"/>
          <a:stretch>
            <a:fillRect/>
          </a:stretch>
        </p:blipFill>
        <p:spPr>
          <a:xfrm>
            <a:off x="8363651" y="4334195"/>
            <a:ext cx="207386" cy="207386"/>
          </a:xfrm>
          <a:prstGeom prst="rect">
            <a:avLst/>
          </a:prstGeom>
        </p:spPr>
      </p:pic>
      <p:sp>
        <p:nvSpPr>
          <p:cNvPr id="14" name="Text 7"/>
          <p:cNvSpPr txBox="1"/>
          <p:nvPr/>
        </p:nvSpPr>
        <p:spPr>
          <a:xfrm>
            <a:off x="8805672" y="4264152"/>
            <a:ext cx="2837383" cy="780288"/>
          </a:xfrm>
          <a:prstGeom prst="rect">
            <a:avLst/>
          </a:prstGeom>
          <a:noFill/>
          <a:ln/>
        </p:spPr>
        <p:txBody>
          <a:bodyPr wrap="square" lIns="0" tIns="0" rIns="0" bIns="0" rtlCol="0" anchor="t"/>
          <a:lstStyle/>
          <a:p>
            <a:pPr indent="0" marL="0">
              <a:spcAft>
                <a:spcPts val="200"/>
              </a:spcAft>
              <a:buNone/>
            </a:pPr>
            <a:r>
              <a:rPr lang="en-US" sz="1600" b="1" dirty="0">
                <a:solidFill>
                  <a:schemeClr val="tx1"/>
                </a:solidFill>
              </a:rPr>
              <a:t>Les commentaires</a:t>
            </a:r>
            <a:endParaRPr lang="en-US" sz="1600" dirty="0"/>
          </a:p>
          <a:p>
            <a:pPr indent="0" marL="0">
              <a:buNone/>
            </a:pPr>
            <a:r>
              <a:rPr lang="en-US" sz="1400" dirty="0">
                <a:solidFill>
                  <a:schemeClr val="accent3"/>
                </a:solidFill>
              </a:rPr>
              <a:t>Les derniers avis, reliés à leur réclamation.</a:t>
            </a:r>
            <a:endParaRPr lang="en-US" sz="1600" dirty="0"/>
          </a:p>
        </p:txBody>
      </p:sp>
      <p:sp>
        <p:nvSpPr>
          <p:cNvPr id="15" name="Rond LuChartColumn"/>
          <p:cNvSpPr/>
          <p:nvPr/>
        </p:nvSpPr>
        <p:spPr>
          <a:xfrm>
            <a:off x="8275320" y="5318760"/>
            <a:ext cx="384048" cy="384048"/>
          </a:xfrm>
          <a:prstGeom prst="ellipse">
            <a:avLst/>
          </a:prstGeom>
          <a:solidFill>
            <a:schemeClr val="accent4"/>
          </a:solidFill>
          <a:ln/>
        </p:spPr>
      </p:sp>
      <p:pic>
        <p:nvPicPr>
          <p:cNvPr id="16" name="Image 4" descr="preencoded.png">    </p:cNvPr>
          <p:cNvPicPr>
            <a:picLocks noChangeAspect="1"/>
          </p:cNvPicPr>
          <p:nvPr/>
        </p:nvPicPr>
        <p:blipFill>
          <a:blip r:embed="rId5"/>
          <a:stretch>
            <a:fillRect/>
          </a:stretch>
        </p:blipFill>
        <p:spPr>
          <a:xfrm>
            <a:off x="8363651" y="5407091"/>
            <a:ext cx="207386" cy="207386"/>
          </a:xfrm>
          <a:prstGeom prst="rect">
            <a:avLst/>
          </a:prstGeom>
        </p:spPr>
      </p:pic>
      <p:sp>
        <p:nvSpPr>
          <p:cNvPr id="17" name="Text 9"/>
          <p:cNvSpPr txBox="1"/>
          <p:nvPr/>
        </p:nvSpPr>
        <p:spPr>
          <a:xfrm>
            <a:off x="8805672" y="5337048"/>
            <a:ext cx="2837383" cy="780288"/>
          </a:xfrm>
          <a:prstGeom prst="rect">
            <a:avLst/>
          </a:prstGeom>
          <a:noFill/>
          <a:ln/>
        </p:spPr>
        <p:txBody>
          <a:bodyPr wrap="square" lIns="0" tIns="0" rIns="0" bIns="0" rtlCol="0" anchor="t"/>
          <a:lstStyle/>
          <a:p>
            <a:pPr indent="0" marL="0">
              <a:spcAft>
                <a:spcPts val="200"/>
              </a:spcAft>
              <a:buNone/>
            </a:pPr>
            <a:r>
              <a:rPr lang="en-US" sz="1600" b="1" dirty="0">
                <a:solidFill>
                  <a:schemeClr val="tx1"/>
                </a:solidFill>
              </a:rPr>
              <a:t>L'évolution</a:t>
            </a:r>
            <a:endParaRPr lang="en-US" sz="1600" dirty="0"/>
          </a:p>
          <a:p>
            <a:pPr indent="0" marL="0">
              <a:buNone/>
            </a:pPr>
            <a:r>
              <a:rPr lang="en-US" sz="1400" dirty="0">
                <a:solidFill>
                  <a:schemeClr val="accent3"/>
                </a:solidFill>
              </a:rPr>
              <a:t>Réclamations déposées et résolues, jour après jour.</a:t>
            </a:r>
            <a:endParaRPr lang="en-US" sz="1600" dirty="0"/>
          </a:p>
        </p:txBody>
      </p:sp>
      <p:sp>
        <p:nvSpPr>
          <p:cNvPr id="25" name="Slide Number Placeholder 0"/>
          <p:cNvSpPr>
            <a:spLocks noGrp="1"/>
          </p:cNvSpPr>
          <p:nvPr>
            <p:ph type="sldNum" sz="quarter" idx="4294967295"/>
          </p:nvPr>
        </p:nvSpPr>
        <p:spPr>
          <a:xfrm>
            <a:off x="11183112" y="6446520"/>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LE PILOTAGE · TABLEAU DE L'AGENT</a:t>
            </a:r>
            <a:endParaRPr lang="en-US" sz="1200" dirty="0"/>
          </a:p>
        </p:txBody>
      </p:sp>
      <p:sp>
        <p:nvSpPr>
          <p:cNvPr id="3" name="Text 0"/>
          <p:cNvSpPr/>
          <p:nvPr>
            <p:ph idx="101" type="title" hasCustomPrompt="1"/>
          </p:nvPr>
        </p:nvSpPr>
        <p:spPr>
          <a:xfrm>
            <a:off x="548640" y="603504"/>
            <a:ext cx="11091672" cy="685800"/>
          </a:xfrm>
          <a:prstGeom prst="rect">
            <a:avLst/>
          </a:prstGeom>
          <a:noFill/>
          <a:ln/>
        </p:spPr>
        <p:txBody>
          <a:bodyPr wrap="square" lIns="0" tIns="0" rIns="0" bIns="0" rtlCol="0" anchor="t"/>
          <a:lstStyle/>
          <a:p>
            <a:pPr algn="l" indent="0" marL="0">
              <a:buNone/>
            </a:pPr>
            <a:r>
              <a:rPr lang="en-US" sz="3600" b="1" dirty="0">
                <a:solidFill>
                  <a:schemeClr val="tx1"/>
                </a:solidFill>
              </a:rPr>
              <a:t>Chaque agent suit ses propres chiffres</a:t>
            </a:r>
            <a:endParaRPr lang="en-US" sz="3600" dirty="0"/>
          </a:p>
        </p:txBody>
      </p:sp>
      <p:pic>
        <p:nvPicPr>
          <p:cNvPr id="5" name="Image 0" descr="Tableau de bord de l'agente">    </p:cNvPr>
          <p:cNvPicPr>
            <a:picLocks noChangeAspect="1"/>
          </p:cNvPicPr>
          <p:nvPr/>
        </p:nvPicPr>
        <p:blipFill>
          <a:blip r:embed="rId1"/>
          <a:stretch>
            <a:fillRect/>
          </a:stretch>
        </p:blipFill>
        <p:spPr>
          <a:xfrm>
            <a:off x="312012" y="1299564"/>
            <a:ext cx="7788457" cy="5239630"/>
          </a:xfrm>
          <a:prstGeom prst="rect">
            <a:avLst/>
          </a:prstGeom>
        </p:spPr>
      </p:pic>
      <p:sp>
        <p:nvSpPr>
          <p:cNvPr id="6" name="Rond LuInbox"/>
          <p:cNvSpPr/>
          <p:nvPr/>
        </p:nvSpPr>
        <p:spPr>
          <a:xfrm>
            <a:off x="8275320" y="1673352"/>
            <a:ext cx="384048" cy="384048"/>
          </a:xfrm>
          <a:prstGeom prst="ellipse">
            <a:avLst/>
          </a:prstGeom>
          <a:solidFill>
            <a:schemeClr val="accent4"/>
          </a:solidFill>
          <a:ln/>
        </p:spPr>
      </p:sp>
      <p:pic>
        <p:nvPicPr>
          <p:cNvPr id="7" name="Image 1" descr="preencoded.png">    </p:cNvPr>
          <p:cNvPicPr>
            <a:picLocks noChangeAspect="1"/>
          </p:cNvPicPr>
          <p:nvPr/>
        </p:nvPicPr>
        <p:blipFill>
          <a:blip r:embed="rId2"/>
          <a:stretch>
            <a:fillRect/>
          </a:stretch>
        </p:blipFill>
        <p:spPr>
          <a:xfrm>
            <a:off x="8363651" y="1761683"/>
            <a:ext cx="207386" cy="207386"/>
          </a:xfrm>
          <a:prstGeom prst="rect">
            <a:avLst/>
          </a:prstGeom>
        </p:spPr>
      </p:pic>
      <p:sp>
        <p:nvSpPr>
          <p:cNvPr id="8" name="Text 3"/>
          <p:cNvSpPr txBox="1"/>
          <p:nvPr/>
        </p:nvSpPr>
        <p:spPr>
          <a:xfrm>
            <a:off x="8805672" y="1691640"/>
            <a:ext cx="2837383" cy="780288"/>
          </a:xfrm>
          <a:prstGeom prst="rect">
            <a:avLst/>
          </a:prstGeom>
          <a:noFill/>
          <a:ln/>
        </p:spPr>
        <p:txBody>
          <a:bodyPr wrap="square" lIns="0" tIns="0" rIns="0" bIns="0" rtlCol="0" anchor="t"/>
          <a:lstStyle/>
          <a:p>
            <a:pPr indent="0" marL="0">
              <a:spcAft>
                <a:spcPts val="200"/>
              </a:spcAft>
              <a:buNone/>
            </a:pPr>
            <a:r>
              <a:rPr lang="en-US" sz="1600" b="1" dirty="0">
                <a:solidFill>
                  <a:schemeClr val="tx1"/>
                </a:solidFill>
              </a:rPr>
              <a:t>Sa charge, en ce moment</a:t>
            </a:r>
            <a:endParaRPr lang="en-US" sz="1600" dirty="0"/>
          </a:p>
          <a:p>
            <a:pPr indent="0" marL="0">
              <a:buNone/>
            </a:pPr>
            <a:r>
              <a:rPr lang="en-US" sz="1400" dirty="0">
                <a:solidFill>
                  <a:schemeClr val="accent3"/>
                </a:solidFill>
              </a:rPr>
              <a:t>À traiter, en attente du client, en alerte, en retard.</a:t>
            </a:r>
            <a:endParaRPr lang="en-US" sz="1600" dirty="0"/>
          </a:p>
        </p:txBody>
      </p:sp>
      <p:sp>
        <p:nvSpPr>
          <p:cNvPr id="9" name="Rond LuTimer"/>
          <p:cNvSpPr/>
          <p:nvPr/>
        </p:nvSpPr>
        <p:spPr>
          <a:xfrm>
            <a:off x="8275320" y="2746248"/>
            <a:ext cx="384048" cy="384048"/>
          </a:xfrm>
          <a:prstGeom prst="ellipse">
            <a:avLst/>
          </a:prstGeom>
          <a:solidFill>
            <a:schemeClr val="accent4"/>
          </a:solidFill>
          <a:ln/>
        </p:spPr>
      </p:sp>
      <p:pic>
        <p:nvPicPr>
          <p:cNvPr id="10" name="Image 2" descr="preencoded.png">    </p:cNvPr>
          <p:cNvPicPr>
            <a:picLocks noChangeAspect="1"/>
          </p:cNvPicPr>
          <p:nvPr/>
        </p:nvPicPr>
        <p:blipFill>
          <a:blip r:embed="rId3"/>
          <a:stretch>
            <a:fillRect/>
          </a:stretch>
        </p:blipFill>
        <p:spPr>
          <a:xfrm>
            <a:off x="8363651" y="2834579"/>
            <a:ext cx="207386" cy="207386"/>
          </a:xfrm>
          <a:prstGeom prst="rect">
            <a:avLst/>
          </a:prstGeom>
        </p:spPr>
      </p:pic>
      <p:sp>
        <p:nvSpPr>
          <p:cNvPr id="11" name="Text 5"/>
          <p:cNvSpPr txBox="1"/>
          <p:nvPr/>
        </p:nvSpPr>
        <p:spPr>
          <a:xfrm>
            <a:off x="8805672" y="2764536"/>
            <a:ext cx="2837383" cy="780288"/>
          </a:xfrm>
          <a:prstGeom prst="rect">
            <a:avLst/>
          </a:prstGeom>
          <a:noFill/>
          <a:ln/>
        </p:spPr>
        <p:txBody>
          <a:bodyPr wrap="square" lIns="0" tIns="0" rIns="0" bIns="0" rtlCol="0" anchor="t"/>
          <a:lstStyle/>
          <a:p>
            <a:pPr indent="0" marL="0">
              <a:spcAft>
                <a:spcPts val="200"/>
              </a:spcAft>
              <a:buNone/>
            </a:pPr>
            <a:r>
              <a:rPr lang="en-US" sz="1600" b="1" dirty="0">
                <a:solidFill>
                  <a:schemeClr val="tx1"/>
                </a:solidFill>
              </a:rPr>
              <a:t>Ses délais</a:t>
            </a:r>
            <a:endParaRPr lang="en-US" sz="1600" dirty="0"/>
          </a:p>
          <a:p>
            <a:pPr indent="0" marL="0">
              <a:buNone/>
            </a:pPr>
            <a:r>
              <a:rPr lang="en-US" sz="1400" dirty="0">
                <a:solidFill>
                  <a:schemeClr val="accent3"/>
                </a:solidFill>
              </a:rPr>
              <a:t>Première réponse, résolution, SLA respecté, premier contact.</a:t>
            </a:r>
            <a:endParaRPr lang="en-US" sz="1600" dirty="0"/>
          </a:p>
        </p:txBody>
      </p:sp>
      <p:sp>
        <p:nvSpPr>
          <p:cNvPr id="12" name="Rond LuSmile"/>
          <p:cNvSpPr/>
          <p:nvPr/>
        </p:nvSpPr>
        <p:spPr>
          <a:xfrm>
            <a:off x="8275320" y="3819144"/>
            <a:ext cx="384048" cy="384048"/>
          </a:xfrm>
          <a:prstGeom prst="ellipse">
            <a:avLst/>
          </a:prstGeom>
          <a:solidFill>
            <a:schemeClr val="accent4"/>
          </a:solidFill>
          <a:ln/>
        </p:spPr>
      </p:sp>
      <p:pic>
        <p:nvPicPr>
          <p:cNvPr id="13" name="Image 3" descr="preencoded.png">    </p:cNvPr>
          <p:cNvPicPr>
            <a:picLocks noChangeAspect="1"/>
          </p:cNvPicPr>
          <p:nvPr/>
        </p:nvPicPr>
        <p:blipFill>
          <a:blip r:embed="rId4"/>
          <a:stretch>
            <a:fillRect/>
          </a:stretch>
        </p:blipFill>
        <p:spPr>
          <a:xfrm>
            <a:off x="8363651" y="3907475"/>
            <a:ext cx="207386" cy="207386"/>
          </a:xfrm>
          <a:prstGeom prst="rect">
            <a:avLst/>
          </a:prstGeom>
        </p:spPr>
      </p:pic>
      <p:sp>
        <p:nvSpPr>
          <p:cNvPr id="14" name="Text 7"/>
          <p:cNvSpPr txBox="1"/>
          <p:nvPr/>
        </p:nvSpPr>
        <p:spPr>
          <a:xfrm>
            <a:off x="8805672" y="3837432"/>
            <a:ext cx="2837383" cy="780288"/>
          </a:xfrm>
          <a:prstGeom prst="rect">
            <a:avLst/>
          </a:prstGeom>
          <a:noFill/>
          <a:ln/>
        </p:spPr>
        <p:txBody>
          <a:bodyPr wrap="square" lIns="0" tIns="0" rIns="0" bIns="0" rtlCol="0" anchor="t"/>
          <a:lstStyle/>
          <a:p>
            <a:pPr indent="0" marL="0">
              <a:spcAft>
                <a:spcPts val="200"/>
              </a:spcAft>
              <a:buNone/>
            </a:pPr>
            <a:r>
              <a:rPr lang="en-US" sz="1600" b="1" dirty="0">
                <a:solidFill>
                  <a:schemeClr val="tx1"/>
                </a:solidFill>
              </a:rPr>
              <a:t>Ses avis clients</a:t>
            </a:r>
            <a:endParaRPr lang="en-US" sz="1600" dirty="0"/>
          </a:p>
          <a:p>
            <a:pPr indent="0" marL="0">
              <a:buNone/>
            </a:pPr>
            <a:r>
              <a:rPr lang="en-US" sz="1400" dirty="0">
                <a:solidFill>
                  <a:schemeClr val="accent3"/>
                </a:solidFill>
              </a:rPr>
              <a:t>Satisfaction, NPS et commentaires sur ses dossiers.</a:t>
            </a:r>
            <a:endParaRPr lang="en-US" sz="1600" dirty="0"/>
          </a:p>
        </p:txBody>
      </p:sp>
      <p:sp>
        <p:nvSpPr>
          <p:cNvPr id="15" name="Rond LuDownload"/>
          <p:cNvSpPr/>
          <p:nvPr/>
        </p:nvSpPr>
        <p:spPr>
          <a:xfrm>
            <a:off x="8275320" y="4892040"/>
            <a:ext cx="384048" cy="384048"/>
          </a:xfrm>
          <a:prstGeom prst="ellipse">
            <a:avLst/>
          </a:prstGeom>
          <a:solidFill>
            <a:schemeClr val="accent4"/>
          </a:solidFill>
          <a:ln/>
        </p:spPr>
      </p:sp>
      <p:pic>
        <p:nvPicPr>
          <p:cNvPr id="16" name="Image 4" descr="preencoded.png">    </p:cNvPr>
          <p:cNvPicPr>
            <a:picLocks noChangeAspect="1"/>
          </p:cNvPicPr>
          <p:nvPr/>
        </p:nvPicPr>
        <p:blipFill>
          <a:blip r:embed="rId5"/>
          <a:stretch>
            <a:fillRect/>
          </a:stretch>
        </p:blipFill>
        <p:spPr>
          <a:xfrm>
            <a:off x="8363651" y="4980371"/>
            <a:ext cx="207386" cy="207386"/>
          </a:xfrm>
          <a:prstGeom prst="rect">
            <a:avLst/>
          </a:prstGeom>
        </p:spPr>
      </p:pic>
      <p:sp>
        <p:nvSpPr>
          <p:cNvPr id="17" name="Text 9"/>
          <p:cNvSpPr txBox="1"/>
          <p:nvPr/>
        </p:nvSpPr>
        <p:spPr>
          <a:xfrm>
            <a:off x="8805672" y="4910328"/>
            <a:ext cx="2837383" cy="780288"/>
          </a:xfrm>
          <a:prstGeom prst="rect">
            <a:avLst/>
          </a:prstGeom>
          <a:noFill/>
          <a:ln/>
        </p:spPr>
        <p:txBody>
          <a:bodyPr wrap="square" lIns="0" tIns="0" rIns="0" bIns="0" rtlCol="0" anchor="t"/>
          <a:lstStyle/>
          <a:p>
            <a:pPr indent="0" marL="0">
              <a:spcAft>
                <a:spcPts val="200"/>
              </a:spcAft>
              <a:buNone/>
            </a:pPr>
            <a:r>
              <a:rPr lang="en-US" sz="1600" b="1" dirty="0">
                <a:solidFill>
                  <a:schemeClr val="tx1"/>
                </a:solidFill>
              </a:rPr>
              <a:t>Ses exports</a:t>
            </a:r>
            <a:endParaRPr lang="en-US" sz="1600" dirty="0"/>
          </a:p>
          <a:p>
            <a:pPr indent="0" marL="0">
              <a:buNone/>
            </a:pPr>
            <a:r>
              <a:rPr lang="en-US" sz="1400" dirty="0">
                <a:solidFill>
                  <a:schemeClr val="accent3"/>
                </a:solidFill>
              </a:rPr>
              <a:t>Ses réclamations en CSV, sur la période choisie.</a:t>
            </a:r>
            <a:endParaRPr lang="en-US" sz="1600" dirty="0"/>
          </a:p>
        </p:txBody>
      </p:sp>
      <p:sp>
        <p:nvSpPr>
          <p:cNvPr id="25" name="Slide Number Placeholder 0"/>
          <p:cNvSpPr>
            <a:spLocks noGrp="1"/>
          </p:cNvSpPr>
          <p:nvPr>
            <p:ph type="sldNum" sz="quarter" idx="4294967295"/>
          </p:nvPr>
        </p:nvSpPr>
        <p:spPr>
          <a:xfrm>
            <a:off x="11183112" y="6446520"/>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LE PILOTAGE · ACTIVITÉ DES AGENCES</a:t>
            </a:r>
            <a:endParaRPr lang="en-US" sz="1200" dirty="0"/>
          </a:p>
        </p:txBody>
      </p:sp>
      <p:sp>
        <p:nvSpPr>
          <p:cNvPr id="3" name="Text 0"/>
          <p:cNvSpPr/>
          <p:nvPr>
            <p:ph idx="101" type="title" hasCustomPrompt="1"/>
          </p:nvPr>
        </p:nvSpPr>
        <p:spPr>
          <a:xfrm>
            <a:off x="548640" y="603504"/>
            <a:ext cx="11091672" cy="685800"/>
          </a:xfrm>
          <a:prstGeom prst="rect">
            <a:avLst/>
          </a:prstGeom>
          <a:noFill/>
          <a:ln/>
        </p:spPr>
        <p:txBody>
          <a:bodyPr wrap="square" lIns="0" tIns="0" rIns="0" bIns="0" rtlCol="0" anchor="t"/>
          <a:lstStyle/>
          <a:p>
            <a:pPr algn="l" indent="0" marL="0">
              <a:buNone/>
            </a:pPr>
            <a:r>
              <a:rPr lang="en-US" sz="3600" b="1" dirty="0">
                <a:solidFill>
                  <a:schemeClr val="tx1"/>
                </a:solidFill>
              </a:rPr>
              <a:t>Chaque agence suivie, d'un coup d'œil</a:t>
            </a:r>
            <a:endParaRPr lang="en-US" sz="3600" dirty="0"/>
          </a:p>
        </p:txBody>
      </p:sp>
      <p:pic>
        <p:nvPicPr>
          <p:cNvPr id="5" name="Image 0" descr="Activité des agences, Plateau déplié">    </p:cNvPr>
          <p:cNvPicPr>
            <a:picLocks noChangeAspect="1"/>
          </p:cNvPicPr>
          <p:nvPr/>
        </p:nvPicPr>
        <p:blipFill>
          <a:blip r:embed="rId1"/>
          <a:stretch>
            <a:fillRect/>
          </a:stretch>
        </p:blipFill>
        <p:spPr>
          <a:xfrm>
            <a:off x="312012" y="1299564"/>
            <a:ext cx="7788457" cy="5239630"/>
          </a:xfrm>
          <a:prstGeom prst="rect">
            <a:avLst/>
          </a:prstGeom>
        </p:spPr>
      </p:pic>
      <p:sp>
        <p:nvSpPr>
          <p:cNvPr id="6" name="Pastille 1"/>
          <p:cNvSpPr/>
          <p:nvPr/>
        </p:nvSpPr>
        <p:spPr>
          <a:xfrm>
            <a:off x="1830862" y="2896163"/>
            <a:ext cx="329184" cy="329184"/>
          </a:xfrm>
          <a:prstGeom prst="ellipse">
            <a:avLst/>
          </a:prstGeom>
          <a:solidFill>
            <a:schemeClr val="accent2"/>
          </a:solidFill>
          <a:ln w="19050">
            <a:solidFill>
              <a:schemeClr val="bg1"/>
            </a:solidFill>
            <a:prstDash val="solid"/>
          </a:ln>
          <a:effectLst>
            <a:outerShdw sx="100000" sy="100000" kx="0" ky="0" algn="bl" rotWithShape="0" blurRad="38100" dist="12700" dir="5400000">
              <a:srgbClr val="0E1C24">
                <a:alpha val="30000"/>
              </a:srgbClr>
            </a:outerShdw>
          </a:effectLst>
        </p:spPr>
      </p:sp>
      <p:sp>
        <p:nvSpPr>
          <p:cNvPr id="7" name="Text 3"/>
          <p:cNvSpPr txBox="1"/>
          <p:nvPr/>
        </p:nvSpPr>
        <p:spPr>
          <a:xfrm>
            <a:off x="1830862" y="2896163"/>
            <a:ext cx="329184" cy="329184"/>
          </a:xfrm>
          <a:prstGeom prst="rect">
            <a:avLst/>
          </a:prstGeom>
          <a:noFill/>
          <a:ln/>
        </p:spPr>
        <p:txBody>
          <a:bodyPr wrap="square" lIns="0" tIns="0" rIns="0" bIns="0" rtlCol="0" anchor="ctr"/>
          <a:lstStyle/>
          <a:p>
            <a:pPr algn="ctr" indent="0" marL="0">
              <a:buNone/>
            </a:pPr>
            <a:r>
              <a:rPr lang="en-US" sz="1400" b="1" dirty="0">
                <a:solidFill>
                  <a:schemeClr val="tx2"/>
                </a:solidFill>
              </a:rPr>
              <a:t>1</a:t>
            </a:r>
            <a:endParaRPr lang="en-US" sz="1400" dirty="0"/>
          </a:p>
        </p:txBody>
      </p:sp>
      <p:sp>
        <p:nvSpPr>
          <p:cNvPr id="8" name="Pastille 2"/>
          <p:cNvSpPr/>
          <p:nvPr/>
        </p:nvSpPr>
        <p:spPr>
          <a:xfrm>
            <a:off x="1830862" y="3930568"/>
            <a:ext cx="329184" cy="329184"/>
          </a:xfrm>
          <a:prstGeom prst="ellipse">
            <a:avLst/>
          </a:prstGeom>
          <a:solidFill>
            <a:schemeClr val="accent2"/>
          </a:solidFill>
          <a:ln w="19050">
            <a:solidFill>
              <a:schemeClr val="bg1"/>
            </a:solidFill>
            <a:prstDash val="solid"/>
          </a:ln>
          <a:effectLst>
            <a:outerShdw sx="100000" sy="100000" kx="0" ky="0" algn="bl" rotWithShape="0" blurRad="38100" dist="12700" dir="5400000">
              <a:srgbClr val="0E1C24">
                <a:alpha val="30000"/>
              </a:srgbClr>
            </a:outerShdw>
          </a:effectLst>
        </p:spPr>
      </p:sp>
      <p:sp>
        <p:nvSpPr>
          <p:cNvPr id="9" name="Text 5"/>
          <p:cNvSpPr txBox="1"/>
          <p:nvPr/>
        </p:nvSpPr>
        <p:spPr>
          <a:xfrm>
            <a:off x="1830862" y="3930568"/>
            <a:ext cx="329184" cy="329184"/>
          </a:xfrm>
          <a:prstGeom prst="rect">
            <a:avLst/>
          </a:prstGeom>
          <a:noFill/>
          <a:ln/>
        </p:spPr>
        <p:txBody>
          <a:bodyPr wrap="square" lIns="0" tIns="0" rIns="0" bIns="0" rtlCol="0" anchor="ctr"/>
          <a:lstStyle/>
          <a:p>
            <a:pPr algn="ctr" indent="0" marL="0">
              <a:buNone/>
            </a:pPr>
            <a:r>
              <a:rPr lang="en-US" sz="1400" b="1" dirty="0">
                <a:solidFill>
                  <a:schemeClr val="tx2"/>
                </a:solidFill>
              </a:rPr>
              <a:t>2</a:t>
            </a:r>
            <a:endParaRPr lang="en-US" sz="1400" dirty="0"/>
          </a:p>
        </p:txBody>
      </p:sp>
      <p:sp>
        <p:nvSpPr>
          <p:cNvPr id="10" name="Pastille 3"/>
          <p:cNvSpPr/>
          <p:nvPr/>
        </p:nvSpPr>
        <p:spPr>
          <a:xfrm>
            <a:off x="6222010" y="4270299"/>
            <a:ext cx="329184" cy="329184"/>
          </a:xfrm>
          <a:prstGeom prst="ellipse">
            <a:avLst/>
          </a:prstGeom>
          <a:solidFill>
            <a:schemeClr val="accent2"/>
          </a:solidFill>
          <a:ln w="19050">
            <a:solidFill>
              <a:schemeClr val="bg1"/>
            </a:solidFill>
            <a:prstDash val="solid"/>
          </a:ln>
          <a:effectLst>
            <a:outerShdw sx="100000" sy="100000" kx="0" ky="0" algn="bl" rotWithShape="0" blurRad="38100" dist="12700" dir="5400000">
              <a:srgbClr val="0E1C24">
                <a:alpha val="30000"/>
              </a:srgbClr>
            </a:outerShdw>
          </a:effectLst>
        </p:spPr>
      </p:sp>
      <p:sp>
        <p:nvSpPr>
          <p:cNvPr id="11" name="Text 7"/>
          <p:cNvSpPr txBox="1"/>
          <p:nvPr/>
        </p:nvSpPr>
        <p:spPr>
          <a:xfrm>
            <a:off x="6222010" y="4270299"/>
            <a:ext cx="329184" cy="329184"/>
          </a:xfrm>
          <a:prstGeom prst="rect">
            <a:avLst/>
          </a:prstGeom>
          <a:noFill/>
          <a:ln/>
        </p:spPr>
        <p:txBody>
          <a:bodyPr wrap="square" lIns="0" tIns="0" rIns="0" bIns="0" rtlCol="0" anchor="ctr"/>
          <a:lstStyle/>
          <a:p>
            <a:pPr algn="ctr" indent="0" marL="0">
              <a:buNone/>
            </a:pPr>
            <a:r>
              <a:rPr lang="en-US" sz="1400" b="1" dirty="0">
                <a:solidFill>
                  <a:schemeClr val="tx2"/>
                </a:solidFill>
              </a:rPr>
              <a:t>3</a:t>
            </a:r>
            <a:endParaRPr lang="en-US" sz="1400" dirty="0"/>
          </a:p>
        </p:txBody>
      </p:sp>
      <p:sp>
        <p:nvSpPr>
          <p:cNvPr id="12" name="Pastille 4"/>
          <p:cNvSpPr/>
          <p:nvPr/>
        </p:nvSpPr>
        <p:spPr>
          <a:xfrm>
            <a:off x="6475541" y="2378961"/>
            <a:ext cx="329184" cy="329184"/>
          </a:xfrm>
          <a:prstGeom prst="ellipse">
            <a:avLst/>
          </a:prstGeom>
          <a:solidFill>
            <a:schemeClr val="accent2"/>
          </a:solidFill>
          <a:ln w="19050">
            <a:solidFill>
              <a:schemeClr val="bg1"/>
            </a:solidFill>
            <a:prstDash val="solid"/>
          </a:ln>
          <a:effectLst>
            <a:outerShdw sx="100000" sy="100000" kx="0" ky="0" algn="bl" rotWithShape="0" blurRad="38100" dist="12700" dir="5400000">
              <a:srgbClr val="0E1C24">
                <a:alpha val="30000"/>
              </a:srgbClr>
            </a:outerShdw>
          </a:effectLst>
        </p:spPr>
      </p:sp>
      <p:sp>
        <p:nvSpPr>
          <p:cNvPr id="13" name="Text 9"/>
          <p:cNvSpPr txBox="1"/>
          <p:nvPr/>
        </p:nvSpPr>
        <p:spPr>
          <a:xfrm>
            <a:off x="6475541" y="2378961"/>
            <a:ext cx="329184" cy="329184"/>
          </a:xfrm>
          <a:prstGeom prst="rect">
            <a:avLst/>
          </a:prstGeom>
          <a:noFill/>
          <a:ln/>
        </p:spPr>
        <p:txBody>
          <a:bodyPr wrap="square" lIns="0" tIns="0" rIns="0" bIns="0" rtlCol="0" anchor="ctr"/>
          <a:lstStyle/>
          <a:p>
            <a:pPr algn="ctr" indent="0" marL="0">
              <a:buNone/>
            </a:pPr>
            <a:r>
              <a:rPr lang="en-US" sz="1400" b="1" dirty="0">
                <a:solidFill>
                  <a:schemeClr val="tx2"/>
                </a:solidFill>
              </a:rPr>
              <a:t>4</a:t>
            </a:r>
            <a:endParaRPr lang="en-US" sz="1400" dirty="0"/>
          </a:p>
        </p:txBody>
      </p:sp>
      <p:sp>
        <p:nvSpPr>
          <p:cNvPr id="14" name="Pastille 1"/>
          <p:cNvSpPr/>
          <p:nvPr/>
        </p:nvSpPr>
        <p:spPr>
          <a:xfrm>
            <a:off x="8293608" y="1691640"/>
            <a:ext cx="329184" cy="329184"/>
          </a:xfrm>
          <a:prstGeom prst="ellipse">
            <a:avLst/>
          </a:prstGeom>
          <a:solidFill>
            <a:schemeClr val="accent2"/>
          </a:solidFill>
          <a:ln w="19050">
            <a:solidFill>
              <a:schemeClr val="bg1"/>
            </a:solidFill>
            <a:prstDash val="solid"/>
          </a:ln>
          <a:effectLst>
            <a:outerShdw sx="100000" sy="100000" kx="0" ky="0" algn="bl" rotWithShape="0" blurRad="38100" dist="12700" dir="5400000">
              <a:srgbClr val="0E1C24">
                <a:alpha val="30000"/>
              </a:srgbClr>
            </a:outerShdw>
          </a:effectLst>
        </p:spPr>
      </p:sp>
      <p:sp>
        <p:nvSpPr>
          <p:cNvPr id="15" name="Text 11"/>
          <p:cNvSpPr txBox="1"/>
          <p:nvPr/>
        </p:nvSpPr>
        <p:spPr>
          <a:xfrm>
            <a:off x="8293608" y="1691640"/>
            <a:ext cx="329184" cy="329184"/>
          </a:xfrm>
          <a:prstGeom prst="rect">
            <a:avLst/>
          </a:prstGeom>
          <a:noFill/>
          <a:ln/>
        </p:spPr>
        <p:txBody>
          <a:bodyPr wrap="square" lIns="0" tIns="0" rIns="0" bIns="0" rtlCol="0" anchor="ctr"/>
          <a:lstStyle/>
          <a:p>
            <a:pPr algn="ctr" indent="0" marL="0">
              <a:buNone/>
            </a:pPr>
            <a:r>
              <a:rPr lang="en-US" sz="1400" b="1" dirty="0">
                <a:solidFill>
                  <a:schemeClr val="tx2"/>
                </a:solidFill>
              </a:rPr>
              <a:t>1</a:t>
            </a:r>
            <a:endParaRPr lang="en-US" sz="1400" dirty="0"/>
          </a:p>
        </p:txBody>
      </p:sp>
      <p:sp>
        <p:nvSpPr>
          <p:cNvPr id="16" name="Text 12"/>
          <p:cNvSpPr txBox="1"/>
          <p:nvPr/>
        </p:nvSpPr>
        <p:spPr>
          <a:xfrm>
            <a:off x="8805672" y="1691640"/>
            <a:ext cx="2837383" cy="993648"/>
          </a:xfrm>
          <a:prstGeom prst="rect">
            <a:avLst/>
          </a:prstGeom>
          <a:noFill/>
          <a:ln/>
        </p:spPr>
        <p:txBody>
          <a:bodyPr wrap="square" lIns="0" tIns="0" rIns="0" bIns="0" rtlCol="0" anchor="t"/>
          <a:lstStyle/>
          <a:p>
            <a:pPr indent="0" marL="0">
              <a:spcAft>
                <a:spcPts val="200"/>
              </a:spcAft>
              <a:buNone/>
            </a:pPr>
            <a:r>
              <a:rPr lang="en-US" sz="1600" b="1" dirty="0">
                <a:solidFill>
                  <a:schemeClr val="tx1"/>
                </a:solidFill>
              </a:rPr>
              <a:t>Des repères en tête</a:t>
            </a:r>
            <a:endParaRPr lang="en-US" sz="1600" dirty="0"/>
          </a:p>
          <a:p>
            <a:pPr indent="0" marL="0">
              <a:buNone/>
            </a:pPr>
            <a:r>
              <a:rPr lang="en-US" sz="1400" dirty="0">
                <a:solidFill>
                  <a:schemeClr val="accent3"/>
                </a:solidFill>
              </a:rPr>
              <a:t>Agences sollicitées, la plus sollicitée, le meilleur respect du SLA, les retards du moment.</a:t>
            </a:r>
            <a:endParaRPr lang="en-US" sz="1600" dirty="0"/>
          </a:p>
        </p:txBody>
      </p:sp>
      <p:sp>
        <p:nvSpPr>
          <p:cNvPr id="17" name="Pastille 2"/>
          <p:cNvSpPr/>
          <p:nvPr/>
        </p:nvSpPr>
        <p:spPr>
          <a:xfrm>
            <a:off x="8293608" y="2959608"/>
            <a:ext cx="329184" cy="329184"/>
          </a:xfrm>
          <a:prstGeom prst="ellipse">
            <a:avLst/>
          </a:prstGeom>
          <a:solidFill>
            <a:schemeClr val="accent2"/>
          </a:solidFill>
          <a:ln w="19050">
            <a:solidFill>
              <a:schemeClr val="bg1"/>
            </a:solidFill>
            <a:prstDash val="solid"/>
          </a:ln>
          <a:effectLst>
            <a:outerShdw sx="100000" sy="100000" kx="0" ky="0" algn="bl" rotWithShape="0" blurRad="38100" dist="12700" dir="5400000">
              <a:srgbClr val="0E1C24">
                <a:alpha val="30000"/>
              </a:srgbClr>
            </a:outerShdw>
          </a:effectLst>
        </p:spPr>
      </p:sp>
      <p:sp>
        <p:nvSpPr>
          <p:cNvPr id="18" name="Text 14"/>
          <p:cNvSpPr txBox="1"/>
          <p:nvPr/>
        </p:nvSpPr>
        <p:spPr>
          <a:xfrm>
            <a:off x="8293608" y="2959608"/>
            <a:ext cx="329184" cy="329184"/>
          </a:xfrm>
          <a:prstGeom prst="rect">
            <a:avLst/>
          </a:prstGeom>
          <a:noFill/>
          <a:ln/>
        </p:spPr>
        <p:txBody>
          <a:bodyPr wrap="square" lIns="0" tIns="0" rIns="0" bIns="0" rtlCol="0" anchor="ctr"/>
          <a:lstStyle/>
          <a:p>
            <a:pPr algn="ctr" indent="0" marL="0">
              <a:buNone/>
            </a:pPr>
            <a:r>
              <a:rPr lang="en-US" sz="1400" b="1" dirty="0">
                <a:solidFill>
                  <a:schemeClr val="tx2"/>
                </a:solidFill>
              </a:rPr>
              <a:t>2</a:t>
            </a:r>
            <a:endParaRPr lang="en-US" sz="1400" dirty="0"/>
          </a:p>
        </p:txBody>
      </p:sp>
      <p:sp>
        <p:nvSpPr>
          <p:cNvPr id="19" name="Text 15"/>
          <p:cNvSpPr txBox="1"/>
          <p:nvPr/>
        </p:nvSpPr>
        <p:spPr>
          <a:xfrm>
            <a:off x="8805672" y="2959608"/>
            <a:ext cx="2837383" cy="993648"/>
          </a:xfrm>
          <a:prstGeom prst="rect">
            <a:avLst/>
          </a:prstGeom>
          <a:noFill/>
          <a:ln/>
        </p:spPr>
        <p:txBody>
          <a:bodyPr wrap="square" lIns="0" tIns="0" rIns="0" bIns="0" rtlCol="0" anchor="t"/>
          <a:lstStyle/>
          <a:p>
            <a:pPr indent="0" marL="0">
              <a:spcAft>
                <a:spcPts val="200"/>
              </a:spcAft>
              <a:buNone/>
            </a:pPr>
            <a:r>
              <a:rPr lang="en-US" sz="1600" b="1" dirty="0">
                <a:solidFill>
                  <a:schemeClr val="tx1"/>
                </a:solidFill>
              </a:rPr>
              <a:t>Une ligne par agence</a:t>
            </a:r>
            <a:endParaRPr lang="en-US" sz="1600" dirty="0"/>
          </a:p>
          <a:p>
            <a:pPr indent="0" marL="0">
              <a:buNone/>
            </a:pPr>
            <a:r>
              <a:rPr lang="en-US" sz="1400" dirty="0">
                <a:solidFill>
                  <a:schemeClr val="accent3"/>
                </a:solidFill>
              </a:rPr>
              <a:t>Réclamations, en cours, en retard, délais, SLA, premier contact, satisfaction.</a:t>
            </a:r>
            <a:endParaRPr lang="en-US" sz="1600" dirty="0"/>
          </a:p>
        </p:txBody>
      </p:sp>
      <p:sp>
        <p:nvSpPr>
          <p:cNvPr id="20" name="Pastille 3"/>
          <p:cNvSpPr/>
          <p:nvPr/>
        </p:nvSpPr>
        <p:spPr>
          <a:xfrm>
            <a:off x="8293608" y="4227576"/>
            <a:ext cx="329184" cy="329184"/>
          </a:xfrm>
          <a:prstGeom prst="ellipse">
            <a:avLst/>
          </a:prstGeom>
          <a:solidFill>
            <a:schemeClr val="accent2"/>
          </a:solidFill>
          <a:ln w="19050">
            <a:solidFill>
              <a:schemeClr val="bg1"/>
            </a:solidFill>
            <a:prstDash val="solid"/>
          </a:ln>
          <a:effectLst>
            <a:outerShdw sx="100000" sy="100000" kx="0" ky="0" algn="bl" rotWithShape="0" blurRad="38100" dist="12700" dir="5400000">
              <a:srgbClr val="0E1C24">
                <a:alpha val="30000"/>
              </a:srgbClr>
            </a:outerShdw>
          </a:effectLst>
        </p:spPr>
      </p:sp>
      <p:sp>
        <p:nvSpPr>
          <p:cNvPr id="21" name="Text 17"/>
          <p:cNvSpPr txBox="1"/>
          <p:nvPr/>
        </p:nvSpPr>
        <p:spPr>
          <a:xfrm>
            <a:off x="8293608" y="4227576"/>
            <a:ext cx="329184" cy="329184"/>
          </a:xfrm>
          <a:prstGeom prst="rect">
            <a:avLst/>
          </a:prstGeom>
          <a:noFill/>
          <a:ln/>
        </p:spPr>
        <p:txBody>
          <a:bodyPr wrap="square" lIns="0" tIns="0" rIns="0" bIns="0" rtlCol="0" anchor="ctr"/>
          <a:lstStyle/>
          <a:p>
            <a:pPr algn="ctr" indent="0" marL="0">
              <a:buNone/>
            </a:pPr>
            <a:r>
              <a:rPr lang="en-US" sz="1400" b="1" dirty="0">
                <a:solidFill>
                  <a:schemeClr val="tx2"/>
                </a:solidFill>
              </a:rPr>
              <a:t>3</a:t>
            </a:r>
            <a:endParaRPr lang="en-US" sz="1400" dirty="0"/>
          </a:p>
        </p:txBody>
      </p:sp>
      <p:sp>
        <p:nvSpPr>
          <p:cNvPr id="22" name="Text 18"/>
          <p:cNvSpPr txBox="1"/>
          <p:nvPr/>
        </p:nvSpPr>
        <p:spPr>
          <a:xfrm>
            <a:off x="8805672" y="4227576"/>
            <a:ext cx="2837383" cy="1207008"/>
          </a:xfrm>
          <a:prstGeom prst="rect">
            <a:avLst/>
          </a:prstGeom>
          <a:noFill/>
          <a:ln/>
        </p:spPr>
        <p:txBody>
          <a:bodyPr wrap="square" lIns="0" tIns="0" rIns="0" bIns="0" rtlCol="0" anchor="t"/>
          <a:lstStyle/>
          <a:p>
            <a:pPr indent="0" marL="0">
              <a:spcAft>
                <a:spcPts val="200"/>
              </a:spcAft>
              <a:buNone/>
            </a:pPr>
            <a:r>
              <a:rPr lang="en-US" sz="1600" b="1" dirty="0">
                <a:solidFill>
                  <a:schemeClr val="tx1"/>
                </a:solidFill>
              </a:rPr>
              <a:t>Le détail d'une agence</a:t>
            </a:r>
            <a:endParaRPr lang="en-US" sz="1600" dirty="0"/>
          </a:p>
          <a:p>
            <a:pPr indent="0" marL="0">
              <a:buNone/>
            </a:pPr>
            <a:r>
              <a:rPr lang="en-US" sz="1400" dirty="0">
                <a:solidFill>
                  <a:schemeClr val="accent3"/>
                </a:solidFill>
              </a:rPr>
              <a:t>Ses catégories, ses agents, chacun de ses QR codes ; son tableau de bord et ses réclamations en un clic.</a:t>
            </a:r>
            <a:endParaRPr lang="en-US" sz="1600" dirty="0"/>
          </a:p>
        </p:txBody>
      </p:sp>
      <p:sp>
        <p:nvSpPr>
          <p:cNvPr id="23" name="Pastille 4"/>
          <p:cNvSpPr/>
          <p:nvPr/>
        </p:nvSpPr>
        <p:spPr>
          <a:xfrm>
            <a:off x="8293608" y="5708904"/>
            <a:ext cx="329184" cy="329184"/>
          </a:xfrm>
          <a:prstGeom prst="ellipse">
            <a:avLst/>
          </a:prstGeom>
          <a:solidFill>
            <a:schemeClr val="accent2"/>
          </a:solidFill>
          <a:ln w="19050">
            <a:solidFill>
              <a:schemeClr val="bg1"/>
            </a:solidFill>
            <a:prstDash val="solid"/>
          </a:ln>
          <a:effectLst>
            <a:outerShdw sx="100000" sy="100000" kx="0" ky="0" algn="bl" rotWithShape="0" blurRad="38100" dist="12700" dir="5400000">
              <a:srgbClr val="0E1C24">
                <a:alpha val="30000"/>
              </a:srgbClr>
            </a:outerShdw>
          </a:effectLst>
        </p:spPr>
      </p:sp>
      <p:sp>
        <p:nvSpPr>
          <p:cNvPr id="24" name="Text 20"/>
          <p:cNvSpPr txBox="1"/>
          <p:nvPr/>
        </p:nvSpPr>
        <p:spPr>
          <a:xfrm>
            <a:off x="8293608" y="5708904"/>
            <a:ext cx="329184" cy="329184"/>
          </a:xfrm>
          <a:prstGeom prst="rect">
            <a:avLst/>
          </a:prstGeom>
          <a:noFill/>
          <a:ln/>
        </p:spPr>
        <p:txBody>
          <a:bodyPr wrap="square" lIns="0" tIns="0" rIns="0" bIns="0" rtlCol="0" anchor="ctr"/>
          <a:lstStyle/>
          <a:p>
            <a:pPr algn="ctr" indent="0" marL="0">
              <a:buNone/>
            </a:pPr>
            <a:r>
              <a:rPr lang="en-US" sz="1400" b="1" dirty="0">
                <a:solidFill>
                  <a:schemeClr val="tx2"/>
                </a:solidFill>
              </a:rPr>
              <a:t>4</a:t>
            </a:r>
            <a:endParaRPr lang="en-US" sz="1400" dirty="0"/>
          </a:p>
        </p:txBody>
      </p:sp>
      <p:sp>
        <p:nvSpPr>
          <p:cNvPr id="25" name="Text 21"/>
          <p:cNvSpPr txBox="1"/>
          <p:nvPr/>
        </p:nvSpPr>
        <p:spPr>
          <a:xfrm>
            <a:off x="8805672" y="5708904"/>
            <a:ext cx="2837383" cy="780288"/>
          </a:xfrm>
          <a:prstGeom prst="rect">
            <a:avLst/>
          </a:prstGeom>
          <a:noFill/>
          <a:ln/>
        </p:spPr>
        <p:txBody>
          <a:bodyPr wrap="square" lIns="0" tIns="0" rIns="0" bIns="0" rtlCol="0" anchor="t"/>
          <a:lstStyle/>
          <a:p>
            <a:pPr indent="0" marL="0">
              <a:spcAft>
                <a:spcPts val="200"/>
              </a:spcAft>
              <a:buNone/>
            </a:pPr>
            <a:r>
              <a:rPr lang="en-US" sz="1600" b="1" dirty="0">
                <a:solidFill>
                  <a:schemeClr val="tx1"/>
                </a:solidFill>
              </a:rPr>
              <a:t>Export CSV</a:t>
            </a:r>
            <a:endParaRPr lang="en-US" sz="1600" dirty="0"/>
          </a:p>
          <a:p>
            <a:pPr indent="0" marL="0">
              <a:buNone/>
            </a:pPr>
            <a:r>
              <a:rPr lang="en-US" sz="1400" dirty="0">
                <a:solidFill>
                  <a:schemeClr val="accent3"/>
                </a:solidFill>
              </a:rPr>
              <a:t>Une ligne par agence, prête pour Excel.</a:t>
            </a:r>
            <a:endParaRPr lang="en-US" sz="1600" dirty="0"/>
          </a:p>
        </p:txBody>
      </p:sp>
      <p:sp>
        <p:nvSpPr>
          <p:cNvPr id="25" name="Slide Number Placeholder 0"/>
          <p:cNvSpPr>
            <a:spLocks noGrp="1"/>
          </p:cNvSpPr>
          <p:nvPr>
            <p:ph type="sldNum" sz="quarter" idx="4294967295"/>
          </p:nvPr>
        </p:nvSpPr>
        <p:spPr>
          <a:xfrm>
            <a:off x="11183112" y="6446520"/>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body" hasCustomPrompt="1"/>
          </p:nvPr>
        </p:nvSpPr>
        <p:spPr>
          <a:xfrm>
            <a:off x="548640" y="1600200"/>
            <a:ext cx="2743200" cy="914400"/>
          </a:xfrm>
          <a:prstGeom prst="rect">
            <a:avLst/>
          </a:prstGeom>
          <a:noFill/>
          <a:ln/>
        </p:spPr>
        <p:txBody>
          <a:bodyPr wrap="square" lIns="0" tIns="0" rIns="0" bIns="0" rtlCol="0" anchor="t"/>
          <a:lstStyle/>
          <a:p>
            <a:pPr indent="0" marL="0">
              <a:buNone/>
            </a:pPr>
            <a:r>
              <a:rPr lang="en-US" sz="6000" b="1" dirty="0">
                <a:solidFill>
                  <a:schemeClr val="accent2"/>
                </a:solidFill>
              </a:rPr>
              <a:t>04</a:t>
            </a:r>
            <a:endParaRPr lang="en-US" sz="6000" dirty="0"/>
          </a:p>
        </p:txBody>
      </p:sp>
      <p:sp>
        <p:nvSpPr>
          <p:cNvPr id="3" name="Text 0"/>
          <p:cNvSpPr/>
          <p:nvPr>
            <p:ph idx="101" type="title" hasCustomPrompt="1"/>
          </p:nvPr>
        </p:nvSpPr>
        <p:spPr>
          <a:xfrm>
            <a:off x="548640" y="2560320"/>
            <a:ext cx="5486400" cy="1325880"/>
          </a:xfrm>
          <a:prstGeom prst="rect">
            <a:avLst/>
          </a:prstGeom>
          <a:noFill/>
          <a:ln/>
        </p:spPr>
        <p:txBody>
          <a:bodyPr wrap="square" lIns="0" tIns="0" rIns="0" bIns="0" rtlCol="0" anchor="t"/>
          <a:lstStyle/>
          <a:p>
            <a:pPr algn="l" indent="0" marL="0">
              <a:buNone/>
            </a:pPr>
            <a:r>
              <a:rPr lang="en-US" sz="4000" b="1" dirty="0">
                <a:solidFill>
                  <a:schemeClr val="bg1"/>
                </a:solidFill>
              </a:rPr>
              <a:t>Le paramétrage</a:t>
            </a:r>
            <a:endParaRPr lang="en-US" sz="4000" dirty="0"/>
          </a:p>
        </p:txBody>
      </p:sp>
      <p:sp>
        <p:nvSpPr>
          <p:cNvPr id="4" name="Text 0"/>
          <p:cNvSpPr/>
          <p:nvPr>
            <p:ph idx="102" type="body" hasCustomPrompt="1"/>
          </p:nvPr>
        </p:nvSpPr>
        <p:spPr>
          <a:xfrm>
            <a:off x="548640" y="4069080"/>
            <a:ext cx="5029200" cy="1371600"/>
          </a:xfrm>
          <a:prstGeom prst="rect">
            <a:avLst/>
          </a:prstGeom>
          <a:noFill/>
          <a:ln/>
        </p:spPr>
        <p:txBody>
          <a:bodyPr wrap="square" lIns="0" tIns="0" rIns="0" bIns="0" rtlCol="0" anchor="t"/>
          <a:lstStyle/>
          <a:p>
            <a:pPr algn="l" indent="0" marL="0">
              <a:buNone/>
            </a:pPr>
            <a:r>
              <a:rPr lang="en-US" sz="1800" dirty="0">
                <a:solidFill>
                  <a:schemeClr val="bg2"/>
                </a:solidFill>
              </a:rPr>
              <a:t>L'Admin Entreprise règle la plateforme lui-même, sans développement.</a:t>
            </a:r>
            <a:endParaRPr lang="en-US" sz="1800" dirty="0"/>
          </a:p>
        </p:txBody>
      </p:sp>
      <p:pic>
        <p:nvPicPr>
          <p:cNvPr id="6" name="Image 0" descr="Catégories et délais">    </p:cNvPr>
          <p:cNvPicPr>
            <a:picLocks noChangeAspect="1"/>
          </p:cNvPicPr>
          <p:nvPr/>
        </p:nvPicPr>
        <p:blipFill>
          <a:blip r:embed="rId1"/>
          <a:stretch>
            <a:fillRect/>
          </a:stretch>
        </p:blipFill>
        <p:spPr>
          <a:xfrm>
            <a:off x="6181919" y="878399"/>
            <a:ext cx="7204323" cy="4846658"/>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LE PARAMÉTRAGE · CATÉGORIES ET HORAIRES</a:t>
            </a:r>
            <a:endParaRPr lang="en-US" sz="1200" dirty="0"/>
          </a:p>
        </p:txBody>
      </p:sp>
      <p:sp>
        <p:nvSpPr>
          <p:cNvPr id="3" name="Text 0"/>
          <p:cNvSpPr/>
          <p:nvPr>
            <p:ph idx="101" type="title" hasCustomPrompt="1"/>
          </p:nvPr>
        </p:nvSpPr>
        <p:spPr>
          <a:xfrm>
            <a:off x="548640" y="603504"/>
            <a:ext cx="11091672" cy="685800"/>
          </a:xfrm>
          <a:prstGeom prst="rect">
            <a:avLst/>
          </a:prstGeom>
          <a:noFill/>
          <a:ln/>
        </p:spPr>
        <p:txBody>
          <a:bodyPr wrap="square" lIns="0" tIns="0" rIns="0" bIns="0" rtlCol="0" anchor="t"/>
          <a:lstStyle/>
          <a:p>
            <a:pPr algn="l" indent="0" marL="0">
              <a:buNone/>
            </a:pPr>
            <a:r>
              <a:rPr lang="en-US" sz="3600" b="1" dirty="0">
                <a:solidFill>
                  <a:schemeClr val="tx1"/>
                </a:solidFill>
              </a:rPr>
              <a:t>Vos catégories, vos délais, vos horaires</a:t>
            </a:r>
            <a:endParaRPr lang="en-US" sz="3600" dirty="0"/>
          </a:p>
        </p:txBody>
      </p:sp>
      <p:pic>
        <p:nvPicPr>
          <p:cNvPr id="5" name="Image 0" descr="Catégories et délais cibles">    </p:cNvPr>
          <p:cNvPicPr>
            <a:picLocks noChangeAspect="1"/>
          </p:cNvPicPr>
          <p:nvPr/>
        </p:nvPicPr>
        <p:blipFill>
          <a:blip r:embed="rId1"/>
          <a:stretch>
            <a:fillRect/>
          </a:stretch>
        </p:blipFill>
        <p:spPr>
          <a:xfrm>
            <a:off x="374127" y="1425687"/>
            <a:ext cx="5743987" cy="3864227"/>
          </a:xfrm>
          <a:prstGeom prst="rect">
            <a:avLst/>
          </a:prstGeom>
        </p:spPr>
      </p:pic>
      <p:pic>
        <p:nvPicPr>
          <p:cNvPr id="6" name="Image 1" descr="Horaires et jours fériés">    </p:cNvPr>
          <p:cNvPicPr>
            <a:picLocks noChangeAspect="1"/>
          </p:cNvPicPr>
          <p:nvPr/>
        </p:nvPicPr>
        <p:blipFill>
          <a:blip r:embed="rId2"/>
          <a:stretch>
            <a:fillRect/>
          </a:stretch>
        </p:blipFill>
        <p:spPr>
          <a:xfrm>
            <a:off x="6073582" y="1425687"/>
            <a:ext cx="5743987" cy="3864227"/>
          </a:xfrm>
          <a:prstGeom prst="rect">
            <a:avLst/>
          </a:prstGeom>
        </p:spPr>
      </p:pic>
      <p:sp>
        <p:nvSpPr>
          <p:cNvPr id="7" name="Rond LuListChecks"/>
          <p:cNvSpPr/>
          <p:nvPr/>
        </p:nvSpPr>
        <p:spPr>
          <a:xfrm>
            <a:off x="548640" y="5394960"/>
            <a:ext cx="384048" cy="384048"/>
          </a:xfrm>
          <a:prstGeom prst="ellipse">
            <a:avLst/>
          </a:prstGeom>
          <a:solidFill>
            <a:schemeClr val="accent4"/>
          </a:solidFill>
          <a:ln/>
        </p:spPr>
      </p:sp>
      <p:pic>
        <p:nvPicPr>
          <p:cNvPr id="8" name="Image 2" descr="preencoded.png">    </p:cNvPr>
          <p:cNvPicPr>
            <a:picLocks noChangeAspect="1"/>
          </p:cNvPicPr>
          <p:nvPr/>
        </p:nvPicPr>
        <p:blipFill>
          <a:blip r:embed="rId3"/>
          <a:stretch>
            <a:fillRect/>
          </a:stretch>
        </p:blipFill>
        <p:spPr>
          <a:xfrm>
            <a:off x="636971" y="5483291"/>
            <a:ext cx="207386" cy="207386"/>
          </a:xfrm>
          <a:prstGeom prst="rect">
            <a:avLst/>
          </a:prstGeom>
        </p:spPr>
      </p:pic>
      <p:sp>
        <p:nvSpPr>
          <p:cNvPr id="9" name="Text 3"/>
          <p:cNvSpPr txBox="1"/>
          <p:nvPr/>
        </p:nvSpPr>
        <p:spPr>
          <a:xfrm>
            <a:off x="1078992" y="5413248"/>
            <a:ext cx="4864608" cy="780288"/>
          </a:xfrm>
          <a:prstGeom prst="rect">
            <a:avLst/>
          </a:prstGeom>
          <a:noFill/>
          <a:ln/>
        </p:spPr>
        <p:txBody>
          <a:bodyPr wrap="square" lIns="0" tIns="0" rIns="0" bIns="0" rtlCol="0" anchor="t"/>
          <a:lstStyle/>
          <a:p>
            <a:pPr indent="0" marL="0">
              <a:spcAft>
                <a:spcPts val="200"/>
              </a:spcAft>
              <a:buNone/>
            </a:pPr>
            <a:r>
              <a:rPr lang="en-US" sz="1600" b="1" dirty="0">
                <a:solidFill>
                  <a:schemeClr val="tx1"/>
                </a:solidFill>
              </a:rPr>
              <a:t>Catégories et délais cibles</a:t>
            </a:r>
            <a:endParaRPr lang="en-US" sz="1600" dirty="0"/>
          </a:p>
          <a:p>
            <a:pPr indent="0" marL="0">
              <a:buNone/>
            </a:pPr>
            <a:r>
              <a:rPr lang="en-US" sz="1400" dirty="0">
                <a:solidFill>
                  <a:schemeClr val="accent3"/>
                </a:solidFill>
              </a:rPr>
              <a:t>Un délai par catégorie, en heures ouvrées ; priorité urgente pour la fraude.</a:t>
            </a:r>
            <a:endParaRPr lang="en-US" sz="1600" dirty="0"/>
          </a:p>
        </p:txBody>
      </p:sp>
      <p:sp>
        <p:nvSpPr>
          <p:cNvPr id="10" name="Rond LuCalendarClock"/>
          <p:cNvSpPr/>
          <p:nvPr/>
        </p:nvSpPr>
        <p:spPr>
          <a:xfrm>
            <a:off x="6248095" y="5394960"/>
            <a:ext cx="384048" cy="384048"/>
          </a:xfrm>
          <a:prstGeom prst="ellipse">
            <a:avLst/>
          </a:prstGeom>
          <a:solidFill>
            <a:schemeClr val="accent4"/>
          </a:solidFill>
          <a:ln/>
        </p:spPr>
      </p:sp>
      <p:pic>
        <p:nvPicPr>
          <p:cNvPr id="11" name="Image 3" descr="preencoded.png">    </p:cNvPr>
          <p:cNvPicPr>
            <a:picLocks noChangeAspect="1"/>
          </p:cNvPicPr>
          <p:nvPr/>
        </p:nvPicPr>
        <p:blipFill>
          <a:blip r:embed="rId4"/>
          <a:stretch>
            <a:fillRect/>
          </a:stretch>
        </p:blipFill>
        <p:spPr>
          <a:xfrm>
            <a:off x="6336426" y="5483291"/>
            <a:ext cx="207386" cy="207386"/>
          </a:xfrm>
          <a:prstGeom prst="rect">
            <a:avLst/>
          </a:prstGeom>
        </p:spPr>
      </p:pic>
      <p:sp>
        <p:nvSpPr>
          <p:cNvPr id="12" name="Text 5"/>
          <p:cNvSpPr txBox="1"/>
          <p:nvPr/>
        </p:nvSpPr>
        <p:spPr>
          <a:xfrm>
            <a:off x="6778447" y="5413248"/>
            <a:ext cx="4864608" cy="780288"/>
          </a:xfrm>
          <a:prstGeom prst="rect">
            <a:avLst/>
          </a:prstGeom>
          <a:noFill/>
          <a:ln/>
        </p:spPr>
        <p:txBody>
          <a:bodyPr wrap="square" lIns="0" tIns="0" rIns="0" bIns="0" rtlCol="0" anchor="t"/>
          <a:lstStyle/>
          <a:p>
            <a:pPr indent="0" marL="0">
              <a:spcAft>
                <a:spcPts val="200"/>
              </a:spcAft>
              <a:buNone/>
            </a:pPr>
            <a:r>
              <a:rPr lang="en-US" sz="1600" b="1" dirty="0">
                <a:solidFill>
                  <a:schemeClr val="tx1"/>
                </a:solidFill>
              </a:rPr>
              <a:t>Horaires et jours fériés</a:t>
            </a:r>
            <a:endParaRPr lang="en-US" sz="1600" dirty="0"/>
          </a:p>
          <a:p>
            <a:pPr indent="0" marL="0">
              <a:buNone/>
            </a:pPr>
            <a:r>
              <a:rPr lang="en-US" sz="1400" dirty="0">
                <a:solidFill>
                  <a:schemeClr val="accent3"/>
                </a:solidFill>
              </a:rPr>
              <a:t>Le chrono ne compte que les heures d'ouverture de la banque.</a:t>
            </a:r>
            <a:endParaRPr lang="en-US" sz="1600" dirty="0"/>
          </a:p>
        </p:txBody>
      </p:sp>
      <p:sp>
        <p:nvSpPr>
          <p:cNvPr id="25" name="Slide Number Placeholder 0"/>
          <p:cNvSpPr>
            <a:spLocks noGrp="1"/>
          </p:cNvSpPr>
          <p:nvPr>
            <p:ph type="sldNum" sz="quarter" idx="4294967295"/>
          </p:nvPr>
        </p:nvSpPr>
        <p:spPr>
          <a:xfrm>
            <a:off x="11183112" y="6446520"/>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LE PARAMÉTRAGE · AGENCES ET APPARENCE</a:t>
            </a:r>
            <a:endParaRPr lang="en-US" sz="1200" dirty="0"/>
          </a:p>
        </p:txBody>
      </p:sp>
      <p:sp>
        <p:nvSpPr>
          <p:cNvPr id="3" name="Text 0"/>
          <p:cNvSpPr/>
          <p:nvPr>
            <p:ph idx="101" type="title" hasCustomPrompt="1"/>
          </p:nvPr>
        </p:nvSpPr>
        <p:spPr>
          <a:xfrm>
            <a:off x="548640" y="603504"/>
            <a:ext cx="11091672" cy="685800"/>
          </a:xfrm>
          <a:prstGeom prst="rect">
            <a:avLst/>
          </a:prstGeom>
          <a:noFill/>
          <a:ln/>
        </p:spPr>
        <p:txBody>
          <a:bodyPr wrap="square" lIns="0" tIns="0" rIns="0" bIns="0" rtlCol="0" anchor="t"/>
          <a:lstStyle/>
          <a:p>
            <a:pPr algn="l" indent="0" marL="0">
              <a:buNone/>
            </a:pPr>
            <a:r>
              <a:rPr lang="en-US" sz="3600" b="1" dirty="0">
                <a:solidFill>
                  <a:schemeClr val="tx1"/>
                </a:solidFill>
              </a:rPr>
              <a:t>Un QR code par point de dépôt, à vos couleurs</a:t>
            </a:r>
            <a:endParaRPr lang="en-US" sz="3600" dirty="0"/>
          </a:p>
        </p:txBody>
      </p:sp>
      <p:pic>
        <p:nvPicPr>
          <p:cNvPr id="5" name="Image 0" descr="Agences, QR codes et liens">    </p:cNvPr>
          <p:cNvPicPr>
            <a:picLocks noChangeAspect="1"/>
          </p:cNvPicPr>
          <p:nvPr/>
        </p:nvPicPr>
        <p:blipFill>
          <a:blip r:embed="rId1"/>
          <a:stretch>
            <a:fillRect/>
          </a:stretch>
        </p:blipFill>
        <p:spPr>
          <a:xfrm>
            <a:off x="374127" y="1425687"/>
            <a:ext cx="5743987" cy="3864227"/>
          </a:xfrm>
          <a:prstGeom prst="rect">
            <a:avLst/>
          </a:prstGeom>
        </p:spPr>
      </p:pic>
      <p:pic>
        <p:nvPicPr>
          <p:cNvPr id="6" name="Image 1" descr="Logo, couleurs et plan">    </p:cNvPr>
          <p:cNvPicPr>
            <a:picLocks noChangeAspect="1"/>
          </p:cNvPicPr>
          <p:nvPr/>
        </p:nvPicPr>
        <p:blipFill>
          <a:blip r:embed="rId2"/>
          <a:stretch>
            <a:fillRect/>
          </a:stretch>
        </p:blipFill>
        <p:spPr>
          <a:xfrm>
            <a:off x="6073582" y="1425687"/>
            <a:ext cx="5743987" cy="3864227"/>
          </a:xfrm>
          <a:prstGeom prst="rect">
            <a:avLst/>
          </a:prstGeom>
        </p:spPr>
      </p:pic>
      <p:sp>
        <p:nvSpPr>
          <p:cNvPr id="7" name="Rond LuQrCode"/>
          <p:cNvSpPr/>
          <p:nvPr/>
        </p:nvSpPr>
        <p:spPr>
          <a:xfrm>
            <a:off x="548640" y="5394960"/>
            <a:ext cx="384048" cy="384048"/>
          </a:xfrm>
          <a:prstGeom prst="ellipse">
            <a:avLst/>
          </a:prstGeom>
          <a:solidFill>
            <a:schemeClr val="accent4"/>
          </a:solidFill>
          <a:ln/>
        </p:spPr>
      </p:sp>
      <p:pic>
        <p:nvPicPr>
          <p:cNvPr id="8" name="Image 2" descr="preencoded.png">    </p:cNvPr>
          <p:cNvPicPr>
            <a:picLocks noChangeAspect="1"/>
          </p:cNvPicPr>
          <p:nvPr/>
        </p:nvPicPr>
        <p:blipFill>
          <a:blip r:embed="rId3"/>
          <a:stretch>
            <a:fillRect/>
          </a:stretch>
        </p:blipFill>
        <p:spPr>
          <a:xfrm>
            <a:off x="636971" y="5483291"/>
            <a:ext cx="207386" cy="207386"/>
          </a:xfrm>
          <a:prstGeom prst="rect">
            <a:avLst/>
          </a:prstGeom>
        </p:spPr>
      </p:pic>
      <p:sp>
        <p:nvSpPr>
          <p:cNvPr id="9" name="Text 3"/>
          <p:cNvSpPr txBox="1"/>
          <p:nvPr/>
        </p:nvSpPr>
        <p:spPr>
          <a:xfrm>
            <a:off x="1078992" y="5413248"/>
            <a:ext cx="4864608" cy="780288"/>
          </a:xfrm>
          <a:prstGeom prst="rect">
            <a:avLst/>
          </a:prstGeom>
          <a:noFill/>
          <a:ln/>
        </p:spPr>
        <p:txBody>
          <a:bodyPr wrap="square" lIns="0" tIns="0" rIns="0" bIns="0" rtlCol="0" anchor="t"/>
          <a:lstStyle/>
          <a:p>
            <a:pPr indent="0" marL="0">
              <a:spcAft>
                <a:spcPts val="200"/>
              </a:spcAft>
              <a:buNone/>
            </a:pPr>
            <a:r>
              <a:rPr lang="en-US" sz="1600" b="1" dirty="0">
                <a:solidFill>
                  <a:schemeClr val="tx1"/>
                </a:solidFill>
              </a:rPr>
              <a:t>Agences, QR codes et liens</a:t>
            </a:r>
            <a:endParaRPr lang="en-US" sz="1600" dirty="0"/>
          </a:p>
          <a:p>
            <a:pPr indent="0" marL="0">
              <a:buNone/>
            </a:pPr>
            <a:r>
              <a:rPr lang="en-US" sz="1400" dirty="0">
                <a:solidFill>
                  <a:schemeClr val="accent3"/>
                </a:solidFill>
              </a:rPr>
              <a:t>QR codes à imprimer en PNG ou SVG ; liens pour le site ou l'application.</a:t>
            </a:r>
            <a:endParaRPr lang="en-US" sz="1600" dirty="0"/>
          </a:p>
        </p:txBody>
      </p:sp>
      <p:sp>
        <p:nvSpPr>
          <p:cNvPr id="10" name="Rond LuPalette"/>
          <p:cNvSpPr/>
          <p:nvPr/>
        </p:nvSpPr>
        <p:spPr>
          <a:xfrm>
            <a:off x="6248095" y="5394960"/>
            <a:ext cx="384048" cy="384048"/>
          </a:xfrm>
          <a:prstGeom prst="ellipse">
            <a:avLst/>
          </a:prstGeom>
          <a:solidFill>
            <a:schemeClr val="accent4"/>
          </a:solidFill>
          <a:ln/>
        </p:spPr>
      </p:sp>
      <p:pic>
        <p:nvPicPr>
          <p:cNvPr id="11" name="Image 3" descr="preencoded.png">    </p:cNvPr>
          <p:cNvPicPr>
            <a:picLocks noChangeAspect="1"/>
          </p:cNvPicPr>
          <p:nvPr/>
        </p:nvPicPr>
        <p:blipFill>
          <a:blip r:embed="rId4"/>
          <a:stretch>
            <a:fillRect/>
          </a:stretch>
        </p:blipFill>
        <p:spPr>
          <a:xfrm>
            <a:off x="6336426" y="5483291"/>
            <a:ext cx="207386" cy="207386"/>
          </a:xfrm>
          <a:prstGeom prst="rect">
            <a:avLst/>
          </a:prstGeom>
        </p:spPr>
      </p:pic>
      <p:sp>
        <p:nvSpPr>
          <p:cNvPr id="12" name="Text 5"/>
          <p:cNvSpPr txBox="1"/>
          <p:nvPr/>
        </p:nvSpPr>
        <p:spPr>
          <a:xfrm>
            <a:off x="6778447" y="5413248"/>
            <a:ext cx="4864608" cy="780288"/>
          </a:xfrm>
          <a:prstGeom prst="rect">
            <a:avLst/>
          </a:prstGeom>
          <a:noFill/>
          <a:ln/>
        </p:spPr>
        <p:txBody>
          <a:bodyPr wrap="square" lIns="0" tIns="0" rIns="0" bIns="0" rtlCol="0" anchor="t"/>
          <a:lstStyle/>
          <a:p>
            <a:pPr indent="0" marL="0">
              <a:spcAft>
                <a:spcPts val="200"/>
              </a:spcAft>
              <a:buNone/>
            </a:pPr>
            <a:r>
              <a:rPr lang="en-US" sz="1600" b="1" dirty="0">
                <a:solidFill>
                  <a:schemeClr val="tx1"/>
                </a:solidFill>
              </a:rPr>
              <a:t>Logo, couleurs et plan</a:t>
            </a:r>
            <a:endParaRPr lang="en-US" sz="1600" dirty="0"/>
          </a:p>
          <a:p>
            <a:pPr indent="0" marL="0">
              <a:buNone/>
            </a:pPr>
            <a:r>
              <a:rPr lang="en-US" sz="1400" dirty="0">
                <a:solidFill>
                  <a:schemeClr val="accent3"/>
                </a:solidFill>
              </a:rPr>
              <a:t>Contraste vérifié pour l'accessibilité ; consommation du plan visible.</a:t>
            </a:r>
            <a:endParaRPr lang="en-US" sz="1600" dirty="0"/>
          </a:p>
        </p:txBody>
      </p:sp>
      <p:sp>
        <p:nvSpPr>
          <p:cNvPr id="25" name="Slide Number Placeholder 0"/>
          <p:cNvSpPr>
            <a:spLocks noGrp="1"/>
          </p:cNvSpPr>
          <p:nvPr>
            <p:ph type="sldNum" sz="quarter" idx="4294967295"/>
          </p:nvPr>
        </p:nvSpPr>
        <p:spPr>
          <a:xfrm>
            <a:off x="11183112" y="6446520"/>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LE PARAMÉTRAGE · ATTRIBUTION</a:t>
            </a:r>
            <a:endParaRPr lang="en-US" sz="1200" dirty="0"/>
          </a:p>
        </p:txBody>
      </p:sp>
      <p:sp>
        <p:nvSpPr>
          <p:cNvPr id="3" name="Text 0"/>
          <p:cNvSpPr/>
          <p:nvPr>
            <p:ph idx="101" type="title" hasCustomPrompt="1"/>
          </p:nvPr>
        </p:nvSpPr>
        <p:spPr>
          <a:xfrm>
            <a:off x="548640" y="603504"/>
            <a:ext cx="11091672" cy="685800"/>
          </a:xfrm>
          <a:prstGeom prst="rect">
            <a:avLst/>
          </a:prstGeom>
          <a:noFill/>
          <a:ln/>
        </p:spPr>
        <p:txBody>
          <a:bodyPr wrap="square" lIns="0" tIns="0" rIns="0" bIns="0" rtlCol="0" anchor="t"/>
          <a:lstStyle/>
          <a:p>
            <a:pPr algn="l" indent="0" marL="0">
              <a:buNone/>
            </a:pPr>
            <a:r>
              <a:rPr lang="en-US" sz="3600" b="1" dirty="0">
                <a:solidFill>
                  <a:schemeClr val="tx1"/>
                </a:solidFill>
              </a:rPr>
              <a:t>Attribution et absences, selon vos règles</a:t>
            </a:r>
            <a:endParaRPr lang="en-US" sz="3600" dirty="0"/>
          </a:p>
        </p:txBody>
      </p:sp>
      <p:pic>
        <p:nvPicPr>
          <p:cNvPr id="5" name="Image 0" descr="Mode et groupes d'agents">    </p:cNvPr>
          <p:cNvPicPr>
            <a:picLocks noChangeAspect="1"/>
          </p:cNvPicPr>
          <p:nvPr/>
        </p:nvPicPr>
        <p:blipFill>
          <a:blip r:embed="rId1"/>
          <a:stretch>
            <a:fillRect/>
          </a:stretch>
        </p:blipFill>
        <p:spPr>
          <a:xfrm>
            <a:off x="374127" y="1425687"/>
            <a:ext cx="5743987" cy="3864227"/>
          </a:xfrm>
          <a:prstGeom prst="rect">
            <a:avLst/>
          </a:prstGeom>
        </p:spPr>
      </p:pic>
      <p:pic>
        <p:nvPicPr>
          <p:cNvPr id="6" name="Image 1" descr="Absences">    </p:cNvPr>
          <p:cNvPicPr>
            <a:picLocks noChangeAspect="1"/>
          </p:cNvPicPr>
          <p:nvPr/>
        </p:nvPicPr>
        <p:blipFill>
          <a:blip r:embed="rId2"/>
          <a:stretch>
            <a:fillRect/>
          </a:stretch>
        </p:blipFill>
        <p:spPr>
          <a:xfrm>
            <a:off x="6073582" y="1425687"/>
            <a:ext cx="5743987" cy="3864227"/>
          </a:xfrm>
          <a:prstGeom prst="rect">
            <a:avLst/>
          </a:prstGeom>
        </p:spPr>
      </p:pic>
      <p:sp>
        <p:nvSpPr>
          <p:cNvPr id="7" name="Rond LuShuffle"/>
          <p:cNvSpPr/>
          <p:nvPr/>
        </p:nvSpPr>
        <p:spPr>
          <a:xfrm>
            <a:off x="548640" y="5394960"/>
            <a:ext cx="384048" cy="384048"/>
          </a:xfrm>
          <a:prstGeom prst="ellipse">
            <a:avLst/>
          </a:prstGeom>
          <a:solidFill>
            <a:schemeClr val="accent4"/>
          </a:solidFill>
          <a:ln/>
        </p:spPr>
      </p:sp>
      <p:pic>
        <p:nvPicPr>
          <p:cNvPr id="8" name="Image 2" descr="preencoded.png">    </p:cNvPr>
          <p:cNvPicPr>
            <a:picLocks noChangeAspect="1"/>
          </p:cNvPicPr>
          <p:nvPr/>
        </p:nvPicPr>
        <p:blipFill>
          <a:blip r:embed="rId3"/>
          <a:stretch>
            <a:fillRect/>
          </a:stretch>
        </p:blipFill>
        <p:spPr>
          <a:xfrm>
            <a:off x="636971" y="5483291"/>
            <a:ext cx="207386" cy="207386"/>
          </a:xfrm>
          <a:prstGeom prst="rect">
            <a:avLst/>
          </a:prstGeom>
        </p:spPr>
      </p:pic>
      <p:sp>
        <p:nvSpPr>
          <p:cNvPr id="9" name="Text 3"/>
          <p:cNvSpPr txBox="1"/>
          <p:nvPr/>
        </p:nvSpPr>
        <p:spPr>
          <a:xfrm>
            <a:off x="1078992" y="5413248"/>
            <a:ext cx="4864608" cy="780288"/>
          </a:xfrm>
          <a:prstGeom prst="rect">
            <a:avLst/>
          </a:prstGeom>
          <a:noFill/>
          <a:ln/>
        </p:spPr>
        <p:txBody>
          <a:bodyPr wrap="square" lIns="0" tIns="0" rIns="0" bIns="0" rtlCol="0" anchor="t"/>
          <a:lstStyle/>
          <a:p>
            <a:pPr indent="0" marL="0">
              <a:spcAft>
                <a:spcPts val="200"/>
              </a:spcAft>
              <a:buNone/>
            </a:pPr>
            <a:r>
              <a:rPr lang="en-US" sz="1600" b="1" dirty="0">
                <a:solidFill>
                  <a:schemeClr val="tx1"/>
                </a:solidFill>
              </a:rPr>
              <a:t>Mode et groupes d'agents</a:t>
            </a:r>
            <a:endParaRPr lang="en-US" sz="1600" dirty="0"/>
          </a:p>
          <a:p>
            <a:pPr indent="0" marL="0">
              <a:buNone/>
            </a:pPr>
            <a:r>
              <a:rPr lang="en-US" sz="1400" dirty="0">
                <a:solidFill>
                  <a:schemeClr val="accent3"/>
                </a:solidFill>
              </a:rPr>
              <a:t>Manuel, suggestion ou automatique ; chaque groupe reçoit ses catégories ou agences.</a:t>
            </a:r>
            <a:endParaRPr lang="en-US" sz="1600" dirty="0"/>
          </a:p>
        </p:txBody>
      </p:sp>
      <p:sp>
        <p:nvSpPr>
          <p:cNvPr id="10" name="Rond LuCalendarOff"/>
          <p:cNvSpPr/>
          <p:nvPr/>
        </p:nvSpPr>
        <p:spPr>
          <a:xfrm>
            <a:off x="6248095" y="5394960"/>
            <a:ext cx="384048" cy="384048"/>
          </a:xfrm>
          <a:prstGeom prst="ellipse">
            <a:avLst/>
          </a:prstGeom>
          <a:solidFill>
            <a:schemeClr val="accent4"/>
          </a:solidFill>
          <a:ln/>
        </p:spPr>
      </p:sp>
      <p:pic>
        <p:nvPicPr>
          <p:cNvPr id="11" name="Image 3" descr="preencoded.png">    </p:cNvPr>
          <p:cNvPicPr>
            <a:picLocks noChangeAspect="1"/>
          </p:cNvPicPr>
          <p:nvPr/>
        </p:nvPicPr>
        <p:blipFill>
          <a:blip r:embed="rId4"/>
          <a:stretch>
            <a:fillRect/>
          </a:stretch>
        </p:blipFill>
        <p:spPr>
          <a:xfrm>
            <a:off x="6336426" y="5483291"/>
            <a:ext cx="207386" cy="207386"/>
          </a:xfrm>
          <a:prstGeom prst="rect">
            <a:avLst/>
          </a:prstGeom>
        </p:spPr>
      </p:pic>
      <p:sp>
        <p:nvSpPr>
          <p:cNvPr id="12" name="Text 5"/>
          <p:cNvSpPr txBox="1"/>
          <p:nvPr/>
        </p:nvSpPr>
        <p:spPr>
          <a:xfrm>
            <a:off x="6778447" y="5413248"/>
            <a:ext cx="4864608" cy="566928"/>
          </a:xfrm>
          <a:prstGeom prst="rect">
            <a:avLst/>
          </a:prstGeom>
          <a:noFill/>
          <a:ln/>
        </p:spPr>
        <p:txBody>
          <a:bodyPr wrap="square" lIns="0" tIns="0" rIns="0" bIns="0" rtlCol="0" anchor="t"/>
          <a:lstStyle/>
          <a:p>
            <a:pPr indent="0" marL="0">
              <a:spcAft>
                <a:spcPts val="200"/>
              </a:spcAft>
              <a:buNone/>
            </a:pPr>
            <a:r>
              <a:rPr lang="en-US" sz="1600" b="1" dirty="0">
                <a:solidFill>
                  <a:schemeClr val="tx1"/>
                </a:solidFill>
              </a:rPr>
              <a:t>Absences</a:t>
            </a:r>
            <a:endParaRPr lang="en-US" sz="1600" dirty="0"/>
          </a:p>
          <a:p>
            <a:pPr indent="0" marL="0">
              <a:buNone/>
            </a:pPr>
            <a:r>
              <a:rPr lang="en-US" sz="1400" dirty="0">
                <a:solidFill>
                  <a:schemeClr val="accent3"/>
                </a:solidFill>
              </a:rPr>
              <a:t>Un agent absent ne reçoit aucune nouvelle réclamation.</a:t>
            </a:r>
            <a:endParaRPr lang="en-US" sz="1600" dirty="0"/>
          </a:p>
        </p:txBody>
      </p:sp>
      <p:sp>
        <p:nvSpPr>
          <p:cNvPr id="25" name="Slide Number Placeholder 0"/>
          <p:cNvSpPr>
            <a:spLocks noGrp="1"/>
          </p:cNvSpPr>
          <p:nvPr>
            <p:ph type="sldNum" sz="quarter" idx="4294967295"/>
          </p:nvPr>
        </p:nvSpPr>
        <p:spPr>
          <a:xfrm>
            <a:off x="11183112" y="6446520"/>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LE PARAMÉTRAGE · ASSISTANT IA</a:t>
            </a:r>
            <a:endParaRPr lang="en-US" sz="1200" dirty="0"/>
          </a:p>
        </p:txBody>
      </p:sp>
      <p:sp>
        <p:nvSpPr>
          <p:cNvPr id="3" name="Text 0"/>
          <p:cNvSpPr/>
          <p:nvPr>
            <p:ph idx="101" type="title" hasCustomPrompt="1"/>
          </p:nvPr>
        </p:nvSpPr>
        <p:spPr>
          <a:xfrm>
            <a:off x="548640" y="603504"/>
            <a:ext cx="11091672" cy="685800"/>
          </a:xfrm>
          <a:prstGeom prst="rect">
            <a:avLst/>
          </a:prstGeom>
          <a:noFill/>
          <a:ln/>
        </p:spPr>
        <p:txBody>
          <a:bodyPr wrap="square" lIns="0" tIns="0" rIns="0" bIns="0" rtlCol="0" anchor="t"/>
          <a:lstStyle/>
          <a:p>
            <a:pPr algn="l" indent="0" marL="0">
              <a:buNone/>
            </a:pPr>
            <a:r>
              <a:rPr lang="en-US" sz="3600" b="1" dirty="0">
                <a:solidFill>
                  <a:schemeClr val="tx1"/>
                </a:solidFill>
              </a:rPr>
              <a:t>Vous écrivez chaque réponse de l'assistant</a:t>
            </a:r>
            <a:endParaRPr lang="en-US" sz="3600" dirty="0"/>
          </a:p>
        </p:txBody>
      </p:sp>
      <p:pic>
        <p:nvPicPr>
          <p:cNvPr id="5" name="Image 0" descr="Base de réponses de l'assistant">    </p:cNvPr>
          <p:cNvPicPr>
            <a:picLocks noChangeAspect="1"/>
          </p:cNvPicPr>
          <p:nvPr/>
        </p:nvPicPr>
        <p:blipFill>
          <a:blip r:embed="rId1"/>
          <a:stretch>
            <a:fillRect/>
          </a:stretch>
        </p:blipFill>
        <p:spPr>
          <a:xfrm>
            <a:off x="312012" y="1299564"/>
            <a:ext cx="7788457" cy="5239630"/>
          </a:xfrm>
          <a:prstGeom prst="rect">
            <a:avLst/>
          </a:prstGeom>
        </p:spPr>
      </p:pic>
      <p:sp>
        <p:nvSpPr>
          <p:cNvPr id="6" name="Rond LuFilePen"/>
          <p:cNvSpPr/>
          <p:nvPr/>
        </p:nvSpPr>
        <p:spPr>
          <a:xfrm>
            <a:off x="8275320" y="1673352"/>
            <a:ext cx="384048" cy="384048"/>
          </a:xfrm>
          <a:prstGeom prst="ellipse">
            <a:avLst/>
          </a:prstGeom>
          <a:solidFill>
            <a:schemeClr val="accent4"/>
          </a:solidFill>
          <a:ln/>
        </p:spPr>
      </p:sp>
      <p:pic>
        <p:nvPicPr>
          <p:cNvPr id="7" name="Image 1" descr="preencoded.png">    </p:cNvPr>
          <p:cNvPicPr>
            <a:picLocks noChangeAspect="1"/>
          </p:cNvPicPr>
          <p:nvPr/>
        </p:nvPicPr>
        <p:blipFill>
          <a:blip r:embed="rId2"/>
          <a:stretch>
            <a:fillRect/>
          </a:stretch>
        </p:blipFill>
        <p:spPr>
          <a:xfrm>
            <a:off x="8363651" y="1761683"/>
            <a:ext cx="207386" cy="207386"/>
          </a:xfrm>
          <a:prstGeom prst="rect">
            <a:avLst/>
          </a:prstGeom>
        </p:spPr>
      </p:pic>
      <p:sp>
        <p:nvSpPr>
          <p:cNvPr id="8" name="Text 3"/>
          <p:cNvSpPr txBox="1"/>
          <p:nvPr/>
        </p:nvSpPr>
        <p:spPr>
          <a:xfrm>
            <a:off x="8805672" y="1691640"/>
            <a:ext cx="2837383" cy="780288"/>
          </a:xfrm>
          <a:prstGeom prst="rect">
            <a:avLst/>
          </a:prstGeom>
          <a:noFill/>
          <a:ln/>
        </p:spPr>
        <p:txBody>
          <a:bodyPr wrap="square" lIns="0" tIns="0" rIns="0" bIns="0" rtlCol="0" anchor="t"/>
          <a:lstStyle/>
          <a:p>
            <a:pPr indent="0" marL="0">
              <a:spcAft>
                <a:spcPts val="200"/>
              </a:spcAft>
              <a:buNone/>
            </a:pPr>
            <a:r>
              <a:rPr lang="en-US" sz="1600" b="1" dirty="0">
                <a:solidFill>
                  <a:schemeClr val="tx1"/>
                </a:solidFill>
              </a:rPr>
              <a:t>Vos réponses, mot pour mot</a:t>
            </a:r>
            <a:endParaRPr lang="en-US" sz="1600" dirty="0"/>
          </a:p>
          <a:p>
            <a:pPr indent="0" marL="0">
              <a:buNone/>
            </a:pPr>
            <a:r>
              <a:rPr lang="en-US" sz="1400" dirty="0">
                <a:solidFill>
                  <a:schemeClr val="accent3"/>
                </a:solidFill>
              </a:rPr>
              <a:t>L'assistant ne rédige jamais seul une réponse au client.</a:t>
            </a:r>
            <a:endParaRPr lang="en-US" sz="1600" dirty="0"/>
          </a:p>
        </p:txBody>
      </p:sp>
      <p:sp>
        <p:nvSpPr>
          <p:cNvPr id="9" name="Rond LuTriangleAlert"/>
          <p:cNvSpPr/>
          <p:nvPr/>
        </p:nvSpPr>
        <p:spPr>
          <a:xfrm>
            <a:off x="8275320" y="2746248"/>
            <a:ext cx="384048" cy="384048"/>
          </a:xfrm>
          <a:prstGeom prst="ellipse">
            <a:avLst/>
          </a:prstGeom>
          <a:solidFill>
            <a:schemeClr val="accent4"/>
          </a:solidFill>
          <a:ln/>
        </p:spPr>
      </p:sp>
      <p:pic>
        <p:nvPicPr>
          <p:cNvPr id="10" name="Image 2" descr="preencoded.png">    </p:cNvPr>
          <p:cNvPicPr>
            <a:picLocks noChangeAspect="1"/>
          </p:cNvPicPr>
          <p:nvPr/>
        </p:nvPicPr>
        <p:blipFill>
          <a:blip r:embed="rId3"/>
          <a:stretch>
            <a:fillRect/>
          </a:stretch>
        </p:blipFill>
        <p:spPr>
          <a:xfrm>
            <a:off x="8363651" y="2834579"/>
            <a:ext cx="207386" cy="207386"/>
          </a:xfrm>
          <a:prstGeom prst="rect">
            <a:avLst/>
          </a:prstGeom>
        </p:spPr>
      </p:pic>
      <p:sp>
        <p:nvSpPr>
          <p:cNvPr id="11" name="Text 5"/>
          <p:cNvSpPr txBox="1"/>
          <p:nvPr/>
        </p:nvSpPr>
        <p:spPr>
          <a:xfrm>
            <a:off x="8805672" y="2764536"/>
            <a:ext cx="2837383" cy="993648"/>
          </a:xfrm>
          <a:prstGeom prst="rect">
            <a:avLst/>
          </a:prstGeom>
          <a:noFill/>
          <a:ln/>
        </p:spPr>
        <p:txBody>
          <a:bodyPr wrap="square" lIns="0" tIns="0" rIns="0" bIns="0" rtlCol="0" anchor="t"/>
          <a:lstStyle/>
          <a:p>
            <a:pPr indent="0" marL="0">
              <a:spcAft>
                <a:spcPts val="200"/>
              </a:spcAft>
              <a:buNone/>
            </a:pPr>
            <a:r>
              <a:rPr lang="en-US" sz="1600" b="1" dirty="0">
                <a:solidFill>
                  <a:schemeClr val="tx1"/>
                </a:solidFill>
              </a:rPr>
              <a:t>Les interdits signalés</a:t>
            </a:r>
            <a:endParaRPr lang="en-US" sz="1600" dirty="0"/>
          </a:p>
          <a:p>
            <a:pPr indent="0" marL="0">
              <a:buNone/>
            </a:pPr>
            <a:r>
              <a:rPr lang="en-US" sz="1400" dirty="0">
                <a:solidFill>
                  <a:schemeClr val="accent3"/>
                </a:solidFill>
              </a:rPr>
              <a:t>Promesse de remboursement ou de délai, statut annoncé, conseil, demande de code.</a:t>
            </a:r>
            <a:endParaRPr lang="en-US" sz="1600" dirty="0"/>
          </a:p>
        </p:txBody>
      </p:sp>
      <p:sp>
        <p:nvSpPr>
          <p:cNvPr id="12" name="Rond LuToggleRight"/>
          <p:cNvSpPr/>
          <p:nvPr/>
        </p:nvSpPr>
        <p:spPr>
          <a:xfrm>
            <a:off x="8275320" y="4032504"/>
            <a:ext cx="384048" cy="384048"/>
          </a:xfrm>
          <a:prstGeom prst="ellipse">
            <a:avLst/>
          </a:prstGeom>
          <a:solidFill>
            <a:schemeClr val="accent4"/>
          </a:solidFill>
          <a:ln/>
        </p:spPr>
      </p:sp>
      <p:pic>
        <p:nvPicPr>
          <p:cNvPr id="13" name="Image 3" descr="preencoded.png">    </p:cNvPr>
          <p:cNvPicPr>
            <a:picLocks noChangeAspect="1"/>
          </p:cNvPicPr>
          <p:nvPr/>
        </p:nvPicPr>
        <p:blipFill>
          <a:blip r:embed="rId4"/>
          <a:stretch>
            <a:fillRect/>
          </a:stretch>
        </p:blipFill>
        <p:spPr>
          <a:xfrm>
            <a:off x="8363651" y="4120835"/>
            <a:ext cx="207386" cy="207386"/>
          </a:xfrm>
          <a:prstGeom prst="rect">
            <a:avLst/>
          </a:prstGeom>
        </p:spPr>
      </p:pic>
      <p:sp>
        <p:nvSpPr>
          <p:cNvPr id="14" name="Text 7"/>
          <p:cNvSpPr txBox="1"/>
          <p:nvPr/>
        </p:nvSpPr>
        <p:spPr>
          <a:xfrm>
            <a:off x="8805672" y="4050792"/>
            <a:ext cx="2837383" cy="993648"/>
          </a:xfrm>
          <a:prstGeom prst="rect">
            <a:avLst/>
          </a:prstGeom>
          <a:noFill/>
          <a:ln/>
        </p:spPr>
        <p:txBody>
          <a:bodyPr wrap="square" lIns="0" tIns="0" rIns="0" bIns="0" rtlCol="0" anchor="t"/>
          <a:lstStyle/>
          <a:p>
            <a:pPr indent="0" marL="0">
              <a:spcAft>
                <a:spcPts val="200"/>
              </a:spcAft>
              <a:buNone/>
            </a:pPr>
            <a:r>
              <a:rPr lang="en-US" sz="1600" b="1" dirty="0">
                <a:solidFill>
                  <a:schemeClr val="tx1"/>
                </a:solidFill>
              </a:rPr>
              <a:t>Modifier ou retirer</a:t>
            </a:r>
            <a:endParaRPr lang="en-US" sz="1600" dirty="0"/>
          </a:p>
          <a:p>
            <a:pPr indent="0" marL="0">
              <a:buNone/>
            </a:pPr>
            <a:r>
              <a:rPr lang="en-US" sz="1400" dirty="0">
                <a:solidFill>
                  <a:schemeClr val="accent3"/>
                </a:solidFill>
              </a:rPr>
              <a:t>Une réponse retirée n'est plus utilisée ; chaque modification est datée.</a:t>
            </a:r>
            <a:endParaRPr lang="en-US" sz="1600" dirty="0"/>
          </a:p>
        </p:txBody>
      </p:sp>
      <p:sp>
        <p:nvSpPr>
          <p:cNvPr id="15" name="Rond LuBot"/>
          <p:cNvSpPr/>
          <p:nvPr/>
        </p:nvSpPr>
        <p:spPr>
          <a:xfrm>
            <a:off x="8275320" y="5318760"/>
            <a:ext cx="384048" cy="384048"/>
          </a:xfrm>
          <a:prstGeom prst="ellipse">
            <a:avLst/>
          </a:prstGeom>
          <a:solidFill>
            <a:schemeClr val="accent4"/>
          </a:solidFill>
          <a:ln/>
        </p:spPr>
      </p:sp>
      <p:pic>
        <p:nvPicPr>
          <p:cNvPr id="16" name="Image 4" descr="preencoded.png">    </p:cNvPr>
          <p:cNvPicPr>
            <a:picLocks noChangeAspect="1"/>
          </p:cNvPicPr>
          <p:nvPr/>
        </p:nvPicPr>
        <p:blipFill>
          <a:blip r:embed="rId5"/>
          <a:stretch>
            <a:fillRect/>
          </a:stretch>
        </p:blipFill>
        <p:spPr>
          <a:xfrm>
            <a:off x="8363651" y="5407091"/>
            <a:ext cx="207386" cy="207386"/>
          </a:xfrm>
          <a:prstGeom prst="rect">
            <a:avLst/>
          </a:prstGeom>
        </p:spPr>
      </p:pic>
      <p:sp>
        <p:nvSpPr>
          <p:cNvPr id="17" name="Text 9"/>
          <p:cNvSpPr txBox="1"/>
          <p:nvPr/>
        </p:nvSpPr>
        <p:spPr>
          <a:xfrm>
            <a:off x="8805672" y="5337048"/>
            <a:ext cx="2837383" cy="1024128"/>
          </a:xfrm>
          <a:prstGeom prst="rect">
            <a:avLst/>
          </a:prstGeom>
          <a:noFill/>
          <a:ln/>
        </p:spPr>
        <p:txBody>
          <a:bodyPr wrap="square" lIns="0" tIns="0" rIns="0" bIns="0" rtlCol="0" anchor="t"/>
          <a:lstStyle/>
          <a:p>
            <a:pPr indent="0" marL="0">
              <a:spcAft>
                <a:spcPts val="200"/>
              </a:spcAft>
              <a:buNone/>
            </a:pPr>
            <a:r>
              <a:rPr lang="en-US" sz="1600" b="1" dirty="0">
                <a:solidFill>
                  <a:schemeClr val="tx1"/>
                </a:solidFill>
              </a:rPr>
              <a:t>Des brouillons pour les agents</a:t>
            </a:r>
            <a:endParaRPr lang="en-US" sz="1600" dirty="0"/>
          </a:p>
          <a:p>
            <a:pPr indent="0" marL="0">
              <a:buNone/>
            </a:pPr>
            <a:r>
              <a:rPr lang="en-US" sz="1400" dirty="0">
                <a:solidFill>
                  <a:schemeClr val="accent3"/>
                </a:solidFill>
              </a:rPr>
              <a:t>Sur la fiche d'une réclamation, à relire avant tout envoi.</a:t>
            </a:r>
            <a:endParaRPr lang="en-US" sz="1600" dirty="0"/>
          </a:p>
        </p:txBody>
      </p:sp>
      <p:sp>
        <p:nvSpPr>
          <p:cNvPr id="25" name="Slide Number Placeholder 0"/>
          <p:cNvSpPr>
            <a:spLocks noGrp="1"/>
          </p:cNvSpPr>
          <p:nvPr>
            <p:ph type="sldNum" sz="quarter" idx="4294967295"/>
          </p:nvPr>
        </p:nvSpPr>
        <p:spPr>
          <a:xfrm>
            <a:off x="11183112" y="6446520"/>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LE PARAMÉTRAGE · PERSONNEL ET AUDIT</a:t>
            </a:r>
            <a:endParaRPr lang="en-US" sz="1200" dirty="0"/>
          </a:p>
        </p:txBody>
      </p:sp>
      <p:sp>
        <p:nvSpPr>
          <p:cNvPr id="3" name="Text 0"/>
          <p:cNvSpPr/>
          <p:nvPr>
            <p:ph idx="101" type="title" hasCustomPrompt="1"/>
          </p:nvPr>
        </p:nvSpPr>
        <p:spPr>
          <a:xfrm>
            <a:off x="548640" y="603504"/>
            <a:ext cx="11091672" cy="685800"/>
          </a:xfrm>
          <a:prstGeom prst="rect">
            <a:avLst/>
          </a:prstGeom>
          <a:noFill/>
          <a:ln/>
        </p:spPr>
        <p:txBody>
          <a:bodyPr wrap="square" lIns="0" tIns="0" rIns="0" bIns="0" rtlCol="0" anchor="t"/>
          <a:lstStyle/>
          <a:p>
            <a:pPr algn="l" indent="0" marL="0">
              <a:buNone/>
            </a:pPr>
            <a:r>
              <a:rPr lang="en-US" sz="3600" b="1" dirty="0">
                <a:solidFill>
                  <a:schemeClr val="tx1"/>
                </a:solidFill>
              </a:rPr>
              <a:t>Comptes du personnel et journal d'audit</a:t>
            </a:r>
            <a:endParaRPr lang="en-US" sz="3600" dirty="0"/>
          </a:p>
        </p:txBody>
      </p:sp>
      <p:pic>
        <p:nvPicPr>
          <p:cNvPr id="5" name="Image 0" descr="Personnel">    </p:cNvPr>
          <p:cNvPicPr>
            <a:picLocks noChangeAspect="1"/>
          </p:cNvPicPr>
          <p:nvPr/>
        </p:nvPicPr>
        <p:blipFill>
          <a:blip r:embed="rId1"/>
          <a:stretch>
            <a:fillRect/>
          </a:stretch>
        </p:blipFill>
        <p:spPr>
          <a:xfrm>
            <a:off x="374127" y="1425687"/>
            <a:ext cx="5743987" cy="3864227"/>
          </a:xfrm>
          <a:prstGeom prst="rect">
            <a:avLst/>
          </a:prstGeom>
        </p:spPr>
      </p:pic>
      <p:pic>
        <p:nvPicPr>
          <p:cNvPr id="6" name="Image 1" descr="Journal d'audit">    </p:cNvPr>
          <p:cNvPicPr>
            <a:picLocks noChangeAspect="1"/>
          </p:cNvPicPr>
          <p:nvPr/>
        </p:nvPicPr>
        <p:blipFill>
          <a:blip r:embed="rId2"/>
          <a:stretch>
            <a:fillRect/>
          </a:stretch>
        </p:blipFill>
        <p:spPr>
          <a:xfrm>
            <a:off x="6073582" y="1425687"/>
            <a:ext cx="5743987" cy="3864227"/>
          </a:xfrm>
          <a:prstGeom prst="rect">
            <a:avLst/>
          </a:prstGeom>
        </p:spPr>
      </p:pic>
      <p:sp>
        <p:nvSpPr>
          <p:cNvPr id="7" name="Rond LuUserPlus"/>
          <p:cNvSpPr/>
          <p:nvPr/>
        </p:nvSpPr>
        <p:spPr>
          <a:xfrm>
            <a:off x="548640" y="5394960"/>
            <a:ext cx="384048" cy="384048"/>
          </a:xfrm>
          <a:prstGeom prst="ellipse">
            <a:avLst/>
          </a:prstGeom>
          <a:solidFill>
            <a:schemeClr val="accent4"/>
          </a:solidFill>
          <a:ln/>
        </p:spPr>
      </p:sp>
      <p:pic>
        <p:nvPicPr>
          <p:cNvPr id="8" name="Image 2" descr="preencoded.png">    </p:cNvPr>
          <p:cNvPicPr>
            <a:picLocks noChangeAspect="1"/>
          </p:cNvPicPr>
          <p:nvPr/>
        </p:nvPicPr>
        <p:blipFill>
          <a:blip r:embed="rId3"/>
          <a:stretch>
            <a:fillRect/>
          </a:stretch>
        </p:blipFill>
        <p:spPr>
          <a:xfrm>
            <a:off x="636971" y="5483291"/>
            <a:ext cx="207386" cy="207386"/>
          </a:xfrm>
          <a:prstGeom prst="rect">
            <a:avLst/>
          </a:prstGeom>
        </p:spPr>
      </p:pic>
      <p:sp>
        <p:nvSpPr>
          <p:cNvPr id="9" name="Text 3"/>
          <p:cNvSpPr txBox="1"/>
          <p:nvPr/>
        </p:nvSpPr>
        <p:spPr>
          <a:xfrm>
            <a:off x="1078992" y="5413248"/>
            <a:ext cx="4864608" cy="780288"/>
          </a:xfrm>
          <a:prstGeom prst="rect">
            <a:avLst/>
          </a:prstGeom>
          <a:noFill/>
          <a:ln/>
        </p:spPr>
        <p:txBody>
          <a:bodyPr wrap="square" lIns="0" tIns="0" rIns="0" bIns="0" rtlCol="0" anchor="t"/>
          <a:lstStyle/>
          <a:p>
            <a:pPr indent="0" marL="0">
              <a:spcAft>
                <a:spcPts val="200"/>
              </a:spcAft>
              <a:buNone/>
            </a:pPr>
            <a:r>
              <a:rPr lang="en-US" sz="1600" b="1" dirty="0">
                <a:solidFill>
                  <a:schemeClr val="tx1"/>
                </a:solidFill>
              </a:rPr>
              <a:t>Personnel</a:t>
            </a:r>
            <a:endParaRPr lang="en-US" sz="1600" dirty="0"/>
          </a:p>
          <a:p>
            <a:pPr indent="0" marL="0">
              <a:buNone/>
            </a:pPr>
            <a:r>
              <a:rPr lang="en-US" sz="1400" dirty="0">
                <a:solidFill>
                  <a:schemeClr val="accent3"/>
                </a:solidFill>
              </a:rPr>
              <a:t>Invitations, rôles, équipes ; la règle de double authentification et l'état de chacun.</a:t>
            </a:r>
            <a:endParaRPr lang="en-US" sz="1600" dirty="0"/>
          </a:p>
        </p:txBody>
      </p:sp>
      <p:sp>
        <p:nvSpPr>
          <p:cNvPr id="10" name="Rond LuHistory"/>
          <p:cNvSpPr/>
          <p:nvPr/>
        </p:nvSpPr>
        <p:spPr>
          <a:xfrm>
            <a:off x="6248095" y="5394960"/>
            <a:ext cx="384048" cy="384048"/>
          </a:xfrm>
          <a:prstGeom prst="ellipse">
            <a:avLst/>
          </a:prstGeom>
          <a:solidFill>
            <a:schemeClr val="accent4"/>
          </a:solidFill>
          <a:ln/>
        </p:spPr>
      </p:sp>
      <p:pic>
        <p:nvPicPr>
          <p:cNvPr id="11" name="Image 3" descr="preencoded.png">    </p:cNvPr>
          <p:cNvPicPr>
            <a:picLocks noChangeAspect="1"/>
          </p:cNvPicPr>
          <p:nvPr/>
        </p:nvPicPr>
        <p:blipFill>
          <a:blip r:embed="rId4"/>
          <a:stretch>
            <a:fillRect/>
          </a:stretch>
        </p:blipFill>
        <p:spPr>
          <a:xfrm>
            <a:off x="6336426" y="5483291"/>
            <a:ext cx="207386" cy="207386"/>
          </a:xfrm>
          <a:prstGeom prst="rect">
            <a:avLst/>
          </a:prstGeom>
        </p:spPr>
      </p:pic>
      <p:sp>
        <p:nvSpPr>
          <p:cNvPr id="12" name="Text 5"/>
          <p:cNvSpPr txBox="1"/>
          <p:nvPr/>
        </p:nvSpPr>
        <p:spPr>
          <a:xfrm>
            <a:off x="6778447" y="5413248"/>
            <a:ext cx="4864608" cy="780288"/>
          </a:xfrm>
          <a:prstGeom prst="rect">
            <a:avLst/>
          </a:prstGeom>
          <a:noFill/>
          <a:ln/>
        </p:spPr>
        <p:txBody>
          <a:bodyPr wrap="square" lIns="0" tIns="0" rIns="0" bIns="0" rtlCol="0" anchor="t"/>
          <a:lstStyle/>
          <a:p>
            <a:pPr indent="0" marL="0">
              <a:spcAft>
                <a:spcPts val="200"/>
              </a:spcAft>
              <a:buNone/>
            </a:pPr>
            <a:r>
              <a:rPr lang="en-US" sz="1600" b="1" dirty="0">
                <a:solidFill>
                  <a:schemeClr val="tx1"/>
                </a:solidFill>
              </a:rPr>
              <a:t>Journal d'audit</a:t>
            </a:r>
            <a:endParaRPr lang="en-US" sz="1600" dirty="0"/>
          </a:p>
          <a:p>
            <a:pPr indent="0" marL="0">
              <a:buNone/>
            </a:pPr>
            <a:r>
              <a:rPr lang="en-US" sz="1400" dirty="0">
                <a:solidFill>
                  <a:schemeClr val="accent3"/>
                </a:solidFill>
              </a:rPr>
              <a:t>Chaque action horodatée, avec son auteur ; chaîne vérifiée en un clic.</a:t>
            </a:r>
            <a:endParaRPr lang="en-US" sz="1600" dirty="0"/>
          </a:p>
        </p:txBody>
      </p:sp>
      <p:sp>
        <p:nvSpPr>
          <p:cNvPr id="25" name="Slide Number Placeholder 0"/>
          <p:cNvSpPr>
            <a:spLocks noGrp="1"/>
          </p:cNvSpPr>
          <p:nvPr>
            <p:ph type="sldNum" sz="quarter" idx="4294967295"/>
          </p:nvPr>
        </p:nvSpPr>
        <p:spPr>
          <a:xfrm>
            <a:off x="11183112" y="6446520"/>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body" hasCustomPrompt="1"/>
          </p:nvPr>
        </p:nvSpPr>
        <p:spPr>
          <a:xfrm>
            <a:off x="548640" y="1600200"/>
            <a:ext cx="2743200" cy="914400"/>
          </a:xfrm>
          <a:prstGeom prst="rect">
            <a:avLst/>
          </a:prstGeom>
          <a:noFill/>
          <a:ln/>
        </p:spPr>
        <p:txBody>
          <a:bodyPr wrap="square" lIns="0" tIns="0" rIns="0" bIns="0" rtlCol="0" anchor="t"/>
          <a:lstStyle/>
          <a:p>
            <a:pPr indent="0" marL="0">
              <a:buNone/>
            </a:pPr>
            <a:r>
              <a:rPr lang="en-US" sz="6000" b="1" dirty="0">
                <a:solidFill>
                  <a:schemeClr val="accent2"/>
                </a:solidFill>
              </a:rPr>
              <a:t>05</a:t>
            </a:r>
            <a:endParaRPr lang="en-US" sz="6000" dirty="0"/>
          </a:p>
        </p:txBody>
      </p:sp>
      <p:sp>
        <p:nvSpPr>
          <p:cNvPr id="3" name="Text 0"/>
          <p:cNvSpPr/>
          <p:nvPr>
            <p:ph idx="101" type="title" hasCustomPrompt="1"/>
          </p:nvPr>
        </p:nvSpPr>
        <p:spPr>
          <a:xfrm>
            <a:off x="548640" y="2560320"/>
            <a:ext cx="5486400" cy="1325880"/>
          </a:xfrm>
          <a:prstGeom prst="rect">
            <a:avLst/>
          </a:prstGeom>
          <a:noFill/>
          <a:ln/>
        </p:spPr>
        <p:txBody>
          <a:bodyPr wrap="square" lIns="0" tIns="0" rIns="0" bIns="0" rtlCol="0" anchor="t"/>
          <a:lstStyle/>
          <a:p>
            <a:pPr algn="l" indent="0" marL="0">
              <a:buNone/>
            </a:pPr>
            <a:r>
              <a:rPr lang="en-US" sz="4000" b="1" dirty="0">
                <a:solidFill>
                  <a:schemeClr val="bg1"/>
                </a:solidFill>
              </a:rPr>
              <a:t>La console Makor Telecoms</a:t>
            </a:r>
            <a:endParaRPr lang="en-US" sz="4000" dirty="0"/>
          </a:p>
        </p:txBody>
      </p:sp>
      <p:sp>
        <p:nvSpPr>
          <p:cNvPr id="4" name="Text 0"/>
          <p:cNvSpPr/>
          <p:nvPr>
            <p:ph idx="102" type="body" hasCustomPrompt="1"/>
          </p:nvPr>
        </p:nvSpPr>
        <p:spPr>
          <a:xfrm>
            <a:off x="548640" y="4069080"/>
            <a:ext cx="5029200" cy="1371600"/>
          </a:xfrm>
          <a:prstGeom prst="rect">
            <a:avLst/>
          </a:prstGeom>
          <a:noFill/>
          <a:ln/>
        </p:spPr>
        <p:txBody>
          <a:bodyPr wrap="square" lIns="0" tIns="0" rIns="0" bIns="0" rtlCol="0" anchor="t"/>
          <a:lstStyle/>
          <a:p>
            <a:pPr algn="l" indent="0" marL="0">
              <a:buNone/>
            </a:pPr>
            <a:r>
              <a:rPr lang="en-US" sz="1800" dirty="0">
                <a:solidFill>
                  <a:schemeClr val="bg2"/>
                </a:solidFill>
              </a:rPr>
              <a:t>Makor exploite la plateforme pour toutes les banques, sans accès au contenu des réclamations.</a:t>
            </a:r>
            <a:endParaRPr lang="en-US" sz="1800" dirty="0"/>
          </a:p>
        </p:txBody>
      </p:sp>
      <p:pic>
        <p:nvPicPr>
          <p:cNvPr id="6" name="Image 0" descr="Console de la plateforme : banques">    </p:cNvPr>
          <p:cNvPicPr>
            <a:picLocks noChangeAspect="1"/>
          </p:cNvPicPr>
          <p:nvPr/>
        </p:nvPicPr>
        <p:blipFill>
          <a:blip r:embed="rId1"/>
          <a:stretch>
            <a:fillRect/>
          </a:stretch>
        </p:blipFill>
        <p:spPr>
          <a:xfrm>
            <a:off x="6181919" y="878399"/>
            <a:ext cx="7204323" cy="4846658"/>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LA CONSOLE MAKOR · BANQUES</a:t>
            </a:r>
            <a:endParaRPr lang="en-US" sz="1200" dirty="0"/>
          </a:p>
        </p:txBody>
      </p:sp>
      <p:sp>
        <p:nvSpPr>
          <p:cNvPr id="3" name="Text 0"/>
          <p:cNvSpPr/>
          <p:nvPr>
            <p:ph idx="101" type="title" hasCustomPrompt="1"/>
          </p:nvPr>
        </p:nvSpPr>
        <p:spPr>
          <a:xfrm>
            <a:off x="548640" y="603504"/>
            <a:ext cx="11091672" cy="685800"/>
          </a:xfrm>
          <a:prstGeom prst="rect">
            <a:avLst/>
          </a:prstGeom>
          <a:noFill/>
          <a:ln/>
        </p:spPr>
        <p:txBody>
          <a:bodyPr wrap="square" lIns="0" tIns="0" rIns="0" bIns="0" rtlCol="0" anchor="t"/>
          <a:lstStyle/>
          <a:p>
            <a:pPr algn="l" indent="0" marL="0">
              <a:buNone/>
            </a:pPr>
            <a:r>
              <a:rPr lang="en-US" sz="3600" b="1" dirty="0">
                <a:solidFill>
                  <a:schemeClr val="tx1"/>
                </a:solidFill>
              </a:rPr>
              <a:t>Chaque module activé banque par banque</a:t>
            </a:r>
            <a:endParaRPr lang="en-US" sz="3600" dirty="0"/>
          </a:p>
        </p:txBody>
      </p:sp>
      <p:pic>
        <p:nvPicPr>
          <p:cNvPr id="5" name="Image 0" descr="Liste des banques clientes">    </p:cNvPr>
          <p:cNvPicPr>
            <a:picLocks noChangeAspect="1"/>
          </p:cNvPicPr>
          <p:nvPr/>
        </p:nvPicPr>
        <p:blipFill>
          <a:blip r:embed="rId1"/>
          <a:stretch>
            <a:fillRect/>
          </a:stretch>
        </p:blipFill>
        <p:spPr>
          <a:xfrm>
            <a:off x="306096" y="1330224"/>
            <a:ext cx="7983168" cy="3187723"/>
          </a:xfrm>
          <a:prstGeom prst="rect">
            <a:avLst/>
          </a:prstGeom>
        </p:spPr>
      </p:pic>
      <p:pic>
        <p:nvPicPr>
          <p:cNvPr id="6" name="Image 1" descr="Réglages d'une banque : modules activables">    </p:cNvPr>
          <p:cNvPicPr>
            <a:picLocks noChangeAspect="1"/>
          </p:cNvPicPr>
          <p:nvPr/>
        </p:nvPicPr>
        <p:blipFill>
          <a:blip r:embed="rId2"/>
          <a:stretch>
            <a:fillRect/>
          </a:stretch>
        </p:blipFill>
        <p:spPr>
          <a:xfrm>
            <a:off x="8574357" y="1231725"/>
            <a:ext cx="3284060" cy="5327238"/>
          </a:xfrm>
          <a:prstGeom prst="rect">
            <a:avLst/>
          </a:prstGeom>
        </p:spPr>
      </p:pic>
      <p:sp>
        <p:nvSpPr>
          <p:cNvPr id="7" name="Rond LuBuilding2"/>
          <p:cNvSpPr/>
          <p:nvPr/>
        </p:nvSpPr>
        <p:spPr>
          <a:xfrm>
            <a:off x="548640" y="4599432"/>
            <a:ext cx="384048" cy="384048"/>
          </a:xfrm>
          <a:prstGeom prst="ellipse">
            <a:avLst/>
          </a:prstGeom>
          <a:solidFill>
            <a:schemeClr val="accent4"/>
          </a:solidFill>
          <a:ln/>
        </p:spPr>
      </p:sp>
      <p:pic>
        <p:nvPicPr>
          <p:cNvPr id="8" name="Image 2" descr="preencoded.png">    </p:cNvPr>
          <p:cNvPicPr>
            <a:picLocks noChangeAspect="1"/>
          </p:cNvPicPr>
          <p:nvPr/>
        </p:nvPicPr>
        <p:blipFill>
          <a:blip r:embed="rId3"/>
          <a:stretch>
            <a:fillRect/>
          </a:stretch>
        </p:blipFill>
        <p:spPr>
          <a:xfrm>
            <a:off x="636971" y="4687763"/>
            <a:ext cx="207386" cy="207386"/>
          </a:xfrm>
          <a:prstGeom prst="rect">
            <a:avLst/>
          </a:prstGeom>
        </p:spPr>
      </p:pic>
      <p:sp>
        <p:nvSpPr>
          <p:cNvPr id="9" name="Text 3"/>
          <p:cNvSpPr txBox="1"/>
          <p:nvPr/>
        </p:nvSpPr>
        <p:spPr>
          <a:xfrm>
            <a:off x="1078992" y="4617720"/>
            <a:ext cx="1786128" cy="993648"/>
          </a:xfrm>
          <a:prstGeom prst="rect">
            <a:avLst/>
          </a:prstGeom>
          <a:noFill/>
          <a:ln/>
        </p:spPr>
        <p:txBody>
          <a:bodyPr wrap="square" lIns="0" tIns="0" rIns="0" bIns="0" rtlCol="0" anchor="t"/>
          <a:lstStyle/>
          <a:p>
            <a:pPr indent="0" marL="0">
              <a:spcAft>
                <a:spcPts val="200"/>
              </a:spcAft>
              <a:buNone/>
            </a:pPr>
            <a:r>
              <a:rPr lang="en-US" sz="1600" b="1" dirty="0">
                <a:solidFill>
                  <a:schemeClr val="tx1"/>
                </a:solidFill>
              </a:rPr>
              <a:t>Banques et plans</a:t>
            </a:r>
            <a:endParaRPr lang="en-US" sz="1600" dirty="0"/>
          </a:p>
          <a:p>
            <a:pPr indent="0" marL="0">
              <a:buNone/>
            </a:pPr>
            <a:r>
              <a:rPr lang="en-US" sz="1400" dirty="0">
                <a:solidFill>
                  <a:schemeClr val="accent3"/>
                </a:solidFill>
              </a:rPr>
              <a:t>Agents et réclamations du mois face au plafond du plan.</a:t>
            </a:r>
            <a:endParaRPr lang="en-US" sz="1600" dirty="0"/>
          </a:p>
        </p:txBody>
      </p:sp>
      <p:sp>
        <p:nvSpPr>
          <p:cNvPr id="10" name="Rond LuToggleRight"/>
          <p:cNvSpPr/>
          <p:nvPr/>
        </p:nvSpPr>
        <p:spPr>
          <a:xfrm>
            <a:off x="3139440" y="4599432"/>
            <a:ext cx="384048" cy="384048"/>
          </a:xfrm>
          <a:prstGeom prst="ellipse">
            <a:avLst/>
          </a:prstGeom>
          <a:solidFill>
            <a:schemeClr val="accent4"/>
          </a:solidFill>
          <a:ln/>
        </p:spPr>
      </p:sp>
      <p:pic>
        <p:nvPicPr>
          <p:cNvPr id="11" name="Image 3" descr="preencoded.png">    </p:cNvPr>
          <p:cNvPicPr>
            <a:picLocks noChangeAspect="1"/>
          </p:cNvPicPr>
          <p:nvPr/>
        </p:nvPicPr>
        <p:blipFill>
          <a:blip r:embed="rId4"/>
          <a:stretch>
            <a:fillRect/>
          </a:stretch>
        </p:blipFill>
        <p:spPr>
          <a:xfrm>
            <a:off x="3227771" y="4687763"/>
            <a:ext cx="207386" cy="207386"/>
          </a:xfrm>
          <a:prstGeom prst="rect">
            <a:avLst/>
          </a:prstGeom>
        </p:spPr>
      </p:pic>
      <p:sp>
        <p:nvSpPr>
          <p:cNvPr id="12" name="Text 5"/>
          <p:cNvSpPr txBox="1"/>
          <p:nvPr/>
        </p:nvSpPr>
        <p:spPr>
          <a:xfrm>
            <a:off x="3669792" y="4617720"/>
            <a:ext cx="1786128" cy="1450848"/>
          </a:xfrm>
          <a:prstGeom prst="rect">
            <a:avLst/>
          </a:prstGeom>
          <a:noFill/>
          <a:ln/>
        </p:spPr>
        <p:txBody>
          <a:bodyPr wrap="square" lIns="0" tIns="0" rIns="0" bIns="0" rtlCol="0" anchor="t"/>
          <a:lstStyle/>
          <a:p>
            <a:pPr indent="0" marL="0">
              <a:spcAft>
                <a:spcPts val="200"/>
              </a:spcAft>
              <a:buNone/>
            </a:pPr>
            <a:r>
              <a:rPr lang="en-US" sz="1600" b="1" dirty="0">
                <a:solidFill>
                  <a:schemeClr val="tx1"/>
                </a:solidFill>
              </a:rPr>
              <a:t>Modules à la carte</a:t>
            </a:r>
            <a:endParaRPr lang="en-US" sz="1600" dirty="0"/>
          </a:p>
          <a:p>
            <a:pPr indent="0" marL="0">
              <a:buNone/>
            </a:pPr>
            <a:r>
              <a:rPr lang="en-US" sz="1400" dirty="0">
                <a:solidFill>
                  <a:schemeClr val="accent3"/>
                </a:solidFill>
              </a:rPr>
              <a:t>SMS à chaque étape, enquête, attribution, chat web, assistant IA.</a:t>
            </a:r>
            <a:endParaRPr lang="en-US" sz="1600" dirty="0"/>
          </a:p>
        </p:txBody>
      </p:sp>
      <p:sp>
        <p:nvSpPr>
          <p:cNvPr id="13" name="Rond LuCirclePause"/>
          <p:cNvSpPr/>
          <p:nvPr/>
        </p:nvSpPr>
        <p:spPr>
          <a:xfrm>
            <a:off x="5730240" y="4599432"/>
            <a:ext cx="384048" cy="384048"/>
          </a:xfrm>
          <a:prstGeom prst="ellipse">
            <a:avLst/>
          </a:prstGeom>
          <a:solidFill>
            <a:schemeClr val="accent4"/>
          </a:solidFill>
          <a:ln/>
        </p:spPr>
      </p:sp>
      <p:pic>
        <p:nvPicPr>
          <p:cNvPr id="14" name="Image 4" descr="preencoded.png">    </p:cNvPr>
          <p:cNvPicPr>
            <a:picLocks noChangeAspect="1"/>
          </p:cNvPicPr>
          <p:nvPr/>
        </p:nvPicPr>
        <p:blipFill>
          <a:blip r:embed="rId5"/>
          <a:stretch>
            <a:fillRect/>
          </a:stretch>
        </p:blipFill>
        <p:spPr>
          <a:xfrm>
            <a:off x="5818571" y="4687763"/>
            <a:ext cx="207386" cy="207386"/>
          </a:xfrm>
          <a:prstGeom prst="rect">
            <a:avLst/>
          </a:prstGeom>
        </p:spPr>
      </p:pic>
      <p:sp>
        <p:nvSpPr>
          <p:cNvPr id="15" name="Text 7"/>
          <p:cNvSpPr txBox="1"/>
          <p:nvPr/>
        </p:nvSpPr>
        <p:spPr>
          <a:xfrm>
            <a:off x="6260592" y="4617720"/>
            <a:ext cx="1786128" cy="1237488"/>
          </a:xfrm>
          <a:prstGeom prst="rect">
            <a:avLst/>
          </a:prstGeom>
          <a:noFill/>
          <a:ln/>
        </p:spPr>
        <p:txBody>
          <a:bodyPr wrap="square" lIns="0" tIns="0" rIns="0" bIns="0" rtlCol="0" anchor="t"/>
          <a:lstStyle/>
          <a:p>
            <a:pPr indent="0" marL="0">
              <a:spcAft>
                <a:spcPts val="200"/>
              </a:spcAft>
              <a:buNone/>
            </a:pPr>
            <a:r>
              <a:rPr lang="en-US" sz="1600" b="1" dirty="0">
                <a:solidFill>
                  <a:schemeClr val="tx1"/>
                </a:solidFill>
              </a:rPr>
              <a:t>Suspension réversible</a:t>
            </a:r>
            <a:endParaRPr lang="en-US" sz="1600" dirty="0"/>
          </a:p>
          <a:p>
            <a:pPr indent="0" marL="0">
              <a:buNone/>
            </a:pPr>
            <a:r>
              <a:rPr lang="en-US" sz="1400" dirty="0">
                <a:solidFill>
                  <a:schemeClr val="accent3"/>
                </a:solidFill>
              </a:rPr>
              <a:t>Une banque suspendue garde ses données ; tout se rétablit.</a:t>
            </a:r>
            <a:endParaRPr lang="en-US" sz="1600" dirty="0"/>
          </a:p>
        </p:txBody>
      </p:sp>
      <p:sp>
        <p:nvSpPr>
          <p:cNvPr id="25" name="Slide Number Placeholder 0"/>
          <p:cNvSpPr>
            <a:spLocks noGrp="1"/>
          </p:cNvSpPr>
          <p:nvPr>
            <p:ph type="sldNum" sz="quarter" idx="4294967295"/>
          </p:nvPr>
        </p:nvSpPr>
        <p:spPr>
          <a:xfrm>
            <a:off x="11183112" y="6446520"/>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LA CONSOLE MAKOR · ACTIVITÉ</a:t>
            </a:r>
            <a:endParaRPr lang="en-US" sz="1200" dirty="0"/>
          </a:p>
        </p:txBody>
      </p:sp>
      <p:sp>
        <p:nvSpPr>
          <p:cNvPr id="3" name="Text 0"/>
          <p:cNvSpPr/>
          <p:nvPr>
            <p:ph idx="101" type="title" hasCustomPrompt="1"/>
          </p:nvPr>
        </p:nvSpPr>
        <p:spPr>
          <a:xfrm>
            <a:off x="548640" y="603504"/>
            <a:ext cx="11091672" cy="685800"/>
          </a:xfrm>
          <a:prstGeom prst="rect">
            <a:avLst/>
          </a:prstGeom>
          <a:noFill/>
          <a:ln/>
        </p:spPr>
        <p:txBody>
          <a:bodyPr wrap="square" lIns="0" tIns="0" rIns="0" bIns="0" rtlCol="0" anchor="t"/>
          <a:lstStyle/>
          <a:p>
            <a:pPr algn="l" indent="0" marL="0">
              <a:buNone/>
            </a:pPr>
            <a:r>
              <a:rPr lang="en-US" sz="3600" b="1" dirty="0">
                <a:solidFill>
                  <a:schemeClr val="tx1"/>
                </a:solidFill>
              </a:rPr>
              <a:t>Activité, SMS et IA suivis par banque</a:t>
            </a:r>
            <a:endParaRPr lang="en-US" sz="3600" dirty="0"/>
          </a:p>
        </p:txBody>
      </p:sp>
      <p:pic>
        <p:nvPicPr>
          <p:cNvPr id="5" name="Image 0" descr="Activité par banque, mois de septembre">    </p:cNvPr>
          <p:cNvPicPr>
            <a:picLocks noChangeAspect="1"/>
          </p:cNvPicPr>
          <p:nvPr/>
        </p:nvPicPr>
        <p:blipFill>
          <a:blip r:embed="rId1"/>
          <a:stretch>
            <a:fillRect/>
          </a:stretch>
        </p:blipFill>
        <p:spPr>
          <a:xfrm>
            <a:off x="332717" y="1338557"/>
            <a:ext cx="7106967" cy="3405422"/>
          </a:xfrm>
          <a:prstGeom prst="rect">
            <a:avLst/>
          </a:prstGeom>
        </p:spPr>
      </p:pic>
      <p:pic>
        <p:nvPicPr>
          <p:cNvPr id="6" name="Image 1" descr="SMS et assistant IA, mois d'octobre">    </p:cNvPr>
          <p:cNvPicPr>
            <a:picLocks noChangeAspect="1"/>
          </p:cNvPicPr>
          <p:nvPr/>
        </p:nvPicPr>
        <p:blipFill>
          <a:blip r:embed="rId2"/>
          <a:stretch>
            <a:fillRect/>
          </a:stretch>
        </p:blipFill>
        <p:spPr>
          <a:xfrm>
            <a:off x="2139459" y="3602499"/>
            <a:ext cx="6328121" cy="2688902"/>
          </a:xfrm>
          <a:prstGeom prst="rect">
            <a:avLst/>
          </a:prstGeom>
        </p:spPr>
      </p:pic>
      <p:sp>
        <p:nvSpPr>
          <p:cNvPr id="7" name="Rond LuChartColumn"/>
          <p:cNvSpPr/>
          <p:nvPr/>
        </p:nvSpPr>
        <p:spPr>
          <a:xfrm>
            <a:off x="8641080" y="1673352"/>
            <a:ext cx="384048" cy="384048"/>
          </a:xfrm>
          <a:prstGeom prst="ellipse">
            <a:avLst/>
          </a:prstGeom>
          <a:solidFill>
            <a:schemeClr val="accent4"/>
          </a:solidFill>
          <a:ln/>
        </p:spPr>
      </p:sp>
      <p:pic>
        <p:nvPicPr>
          <p:cNvPr id="8" name="Image 2" descr="preencoded.png">    </p:cNvPr>
          <p:cNvPicPr>
            <a:picLocks noChangeAspect="1"/>
          </p:cNvPicPr>
          <p:nvPr/>
        </p:nvPicPr>
        <p:blipFill>
          <a:blip r:embed="rId3"/>
          <a:stretch>
            <a:fillRect/>
          </a:stretch>
        </p:blipFill>
        <p:spPr>
          <a:xfrm>
            <a:off x="8729411" y="1761683"/>
            <a:ext cx="207386" cy="207386"/>
          </a:xfrm>
          <a:prstGeom prst="rect">
            <a:avLst/>
          </a:prstGeom>
        </p:spPr>
      </p:pic>
      <p:sp>
        <p:nvSpPr>
          <p:cNvPr id="9" name="Text 3"/>
          <p:cNvSpPr txBox="1"/>
          <p:nvPr/>
        </p:nvSpPr>
        <p:spPr>
          <a:xfrm>
            <a:off x="9171432" y="1691640"/>
            <a:ext cx="2471623" cy="780288"/>
          </a:xfrm>
          <a:prstGeom prst="rect">
            <a:avLst/>
          </a:prstGeom>
          <a:noFill/>
          <a:ln/>
        </p:spPr>
        <p:txBody>
          <a:bodyPr wrap="square" lIns="0" tIns="0" rIns="0" bIns="0" rtlCol="0" anchor="t"/>
          <a:lstStyle/>
          <a:p>
            <a:pPr indent="0" marL="0">
              <a:spcAft>
                <a:spcPts val="200"/>
              </a:spcAft>
              <a:buNone/>
            </a:pPr>
            <a:r>
              <a:rPr lang="en-US" sz="1600" b="1" dirty="0">
                <a:solidFill>
                  <a:schemeClr val="tx1"/>
                </a:solidFill>
              </a:rPr>
              <a:t>Réclamations par banque</a:t>
            </a:r>
            <a:endParaRPr lang="en-US" sz="1600" dirty="0"/>
          </a:p>
          <a:p>
            <a:pPr indent="0" marL="0">
              <a:buNone/>
            </a:pPr>
            <a:r>
              <a:rPr lang="en-US" sz="1400" dirty="0">
                <a:solidFill>
                  <a:schemeClr val="accent3"/>
                </a:solidFill>
              </a:rPr>
              <a:t>Volumes, statuts, urgences, SLA et premier contact.</a:t>
            </a:r>
            <a:endParaRPr lang="en-US" sz="1600" dirty="0"/>
          </a:p>
        </p:txBody>
      </p:sp>
      <p:sp>
        <p:nvSpPr>
          <p:cNvPr id="10" name="Rond LuSmile"/>
          <p:cNvSpPr/>
          <p:nvPr/>
        </p:nvSpPr>
        <p:spPr>
          <a:xfrm>
            <a:off x="8641080" y="2727960"/>
            <a:ext cx="384048" cy="384048"/>
          </a:xfrm>
          <a:prstGeom prst="ellipse">
            <a:avLst/>
          </a:prstGeom>
          <a:solidFill>
            <a:schemeClr val="accent4"/>
          </a:solidFill>
          <a:ln/>
        </p:spPr>
      </p:sp>
      <p:pic>
        <p:nvPicPr>
          <p:cNvPr id="11" name="Image 3" descr="preencoded.png">    </p:cNvPr>
          <p:cNvPicPr>
            <a:picLocks noChangeAspect="1"/>
          </p:cNvPicPr>
          <p:nvPr/>
        </p:nvPicPr>
        <p:blipFill>
          <a:blip r:embed="rId4"/>
          <a:stretch>
            <a:fillRect/>
          </a:stretch>
        </p:blipFill>
        <p:spPr>
          <a:xfrm>
            <a:off x="8729411" y="2816291"/>
            <a:ext cx="207386" cy="207386"/>
          </a:xfrm>
          <a:prstGeom prst="rect">
            <a:avLst/>
          </a:prstGeom>
        </p:spPr>
      </p:pic>
      <p:sp>
        <p:nvSpPr>
          <p:cNvPr id="12" name="Text 5"/>
          <p:cNvSpPr txBox="1"/>
          <p:nvPr/>
        </p:nvSpPr>
        <p:spPr>
          <a:xfrm>
            <a:off x="9171432" y="2746248"/>
            <a:ext cx="2471623" cy="780288"/>
          </a:xfrm>
          <a:prstGeom prst="rect">
            <a:avLst/>
          </a:prstGeom>
          <a:noFill/>
          <a:ln/>
        </p:spPr>
        <p:txBody>
          <a:bodyPr wrap="square" lIns="0" tIns="0" rIns="0" bIns="0" rtlCol="0" anchor="t"/>
          <a:lstStyle/>
          <a:p>
            <a:pPr indent="0" marL="0">
              <a:spcAft>
                <a:spcPts val="200"/>
              </a:spcAft>
              <a:buNone/>
            </a:pPr>
            <a:r>
              <a:rPr lang="en-US" sz="1600" b="1" dirty="0">
                <a:solidFill>
                  <a:schemeClr val="tx1"/>
                </a:solidFill>
              </a:rPr>
              <a:t>Satisfaction par banque</a:t>
            </a:r>
            <a:endParaRPr lang="en-US" sz="1600" dirty="0"/>
          </a:p>
          <a:p>
            <a:pPr indent="0" marL="0">
              <a:buNone/>
            </a:pPr>
            <a:r>
              <a:rPr lang="en-US" sz="1400" dirty="0">
                <a:solidFill>
                  <a:schemeClr val="accent3"/>
                </a:solidFill>
              </a:rPr>
              <a:t>Les commentaires restent dans la banque.</a:t>
            </a:r>
            <a:endParaRPr lang="en-US" sz="1600" dirty="0"/>
          </a:p>
        </p:txBody>
      </p:sp>
      <p:sp>
        <p:nvSpPr>
          <p:cNvPr id="13" name="Rond LuMessageSquareText"/>
          <p:cNvSpPr/>
          <p:nvPr/>
        </p:nvSpPr>
        <p:spPr>
          <a:xfrm>
            <a:off x="8641080" y="3782568"/>
            <a:ext cx="384048" cy="384048"/>
          </a:xfrm>
          <a:prstGeom prst="ellipse">
            <a:avLst/>
          </a:prstGeom>
          <a:solidFill>
            <a:schemeClr val="accent4"/>
          </a:solidFill>
          <a:ln/>
        </p:spPr>
      </p:sp>
      <p:pic>
        <p:nvPicPr>
          <p:cNvPr id="14" name="Image 4" descr="preencoded.png">    </p:cNvPr>
          <p:cNvPicPr>
            <a:picLocks noChangeAspect="1"/>
          </p:cNvPicPr>
          <p:nvPr/>
        </p:nvPicPr>
        <p:blipFill>
          <a:blip r:embed="rId5"/>
          <a:stretch>
            <a:fillRect/>
          </a:stretch>
        </p:blipFill>
        <p:spPr>
          <a:xfrm>
            <a:off x="8729411" y="3870899"/>
            <a:ext cx="207386" cy="207386"/>
          </a:xfrm>
          <a:prstGeom prst="rect">
            <a:avLst/>
          </a:prstGeom>
        </p:spPr>
      </p:pic>
      <p:sp>
        <p:nvSpPr>
          <p:cNvPr id="15" name="Text 7"/>
          <p:cNvSpPr txBox="1"/>
          <p:nvPr/>
        </p:nvSpPr>
        <p:spPr>
          <a:xfrm>
            <a:off x="9171432" y="3800856"/>
            <a:ext cx="2471623" cy="780288"/>
          </a:xfrm>
          <a:prstGeom prst="rect">
            <a:avLst/>
          </a:prstGeom>
          <a:noFill/>
          <a:ln/>
        </p:spPr>
        <p:txBody>
          <a:bodyPr wrap="square" lIns="0" tIns="0" rIns="0" bIns="0" rtlCol="0" anchor="t"/>
          <a:lstStyle/>
          <a:p>
            <a:pPr indent="0" marL="0">
              <a:spcAft>
                <a:spcPts val="200"/>
              </a:spcAft>
              <a:buNone/>
            </a:pPr>
            <a:r>
              <a:rPr lang="en-US" sz="1600" b="1" dirty="0">
                <a:solidFill>
                  <a:schemeClr val="tx1"/>
                </a:solidFill>
              </a:rPr>
              <a:t>SMS facturés</a:t>
            </a:r>
            <a:endParaRPr lang="en-US" sz="1600" dirty="0"/>
          </a:p>
          <a:p>
            <a:pPr indent="0" marL="0">
              <a:buNone/>
            </a:pPr>
            <a:r>
              <a:rPr lang="en-US" sz="1400" dirty="0">
                <a:solidFill>
                  <a:schemeClr val="accent3"/>
                </a:solidFill>
              </a:rPr>
              <a:t>Envoyés, segments, échecs ; export CSV.</a:t>
            </a:r>
            <a:endParaRPr lang="en-US" sz="1600" dirty="0"/>
          </a:p>
        </p:txBody>
      </p:sp>
      <p:sp>
        <p:nvSpPr>
          <p:cNvPr id="16" name="Rond LuBot"/>
          <p:cNvSpPr/>
          <p:nvPr/>
        </p:nvSpPr>
        <p:spPr>
          <a:xfrm>
            <a:off x="8641080" y="4837176"/>
            <a:ext cx="384048" cy="384048"/>
          </a:xfrm>
          <a:prstGeom prst="ellipse">
            <a:avLst/>
          </a:prstGeom>
          <a:solidFill>
            <a:schemeClr val="accent4"/>
          </a:solidFill>
          <a:ln/>
        </p:spPr>
      </p:sp>
      <p:pic>
        <p:nvPicPr>
          <p:cNvPr id="17" name="Image 5" descr="preencoded.png">    </p:cNvPr>
          <p:cNvPicPr>
            <a:picLocks noChangeAspect="1"/>
          </p:cNvPicPr>
          <p:nvPr/>
        </p:nvPicPr>
        <p:blipFill>
          <a:blip r:embed="rId6"/>
          <a:stretch>
            <a:fillRect/>
          </a:stretch>
        </p:blipFill>
        <p:spPr>
          <a:xfrm>
            <a:off x="8729411" y="4925507"/>
            <a:ext cx="207386" cy="207386"/>
          </a:xfrm>
          <a:prstGeom prst="rect">
            <a:avLst/>
          </a:prstGeom>
        </p:spPr>
      </p:pic>
      <p:sp>
        <p:nvSpPr>
          <p:cNvPr id="18" name="Text 9"/>
          <p:cNvSpPr txBox="1"/>
          <p:nvPr/>
        </p:nvSpPr>
        <p:spPr>
          <a:xfrm>
            <a:off x="9171432" y="4855464"/>
            <a:ext cx="2471623" cy="780288"/>
          </a:xfrm>
          <a:prstGeom prst="rect">
            <a:avLst/>
          </a:prstGeom>
          <a:noFill/>
          <a:ln/>
        </p:spPr>
        <p:txBody>
          <a:bodyPr wrap="square" lIns="0" tIns="0" rIns="0" bIns="0" rtlCol="0" anchor="t"/>
          <a:lstStyle/>
          <a:p>
            <a:pPr indent="0" marL="0">
              <a:spcAft>
                <a:spcPts val="200"/>
              </a:spcAft>
              <a:buNone/>
            </a:pPr>
            <a:r>
              <a:rPr lang="en-US" sz="1600" b="1" dirty="0">
                <a:solidFill>
                  <a:schemeClr val="tx1"/>
                </a:solidFill>
              </a:rPr>
              <a:t>Usage de l'assistant IA</a:t>
            </a:r>
            <a:endParaRPr lang="en-US" sz="1600" dirty="0"/>
          </a:p>
          <a:p>
            <a:pPr indent="0" marL="0">
              <a:buNone/>
            </a:pPr>
            <a:r>
              <a:rPr lang="en-US" sz="1400" dirty="0">
                <a:solidFill>
                  <a:schemeClr val="accent3"/>
                </a:solidFill>
              </a:rPr>
              <a:t>Tours, brouillons, coût : des volumes, aucun message.</a:t>
            </a:r>
            <a:endParaRPr lang="en-US" sz="1600" dirty="0"/>
          </a:p>
        </p:txBody>
      </p:sp>
      <p:sp>
        <p:nvSpPr>
          <p:cNvPr id="25" name="Slide Number Placeholder 0"/>
          <p:cNvSpPr>
            <a:spLocks noGrp="1"/>
          </p:cNvSpPr>
          <p:nvPr>
            <p:ph type="sldNum" sz="quarter" idx="4294967295"/>
          </p:nvPr>
        </p:nvSpPr>
        <p:spPr>
          <a:xfrm>
            <a:off x="11183112" y="6446520"/>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LA CONSOLE MAKOR · ALERTES</a:t>
            </a:r>
            <a:endParaRPr lang="en-US" sz="1200" dirty="0"/>
          </a:p>
        </p:txBody>
      </p:sp>
      <p:sp>
        <p:nvSpPr>
          <p:cNvPr id="3" name="Text 0"/>
          <p:cNvSpPr/>
          <p:nvPr>
            <p:ph idx="101" type="title" hasCustomPrompt="1"/>
          </p:nvPr>
        </p:nvSpPr>
        <p:spPr>
          <a:xfrm>
            <a:off x="548640" y="603504"/>
            <a:ext cx="11091672" cy="685800"/>
          </a:xfrm>
          <a:prstGeom prst="rect">
            <a:avLst/>
          </a:prstGeom>
          <a:noFill/>
          <a:ln/>
        </p:spPr>
        <p:txBody>
          <a:bodyPr wrap="square" lIns="0" tIns="0" rIns="0" bIns="0" rtlCol="0" anchor="t"/>
          <a:lstStyle/>
          <a:p>
            <a:pPr algn="l" indent="0" marL="0">
              <a:buNone/>
            </a:pPr>
            <a:r>
              <a:rPr lang="en-US" sz="3600" b="1" dirty="0">
                <a:solidFill>
                  <a:schemeClr val="tx1"/>
                </a:solidFill>
              </a:rPr>
              <a:t>Alertes urgentes, sans données personnelles</a:t>
            </a:r>
            <a:endParaRPr lang="en-US" sz="3600" dirty="0"/>
          </a:p>
        </p:txBody>
      </p:sp>
      <p:pic>
        <p:nvPicPr>
          <p:cNvPr id="5" name="Image 0" descr="Alertes de la plateforme">    </p:cNvPr>
          <p:cNvPicPr>
            <a:picLocks noChangeAspect="1"/>
          </p:cNvPicPr>
          <p:nvPr/>
        </p:nvPicPr>
        <p:blipFill>
          <a:blip r:embed="rId1"/>
          <a:stretch>
            <a:fillRect/>
          </a:stretch>
        </p:blipFill>
        <p:spPr>
          <a:xfrm>
            <a:off x="302819" y="1290371"/>
            <a:ext cx="4877790" cy="5246522"/>
          </a:xfrm>
          <a:prstGeom prst="rect">
            <a:avLst/>
          </a:prstGeom>
        </p:spPr>
      </p:pic>
      <p:sp>
        <p:nvSpPr>
          <p:cNvPr id="6" name="Text 2"/>
          <p:cNvSpPr txBox="1"/>
          <p:nvPr/>
        </p:nvSpPr>
        <p:spPr>
          <a:xfrm>
            <a:off x="5483429" y="1627632"/>
            <a:ext cx="6159627" cy="365760"/>
          </a:xfrm>
          <a:prstGeom prst="rect">
            <a:avLst/>
          </a:prstGeom>
          <a:noFill/>
          <a:ln/>
        </p:spPr>
        <p:txBody>
          <a:bodyPr wrap="square" lIns="0" tIns="0" rIns="0" bIns="0" rtlCol="0" anchor="ctr"/>
          <a:lstStyle/>
          <a:p>
            <a:pPr indent="0" marL="0">
              <a:buNone/>
            </a:pPr>
            <a:r>
              <a:rPr lang="en-US" sz="1800" b="1" dirty="0">
                <a:solidFill>
                  <a:schemeClr val="tx1"/>
                </a:solidFill>
              </a:rPr>
              <a:t>Une réclamation urgente prévient aussitôt :</a:t>
            </a:r>
            <a:endParaRPr lang="en-US" sz="1800" dirty="0"/>
          </a:p>
        </p:txBody>
      </p:sp>
      <p:sp>
        <p:nvSpPr>
          <p:cNvPr id="7" name="Destinataire L'agent assigné"/>
          <p:cNvSpPr/>
          <p:nvPr/>
        </p:nvSpPr>
        <p:spPr>
          <a:xfrm>
            <a:off x="5483429" y="2176272"/>
            <a:ext cx="2965513" cy="603504"/>
          </a:xfrm>
          <a:prstGeom prst="roundRect">
            <a:avLst>
              <a:gd name="adj" fmla="val 18182"/>
            </a:avLst>
          </a:prstGeom>
          <a:solidFill>
            <a:schemeClr val="bg2"/>
          </a:solidFill>
          <a:ln/>
        </p:spPr>
      </p:sp>
      <p:sp>
        <p:nvSpPr>
          <p:cNvPr id="8" name="Rond LuUserCheck"/>
          <p:cNvSpPr/>
          <p:nvPr/>
        </p:nvSpPr>
        <p:spPr>
          <a:xfrm>
            <a:off x="5611445" y="2276856"/>
            <a:ext cx="402336" cy="402336"/>
          </a:xfrm>
          <a:prstGeom prst="ellipse">
            <a:avLst/>
          </a:prstGeom>
          <a:solidFill>
            <a:schemeClr val="accent1"/>
          </a:solidFill>
          <a:ln/>
        </p:spPr>
      </p:sp>
      <p:pic>
        <p:nvPicPr>
          <p:cNvPr id="9" name="Image 1" descr="preencoded.png">    </p:cNvPr>
          <p:cNvPicPr>
            <a:picLocks noChangeAspect="1"/>
          </p:cNvPicPr>
          <p:nvPr/>
        </p:nvPicPr>
        <p:blipFill>
          <a:blip r:embed="rId2"/>
          <a:stretch>
            <a:fillRect/>
          </a:stretch>
        </p:blipFill>
        <p:spPr>
          <a:xfrm>
            <a:off x="5703982" y="2369393"/>
            <a:ext cx="217261" cy="217261"/>
          </a:xfrm>
          <a:prstGeom prst="rect">
            <a:avLst/>
          </a:prstGeom>
        </p:spPr>
      </p:pic>
      <p:sp>
        <p:nvSpPr>
          <p:cNvPr id="10" name="Text 5"/>
          <p:cNvSpPr txBox="1"/>
          <p:nvPr/>
        </p:nvSpPr>
        <p:spPr>
          <a:xfrm>
            <a:off x="6141797" y="2176272"/>
            <a:ext cx="2233993" cy="603504"/>
          </a:xfrm>
          <a:prstGeom prst="rect">
            <a:avLst/>
          </a:prstGeom>
          <a:noFill/>
          <a:ln/>
        </p:spPr>
        <p:txBody>
          <a:bodyPr wrap="square" lIns="0" tIns="0" rIns="0" bIns="0" rtlCol="0" anchor="ctr"/>
          <a:lstStyle/>
          <a:p>
            <a:pPr indent="0" marL="0">
              <a:buNone/>
            </a:pPr>
            <a:r>
              <a:rPr lang="en-US" sz="1500" b="1" dirty="0">
                <a:solidFill>
                  <a:schemeClr val="tx1"/>
                </a:solidFill>
              </a:rPr>
              <a:t>L'agent assigné</a:t>
            </a:r>
            <a:endParaRPr lang="en-US" sz="1500" dirty="0"/>
          </a:p>
        </p:txBody>
      </p:sp>
      <p:sp>
        <p:nvSpPr>
          <p:cNvPr id="11" name="Destinataire Le superviseur"/>
          <p:cNvSpPr/>
          <p:nvPr/>
        </p:nvSpPr>
        <p:spPr>
          <a:xfrm>
            <a:off x="8677542" y="2176272"/>
            <a:ext cx="2965513" cy="603504"/>
          </a:xfrm>
          <a:prstGeom prst="roundRect">
            <a:avLst>
              <a:gd name="adj" fmla="val 18182"/>
            </a:avLst>
          </a:prstGeom>
          <a:solidFill>
            <a:schemeClr val="bg2"/>
          </a:solidFill>
          <a:ln/>
        </p:spPr>
      </p:sp>
      <p:sp>
        <p:nvSpPr>
          <p:cNvPr id="12" name="Rond LuUsers"/>
          <p:cNvSpPr/>
          <p:nvPr/>
        </p:nvSpPr>
        <p:spPr>
          <a:xfrm>
            <a:off x="8805558" y="2276856"/>
            <a:ext cx="402336" cy="402336"/>
          </a:xfrm>
          <a:prstGeom prst="ellipse">
            <a:avLst/>
          </a:prstGeom>
          <a:solidFill>
            <a:schemeClr val="accent1"/>
          </a:solidFill>
          <a:ln/>
        </p:spPr>
      </p:sp>
      <p:pic>
        <p:nvPicPr>
          <p:cNvPr id="13" name="Image 2" descr="preencoded.png">    </p:cNvPr>
          <p:cNvPicPr>
            <a:picLocks noChangeAspect="1"/>
          </p:cNvPicPr>
          <p:nvPr/>
        </p:nvPicPr>
        <p:blipFill>
          <a:blip r:embed="rId3"/>
          <a:stretch>
            <a:fillRect/>
          </a:stretch>
        </p:blipFill>
        <p:spPr>
          <a:xfrm>
            <a:off x="8898095" y="2369393"/>
            <a:ext cx="217261" cy="217261"/>
          </a:xfrm>
          <a:prstGeom prst="rect">
            <a:avLst/>
          </a:prstGeom>
        </p:spPr>
      </p:pic>
      <p:sp>
        <p:nvSpPr>
          <p:cNvPr id="14" name="Text 8"/>
          <p:cNvSpPr txBox="1"/>
          <p:nvPr/>
        </p:nvSpPr>
        <p:spPr>
          <a:xfrm>
            <a:off x="9335910" y="2176272"/>
            <a:ext cx="2233993" cy="603504"/>
          </a:xfrm>
          <a:prstGeom prst="rect">
            <a:avLst/>
          </a:prstGeom>
          <a:noFill/>
          <a:ln/>
        </p:spPr>
        <p:txBody>
          <a:bodyPr wrap="square" lIns="0" tIns="0" rIns="0" bIns="0" rtlCol="0" anchor="ctr"/>
          <a:lstStyle/>
          <a:p>
            <a:pPr indent="0" marL="0">
              <a:buNone/>
            </a:pPr>
            <a:r>
              <a:rPr lang="en-US" sz="1500" b="1" dirty="0">
                <a:solidFill>
                  <a:schemeClr val="tx1"/>
                </a:solidFill>
              </a:rPr>
              <a:t>Le superviseur</a:t>
            </a:r>
            <a:endParaRPr lang="en-US" sz="1500" dirty="0"/>
          </a:p>
        </p:txBody>
      </p:sp>
      <p:sp>
        <p:nvSpPr>
          <p:cNvPr id="15" name="Destinataire L'Admin Entreprise"/>
          <p:cNvSpPr/>
          <p:nvPr/>
        </p:nvSpPr>
        <p:spPr>
          <a:xfrm>
            <a:off x="5483429" y="2926080"/>
            <a:ext cx="2965513" cy="603504"/>
          </a:xfrm>
          <a:prstGeom prst="roundRect">
            <a:avLst>
              <a:gd name="adj" fmla="val 18182"/>
            </a:avLst>
          </a:prstGeom>
          <a:solidFill>
            <a:schemeClr val="bg2"/>
          </a:solidFill>
          <a:ln/>
        </p:spPr>
      </p:sp>
      <p:sp>
        <p:nvSpPr>
          <p:cNvPr id="16" name="Rond LuSettings"/>
          <p:cNvSpPr/>
          <p:nvPr/>
        </p:nvSpPr>
        <p:spPr>
          <a:xfrm>
            <a:off x="5611445" y="3026664"/>
            <a:ext cx="402336" cy="402336"/>
          </a:xfrm>
          <a:prstGeom prst="ellipse">
            <a:avLst/>
          </a:prstGeom>
          <a:solidFill>
            <a:schemeClr val="accent1"/>
          </a:solidFill>
          <a:ln/>
        </p:spPr>
      </p:sp>
      <p:pic>
        <p:nvPicPr>
          <p:cNvPr id="17" name="Image 3" descr="preencoded.png">    </p:cNvPr>
          <p:cNvPicPr>
            <a:picLocks noChangeAspect="1"/>
          </p:cNvPicPr>
          <p:nvPr/>
        </p:nvPicPr>
        <p:blipFill>
          <a:blip r:embed="rId4"/>
          <a:stretch>
            <a:fillRect/>
          </a:stretch>
        </p:blipFill>
        <p:spPr>
          <a:xfrm>
            <a:off x="5703982" y="3119201"/>
            <a:ext cx="217261" cy="217261"/>
          </a:xfrm>
          <a:prstGeom prst="rect">
            <a:avLst/>
          </a:prstGeom>
        </p:spPr>
      </p:pic>
      <p:sp>
        <p:nvSpPr>
          <p:cNvPr id="18" name="Text 11"/>
          <p:cNvSpPr txBox="1"/>
          <p:nvPr/>
        </p:nvSpPr>
        <p:spPr>
          <a:xfrm>
            <a:off x="6141797" y="2926080"/>
            <a:ext cx="2233993" cy="603504"/>
          </a:xfrm>
          <a:prstGeom prst="rect">
            <a:avLst/>
          </a:prstGeom>
          <a:noFill/>
          <a:ln/>
        </p:spPr>
        <p:txBody>
          <a:bodyPr wrap="square" lIns="0" tIns="0" rIns="0" bIns="0" rtlCol="0" anchor="ctr"/>
          <a:lstStyle/>
          <a:p>
            <a:pPr indent="0" marL="0">
              <a:buNone/>
            </a:pPr>
            <a:r>
              <a:rPr lang="en-US" sz="1500" b="1" dirty="0">
                <a:solidFill>
                  <a:schemeClr val="tx1"/>
                </a:solidFill>
              </a:rPr>
              <a:t>L'Admin Entreprise</a:t>
            </a:r>
            <a:endParaRPr lang="en-US" sz="1500" dirty="0"/>
          </a:p>
        </p:txBody>
      </p:sp>
      <p:sp>
        <p:nvSpPr>
          <p:cNvPr id="19" name="Destinataire Makor Telecoms"/>
          <p:cNvSpPr/>
          <p:nvPr/>
        </p:nvSpPr>
        <p:spPr>
          <a:xfrm>
            <a:off x="8677542" y="2926080"/>
            <a:ext cx="2965513" cy="603504"/>
          </a:xfrm>
          <a:prstGeom prst="roundRect">
            <a:avLst>
              <a:gd name="adj" fmla="val 18182"/>
            </a:avLst>
          </a:prstGeom>
          <a:solidFill>
            <a:schemeClr val="bg2"/>
          </a:solidFill>
          <a:ln/>
        </p:spPr>
      </p:sp>
      <p:sp>
        <p:nvSpPr>
          <p:cNvPr id="20" name="Rond LuServer"/>
          <p:cNvSpPr/>
          <p:nvPr/>
        </p:nvSpPr>
        <p:spPr>
          <a:xfrm>
            <a:off x="8805558" y="3026664"/>
            <a:ext cx="402336" cy="402336"/>
          </a:xfrm>
          <a:prstGeom prst="ellipse">
            <a:avLst/>
          </a:prstGeom>
          <a:solidFill>
            <a:schemeClr val="accent1"/>
          </a:solidFill>
          <a:ln/>
        </p:spPr>
      </p:sp>
      <p:pic>
        <p:nvPicPr>
          <p:cNvPr id="21" name="Image 4" descr="preencoded.png">    </p:cNvPr>
          <p:cNvPicPr>
            <a:picLocks noChangeAspect="1"/>
          </p:cNvPicPr>
          <p:nvPr/>
        </p:nvPicPr>
        <p:blipFill>
          <a:blip r:embed="rId5"/>
          <a:stretch>
            <a:fillRect/>
          </a:stretch>
        </p:blipFill>
        <p:spPr>
          <a:xfrm>
            <a:off x="8898095" y="3119201"/>
            <a:ext cx="217261" cy="217261"/>
          </a:xfrm>
          <a:prstGeom prst="rect">
            <a:avLst/>
          </a:prstGeom>
        </p:spPr>
      </p:pic>
      <p:sp>
        <p:nvSpPr>
          <p:cNvPr id="22" name="Text 14"/>
          <p:cNvSpPr txBox="1"/>
          <p:nvPr/>
        </p:nvSpPr>
        <p:spPr>
          <a:xfrm>
            <a:off x="9335910" y="2926080"/>
            <a:ext cx="2233993" cy="603504"/>
          </a:xfrm>
          <a:prstGeom prst="rect">
            <a:avLst/>
          </a:prstGeom>
          <a:noFill/>
          <a:ln/>
        </p:spPr>
        <p:txBody>
          <a:bodyPr wrap="square" lIns="0" tIns="0" rIns="0" bIns="0" rtlCol="0" anchor="ctr"/>
          <a:lstStyle/>
          <a:p>
            <a:pPr indent="0" marL="0">
              <a:buNone/>
            </a:pPr>
            <a:r>
              <a:rPr lang="en-US" sz="1500" b="1" dirty="0">
                <a:solidFill>
                  <a:schemeClr val="tx1"/>
                </a:solidFill>
              </a:rPr>
              <a:t>Makor Telecoms</a:t>
            </a:r>
            <a:endParaRPr lang="en-US" sz="1500" dirty="0"/>
          </a:p>
        </p:txBody>
      </p:sp>
      <p:sp>
        <p:nvSpPr>
          <p:cNvPr id="23" name="Rond LuEyeOff"/>
          <p:cNvSpPr/>
          <p:nvPr/>
        </p:nvSpPr>
        <p:spPr>
          <a:xfrm>
            <a:off x="5483429" y="3867912"/>
            <a:ext cx="384048" cy="384048"/>
          </a:xfrm>
          <a:prstGeom prst="ellipse">
            <a:avLst/>
          </a:prstGeom>
          <a:solidFill>
            <a:schemeClr val="accent4"/>
          </a:solidFill>
          <a:ln/>
        </p:spPr>
      </p:sp>
      <p:pic>
        <p:nvPicPr>
          <p:cNvPr id="24" name="Image 5" descr="preencoded.png">    </p:cNvPr>
          <p:cNvPicPr>
            <a:picLocks noChangeAspect="1"/>
          </p:cNvPicPr>
          <p:nvPr/>
        </p:nvPicPr>
        <p:blipFill>
          <a:blip r:embed="rId6"/>
          <a:stretch>
            <a:fillRect/>
          </a:stretch>
        </p:blipFill>
        <p:spPr>
          <a:xfrm>
            <a:off x="5571760" y="3956243"/>
            <a:ext cx="207386" cy="207386"/>
          </a:xfrm>
          <a:prstGeom prst="rect">
            <a:avLst/>
          </a:prstGeom>
        </p:spPr>
      </p:pic>
      <p:sp>
        <p:nvSpPr>
          <p:cNvPr id="25" name="Text 16"/>
          <p:cNvSpPr txBox="1"/>
          <p:nvPr/>
        </p:nvSpPr>
        <p:spPr>
          <a:xfrm>
            <a:off x="6013781" y="3886200"/>
            <a:ext cx="5629275" cy="780288"/>
          </a:xfrm>
          <a:prstGeom prst="rect">
            <a:avLst/>
          </a:prstGeom>
          <a:noFill/>
          <a:ln/>
        </p:spPr>
        <p:txBody>
          <a:bodyPr wrap="square" lIns="0" tIns="0" rIns="0" bIns="0" rtlCol="0" anchor="t"/>
          <a:lstStyle/>
          <a:p>
            <a:pPr indent="0" marL="0">
              <a:spcAft>
                <a:spcPts val="200"/>
              </a:spcAft>
              <a:buNone/>
            </a:pPr>
            <a:r>
              <a:rPr lang="en-US" sz="1600" b="1" dirty="0">
                <a:solidFill>
                  <a:schemeClr val="tx1"/>
                </a:solidFill>
              </a:rPr>
              <a:t>Ce que voit Makor</a:t>
            </a:r>
            <a:endParaRPr lang="en-US" sz="1600" dirty="0"/>
          </a:p>
          <a:p>
            <a:pPr indent="0" marL="0">
              <a:buNone/>
            </a:pPr>
            <a:r>
              <a:rPr lang="en-US" sz="1400" dirty="0">
                <a:solidFill>
                  <a:schemeClr val="accent3"/>
                </a:solidFill>
              </a:rPr>
              <a:t>La banque, le numéro, la catégorie et la date. Jamais le nom du client, ni sa description, ni les échanges.</a:t>
            </a:r>
            <a:endParaRPr lang="en-US" sz="1600" dirty="0"/>
          </a:p>
        </p:txBody>
      </p:sp>
      <p:sp>
        <p:nvSpPr>
          <p:cNvPr id="26" name="Rond LuGauge"/>
          <p:cNvSpPr/>
          <p:nvPr/>
        </p:nvSpPr>
        <p:spPr>
          <a:xfrm>
            <a:off x="5483429" y="4940808"/>
            <a:ext cx="384048" cy="384048"/>
          </a:xfrm>
          <a:prstGeom prst="ellipse">
            <a:avLst/>
          </a:prstGeom>
          <a:solidFill>
            <a:schemeClr val="accent4"/>
          </a:solidFill>
          <a:ln/>
        </p:spPr>
      </p:sp>
      <p:pic>
        <p:nvPicPr>
          <p:cNvPr id="27" name="Image 6" descr="preencoded.png">    </p:cNvPr>
          <p:cNvPicPr>
            <a:picLocks noChangeAspect="1"/>
          </p:cNvPicPr>
          <p:nvPr/>
        </p:nvPicPr>
        <p:blipFill>
          <a:blip r:embed="rId7"/>
          <a:stretch>
            <a:fillRect/>
          </a:stretch>
        </p:blipFill>
        <p:spPr>
          <a:xfrm>
            <a:off x="5571760" y="5029139"/>
            <a:ext cx="207386" cy="207386"/>
          </a:xfrm>
          <a:prstGeom prst="rect">
            <a:avLst/>
          </a:prstGeom>
        </p:spPr>
      </p:pic>
      <p:sp>
        <p:nvSpPr>
          <p:cNvPr id="28" name="Text 18"/>
          <p:cNvSpPr txBox="1"/>
          <p:nvPr/>
        </p:nvSpPr>
        <p:spPr>
          <a:xfrm>
            <a:off x="6013781" y="4959096"/>
            <a:ext cx="5629275" cy="780288"/>
          </a:xfrm>
          <a:prstGeom prst="rect">
            <a:avLst/>
          </a:prstGeom>
          <a:noFill/>
          <a:ln/>
        </p:spPr>
        <p:txBody>
          <a:bodyPr wrap="square" lIns="0" tIns="0" rIns="0" bIns="0" rtlCol="0" anchor="t"/>
          <a:lstStyle/>
          <a:p>
            <a:pPr indent="0" marL="0">
              <a:spcAft>
                <a:spcPts val="200"/>
              </a:spcAft>
              <a:buNone/>
            </a:pPr>
            <a:r>
              <a:rPr lang="en-US" sz="1600" b="1" dirty="0">
                <a:solidFill>
                  <a:schemeClr val="tx1"/>
                </a:solidFill>
              </a:rPr>
              <a:t>Les plafonds aussi</a:t>
            </a:r>
            <a:endParaRPr lang="en-US" sz="1600" dirty="0"/>
          </a:p>
          <a:p>
            <a:pPr indent="0" marL="0">
              <a:buNone/>
            </a:pPr>
            <a:r>
              <a:rPr lang="en-US" sz="1400" dirty="0">
                <a:solidFill>
                  <a:schemeClr val="accent3"/>
                </a:solidFill>
              </a:rPr>
              <a:t>Les dépassements de plafond du plan remontent dans les mêmes alertes.</a:t>
            </a:r>
            <a:endParaRPr lang="en-US" sz="1600" dirty="0"/>
          </a:p>
        </p:txBody>
      </p:sp>
      <p:sp>
        <p:nvSpPr>
          <p:cNvPr id="25" name="Slide Number Placeholder 0"/>
          <p:cNvSpPr>
            <a:spLocks noGrp="1"/>
          </p:cNvSpPr>
          <p:nvPr>
            <p:ph type="sldNum" sz="quarter" idx="4294967295"/>
          </p:nvPr>
        </p:nvSpPr>
        <p:spPr>
          <a:xfrm>
            <a:off x="11183112" y="6446520"/>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MODULES</a:t>
            </a:r>
            <a:endParaRPr lang="en-US" sz="1200" dirty="0"/>
          </a:p>
        </p:txBody>
      </p:sp>
      <p:sp>
        <p:nvSpPr>
          <p:cNvPr id="3" name="Text 0"/>
          <p:cNvSpPr/>
          <p:nvPr>
            <p:ph idx="101" type="title" hasCustomPrompt="1"/>
          </p:nvPr>
        </p:nvSpPr>
        <p:spPr>
          <a:xfrm>
            <a:off x="548640" y="603504"/>
            <a:ext cx="11091672" cy="685800"/>
          </a:xfrm>
          <a:prstGeom prst="rect">
            <a:avLst/>
          </a:prstGeom>
          <a:noFill/>
          <a:ln/>
        </p:spPr>
        <p:txBody>
          <a:bodyPr wrap="square" lIns="0" tIns="0" rIns="0" bIns="0" rtlCol="0" anchor="t"/>
          <a:lstStyle/>
          <a:p>
            <a:pPr algn="l" indent="0" marL="0">
              <a:buNone/>
            </a:pPr>
            <a:r>
              <a:rPr lang="en-US" sz="3600" b="1" dirty="0">
                <a:solidFill>
                  <a:schemeClr val="tx1"/>
                </a:solidFill>
              </a:rPr>
              <a:t>Quatre modules à activer selon vos besoins</a:t>
            </a:r>
            <a:endParaRPr lang="en-US" sz="3600" dirty="0"/>
          </a:p>
        </p:txBody>
      </p:sp>
      <p:sp>
        <p:nvSpPr>
          <p:cNvPr id="5" name="Module Enquêtes de satisfaction"/>
          <p:cNvSpPr/>
          <p:nvPr/>
        </p:nvSpPr>
        <p:spPr>
          <a:xfrm>
            <a:off x="548640" y="1572768"/>
            <a:ext cx="2567864" cy="3429000"/>
          </a:xfrm>
          <a:prstGeom prst="roundRect">
            <a:avLst>
              <a:gd name="adj" fmla="val 4273"/>
            </a:avLst>
          </a:prstGeom>
          <a:solidFill>
            <a:schemeClr val="bg2"/>
          </a:solidFill>
          <a:ln/>
        </p:spPr>
      </p:sp>
      <p:sp>
        <p:nvSpPr>
          <p:cNvPr id="6" name="Rond LuStar"/>
          <p:cNvSpPr/>
          <p:nvPr/>
        </p:nvSpPr>
        <p:spPr>
          <a:xfrm>
            <a:off x="822960" y="1810512"/>
            <a:ext cx="603504" cy="603504"/>
          </a:xfrm>
          <a:prstGeom prst="ellipse">
            <a:avLst/>
          </a:prstGeom>
          <a:solidFill>
            <a:schemeClr val="accent1"/>
          </a:solidFill>
          <a:ln/>
        </p:spPr>
      </p:sp>
      <p:pic>
        <p:nvPicPr>
          <p:cNvPr id="7" name="Image 0" descr="preencoded.png">    </p:cNvPr>
          <p:cNvPicPr>
            <a:picLocks noChangeAspect="1"/>
          </p:cNvPicPr>
          <p:nvPr/>
        </p:nvPicPr>
        <p:blipFill>
          <a:blip r:embed="rId1"/>
          <a:stretch>
            <a:fillRect/>
          </a:stretch>
        </p:blipFill>
        <p:spPr>
          <a:xfrm>
            <a:off x="961766" y="1949318"/>
            <a:ext cx="325892" cy="325892"/>
          </a:xfrm>
          <a:prstGeom prst="rect">
            <a:avLst/>
          </a:prstGeom>
        </p:spPr>
      </p:pic>
      <p:sp>
        <p:nvSpPr>
          <p:cNvPr id="8" name="Text 4"/>
          <p:cNvSpPr txBox="1"/>
          <p:nvPr/>
        </p:nvSpPr>
        <p:spPr>
          <a:xfrm>
            <a:off x="822960" y="2560320"/>
            <a:ext cx="2019224" cy="603504"/>
          </a:xfrm>
          <a:prstGeom prst="rect">
            <a:avLst/>
          </a:prstGeom>
          <a:noFill/>
          <a:ln/>
        </p:spPr>
        <p:txBody>
          <a:bodyPr wrap="square" lIns="0" tIns="0" rIns="0" bIns="0" rtlCol="0" anchor="t"/>
          <a:lstStyle/>
          <a:p>
            <a:pPr indent="0" marL="0">
              <a:buNone/>
            </a:pPr>
            <a:r>
              <a:rPr lang="en-US" sz="1800" b="1" dirty="0">
                <a:solidFill>
                  <a:schemeClr val="tx1"/>
                </a:solidFill>
              </a:rPr>
              <a:t>Enquêtes de satisfaction</a:t>
            </a:r>
            <a:endParaRPr lang="en-US" sz="1800" dirty="0"/>
          </a:p>
        </p:txBody>
      </p:sp>
      <p:sp>
        <p:nvSpPr>
          <p:cNvPr id="9" name="Text 5"/>
          <p:cNvSpPr txBox="1"/>
          <p:nvPr/>
        </p:nvSpPr>
        <p:spPr>
          <a:xfrm>
            <a:off x="822960" y="3218688"/>
            <a:ext cx="2019224" cy="1691640"/>
          </a:xfrm>
          <a:prstGeom prst="rect">
            <a:avLst/>
          </a:prstGeom>
          <a:noFill/>
          <a:ln/>
        </p:spPr>
        <p:txBody>
          <a:bodyPr wrap="square" lIns="0" tIns="0" rIns="0" bIns="0" rtlCol="0" anchor="t"/>
          <a:lstStyle/>
          <a:p>
            <a:pPr indent="0" marL="0">
              <a:buNone/>
            </a:pPr>
            <a:r>
              <a:rPr lang="en-US" sz="1400" dirty="0">
                <a:solidFill>
                  <a:schemeClr val="accent3"/>
                </a:solidFill>
              </a:rPr>
              <a:t>À la clôture, deux questions : satisfaction et recommandation. CSAT et NPS par agent, sans SMS supplémentaire.</a:t>
            </a:r>
            <a:endParaRPr lang="en-US" sz="1400" dirty="0"/>
          </a:p>
        </p:txBody>
      </p:sp>
      <p:sp>
        <p:nvSpPr>
          <p:cNvPr id="10" name="Module Attribution et escalade"/>
          <p:cNvSpPr/>
          <p:nvPr/>
        </p:nvSpPr>
        <p:spPr>
          <a:xfrm>
            <a:off x="3390824" y="1572768"/>
            <a:ext cx="2567864" cy="3429000"/>
          </a:xfrm>
          <a:prstGeom prst="roundRect">
            <a:avLst>
              <a:gd name="adj" fmla="val 4273"/>
            </a:avLst>
          </a:prstGeom>
          <a:solidFill>
            <a:schemeClr val="bg2"/>
          </a:solidFill>
          <a:ln/>
        </p:spPr>
      </p:sp>
      <p:sp>
        <p:nvSpPr>
          <p:cNvPr id="11" name="Rond LuShuffle"/>
          <p:cNvSpPr/>
          <p:nvPr/>
        </p:nvSpPr>
        <p:spPr>
          <a:xfrm>
            <a:off x="3665144" y="1810512"/>
            <a:ext cx="603504" cy="603504"/>
          </a:xfrm>
          <a:prstGeom prst="ellipse">
            <a:avLst/>
          </a:prstGeom>
          <a:solidFill>
            <a:schemeClr val="accent1"/>
          </a:solidFill>
          <a:ln/>
        </p:spPr>
      </p:sp>
      <p:pic>
        <p:nvPicPr>
          <p:cNvPr id="12" name="Image 1" descr="preencoded.png">    </p:cNvPr>
          <p:cNvPicPr>
            <a:picLocks noChangeAspect="1"/>
          </p:cNvPicPr>
          <p:nvPr/>
        </p:nvPicPr>
        <p:blipFill>
          <a:blip r:embed="rId2"/>
          <a:stretch>
            <a:fillRect/>
          </a:stretch>
        </p:blipFill>
        <p:spPr>
          <a:xfrm>
            <a:off x="3803950" y="1949318"/>
            <a:ext cx="325892" cy="325892"/>
          </a:xfrm>
          <a:prstGeom prst="rect">
            <a:avLst/>
          </a:prstGeom>
        </p:spPr>
      </p:pic>
      <p:sp>
        <p:nvSpPr>
          <p:cNvPr id="13" name="Text 8"/>
          <p:cNvSpPr txBox="1"/>
          <p:nvPr/>
        </p:nvSpPr>
        <p:spPr>
          <a:xfrm>
            <a:off x="3665144" y="2560320"/>
            <a:ext cx="2019224" cy="603504"/>
          </a:xfrm>
          <a:prstGeom prst="rect">
            <a:avLst/>
          </a:prstGeom>
          <a:noFill/>
          <a:ln/>
        </p:spPr>
        <p:txBody>
          <a:bodyPr wrap="square" lIns="0" tIns="0" rIns="0" bIns="0" rtlCol="0" anchor="t"/>
          <a:lstStyle/>
          <a:p>
            <a:pPr indent="0" marL="0">
              <a:buNone/>
            </a:pPr>
            <a:r>
              <a:rPr lang="en-US" sz="1800" b="1" dirty="0">
                <a:solidFill>
                  <a:schemeClr val="tx1"/>
                </a:solidFill>
              </a:rPr>
              <a:t>Attribution et escalade</a:t>
            </a:r>
            <a:endParaRPr lang="en-US" sz="1800" dirty="0"/>
          </a:p>
        </p:txBody>
      </p:sp>
      <p:sp>
        <p:nvSpPr>
          <p:cNvPr id="14" name="Text 9"/>
          <p:cNvSpPr txBox="1"/>
          <p:nvPr/>
        </p:nvSpPr>
        <p:spPr>
          <a:xfrm>
            <a:off x="3665144" y="3218688"/>
            <a:ext cx="2019224" cy="1691640"/>
          </a:xfrm>
          <a:prstGeom prst="rect">
            <a:avLst/>
          </a:prstGeom>
          <a:noFill/>
          <a:ln/>
        </p:spPr>
        <p:txBody>
          <a:bodyPr wrap="square" lIns="0" tIns="0" rIns="0" bIns="0" rtlCol="0" anchor="t"/>
          <a:lstStyle/>
          <a:p>
            <a:pPr indent="0" marL="0">
              <a:buNone/>
            </a:pPr>
            <a:r>
              <a:rPr lang="en-US" sz="1400" dirty="0">
                <a:solidFill>
                  <a:schemeClr val="accent3"/>
                </a:solidFill>
              </a:rPr>
              <a:t>Groupes d'agents ; suggestion ou attribution automatique à l'agent disponible le moins chargé ; escalade selon vos règles.</a:t>
            </a:r>
            <a:endParaRPr lang="en-US" sz="1400" dirty="0"/>
          </a:p>
        </p:txBody>
      </p:sp>
      <p:sp>
        <p:nvSpPr>
          <p:cNvPr id="15" name="Module Chat web et boîte de réception"/>
          <p:cNvSpPr/>
          <p:nvPr/>
        </p:nvSpPr>
        <p:spPr>
          <a:xfrm>
            <a:off x="6233008" y="1572768"/>
            <a:ext cx="2567864" cy="3429000"/>
          </a:xfrm>
          <a:prstGeom prst="roundRect">
            <a:avLst>
              <a:gd name="adj" fmla="val 4273"/>
            </a:avLst>
          </a:prstGeom>
          <a:solidFill>
            <a:schemeClr val="bg2"/>
          </a:solidFill>
          <a:ln/>
        </p:spPr>
      </p:sp>
      <p:sp>
        <p:nvSpPr>
          <p:cNvPr id="16" name="Rond LuMessagesSquare"/>
          <p:cNvSpPr/>
          <p:nvPr/>
        </p:nvSpPr>
        <p:spPr>
          <a:xfrm>
            <a:off x="6507328" y="1810512"/>
            <a:ext cx="603504" cy="603504"/>
          </a:xfrm>
          <a:prstGeom prst="ellipse">
            <a:avLst/>
          </a:prstGeom>
          <a:solidFill>
            <a:schemeClr val="accent1"/>
          </a:solidFill>
          <a:ln/>
        </p:spPr>
      </p:sp>
      <p:pic>
        <p:nvPicPr>
          <p:cNvPr id="17" name="Image 2" descr="preencoded.png">    </p:cNvPr>
          <p:cNvPicPr>
            <a:picLocks noChangeAspect="1"/>
          </p:cNvPicPr>
          <p:nvPr/>
        </p:nvPicPr>
        <p:blipFill>
          <a:blip r:embed="rId3"/>
          <a:stretch>
            <a:fillRect/>
          </a:stretch>
        </p:blipFill>
        <p:spPr>
          <a:xfrm>
            <a:off x="6646134" y="1949318"/>
            <a:ext cx="325892" cy="325892"/>
          </a:xfrm>
          <a:prstGeom prst="rect">
            <a:avLst/>
          </a:prstGeom>
        </p:spPr>
      </p:pic>
      <p:sp>
        <p:nvSpPr>
          <p:cNvPr id="18" name="Text 12"/>
          <p:cNvSpPr txBox="1"/>
          <p:nvPr/>
        </p:nvSpPr>
        <p:spPr>
          <a:xfrm>
            <a:off x="6507328" y="2560320"/>
            <a:ext cx="2019224" cy="603504"/>
          </a:xfrm>
          <a:prstGeom prst="rect">
            <a:avLst/>
          </a:prstGeom>
          <a:noFill/>
          <a:ln/>
        </p:spPr>
        <p:txBody>
          <a:bodyPr wrap="square" lIns="0" tIns="0" rIns="0" bIns="0" rtlCol="0" anchor="t"/>
          <a:lstStyle/>
          <a:p>
            <a:pPr indent="0" marL="0">
              <a:buNone/>
            </a:pPr>
            <a:r>
              <a:rPr lang="en-US" sz="1800" b="1" dirty="0">
                <a:solidFill>
                  <a:schemeClr val="tx1"/>
                </a:solidFill>
              </a:rPr>
              <a:t>Chat web et boîte de réception</a:t>
            </a:r>
            <a:endParaRPr lang="en-US" sz="1800" dirty="0"/>
          </a:p>
        </p:txBody>
      </p:sp>
      <p:sp>
        <p:nvSpPr>
          <p:cNvPr id="19" name="Text 13"/>
          <p:cNvSpPr txBox="1"/>
          <p:nvPr/>
        </p:nvSpPr>
        <p:spPr>
          <a:xfrm>
            <a:off x="6507328" y="3218688"/>
            <a:ext cx="2019224" cy="1691640"/>
          </a:xfrm>
          <a:prstGeom prst="rect">
            <a:avLst/>
          </a:prstGeom>
          <a:noFill/>
          <a:ln/>
        </p:spPr>
        <p:txBody>
          <a:bodyPr wrap="square" lIns="0" tIns="0" rIns="0" bIns="0" rtlCol="0" anchor="t"/>
          <a:lstStyle/>
          <a:p>
            <a:pPr indent="0" marL="0">
              <a:buNone/>
            </a:pPr>
            <a:r>
              <a:rPr lang="en-US" sz="1400" dirty="0">
                <a:solidFill>
                  <a:schemeClr val="accent3"/>
                </a:solidFill>
              </a:rPr>
              <a:t>Le client écrit depuis son suivi ; les agents répondent depuis une boîte partagée. Makor ne lit jamais les conversations.</a:t>
            </a:r>
            <a:endParaRPr lang="en-US" sz="1400" dirty="0"/>
          </a:p>
        </p:txBody>
      </p:sp>
      <p:sp>
        <p:nvSpPr>
          <p:cNvPr id="20" name="Module Assistant IA"/>
          <p:cNvSpPr/>
          <p:nvPr/>
        </p:nvSpPr>
        <p:spPr>
          <a:xfrm>
            <a:off x="9075191" y="1572768"/>
            <a:ext cx="2567864" cy="3429000"/>
          </a:xfrm>
          <a:prstGeom prst="roundRect">
            <a:avLst>
              <a:gd name="adj" fmla="val 4273"/>
            </a:avLst>
          </a:prstGeom>
          <a:solidFill>
            <a:schemeClr val="bg2"/>
          </a:solidFill>
          <a:ln/>
        </p:spPr>
      </p:sp>
      <p:sp>
        <p:nvSpPr>
          <p:cNvPr id="21" name="Rond LuBot"/>
          <p:cNvSpPr/>
          <p:nvPr/>
        </p:nvSpPr>
        <p:spPr>
          <a:xfrm>
            <a:off x="9349511" y="1810512"/>
            <a:ext cx="603504" cy="603504"/>
          </a:xfrm>
          <a:prstGeom prst="ellipse">
            <a:avLst/>
          </a:prstGeom>
          <a:solidFill>
            <a:schemeClr val="accent1"/>
          </a:solidFill>
          <a:ln/>
        </p:spPr>
      </p:sp>
      <p:pic>
        <p:nvPicPr>
          <p:cNvPr id="22" name="Image 3" descr="preencoded.png">    </p:cNvPr>
          <p:cNvPicPr>
            <a:picLocks noChangeAspect="1"/>
          </p:cNvPicPr>
          <p:nvPr/>
        </p:nvPicPr>
        <p:blipFill>
          <a:blip r:embed="rId4"/>
          <a:stretch>
            <a:fillRect/>
          </a:stretch>
        </p:blipFill>
        <p:spPr>
          <a:xfrm>
            <a:off x="9488317" y="1949318"/>
            <a:ext cx="325892" cy="325892"/>
          </a:xfrm>
          <a:prstGeom prst="rect">
            <a:avLst/>
          </a:prstGeom>
        </p:spPr>
      </p:pic>
      <p:sp>
        <p:nvSpPr>
          <p:cNvPr id="23" name="Text 16"/>
          <p:cNvSpPr txBox="1"/>
          <p:nvPr/>
        </p:nvSpPr>
        <p:spPr>
          <a:xfrm>
            <a:off x="9349511" y="2560320"/>
            <a:ext cx="2019224" cy="603504"/>
          </a:xfrm>
          <a:prstGeom prst="rect">
            <a:avLst/>
          </a:prstGeom>
          <a:noFill/>
          <a:ln/>
        </p:spPr>
        <p:txBody>
          <a:bodyPr wrap="square" lIns="0" tIns="0" rIns="0" bIns="0" rtlCol="0" anchor="t"/>
          <a:lstStyle/>
          <a:p>
            <a:pPr indent="0" marL="0">
              <a:buNone/>
            </a:pPr>
            <a:r>
              <a:rPr lang="en-US" sz="1800" b="1" dirty="0">
                <a:solidFill>
                  <a:schemeClr val="tx1"/>
                </a:solidFill>
              </a:rPr>
              <a:t>Assistant IA</a:t>
            </a:r>
            <a:endParaRPr lang="en-US" sz="1800" dirty="0"/>
          </a:p>
        </p:txBody>
      </p:sp>
      <p:sp>
        <p:nvSpPr>
          <p:cNvPr id="24" name="Text 17"/>
          <p:cNvSpPr txBox="1"/>
          <p:nvPr/>
        </p:nvSpPr>
        <p:spPr>
          <a:xfrm>
            <a:off x="9349511" y="3218688"/>
            <a:ext cx="2019224" cy="1691640"/>
          </a:xfrm>
          <a:prstGeom prst="rect">
            <a:avLst/>
          </a:prstGeom>
          <a:noFill/>
          <a:ln/>
        </p:spPr>
        <p:txBody>
          <a:bodyPr wrap="square" lIns="0" tIns="0" rIns="0" bIns="0" rtlCol="0" anchor="t"/>
          <a:lstStyle/>
          <a:p>
            <a:pPr indent="0" marL="0">
              <a:buNone/>
            </a:pPr>
            <a:r>
              <a:rPr lang="en-US" sz="1400" dirty="0">
                <a:solidFill>
                  <a:schemeClr val="accent3"/>
                </a:solidFill>
              </a:rPr>
              <a:t>Répond avec vos réponses, prépare la réclamation, propose des brouillons aux agents. Nécessite le chat web.</a:t>
            </a:r>
            <a:endParaRPr lang="en-US" sz="1400" dirty="0"/>
          </a:p>
        </p:txBody>
      </p:sp>
      <p:sp>
        <p:nvSpPr>
          <p:cNvPr id="25" name="Bientôt"/>
          <p:cNvSpPr/>
          <p:nvPr/>
        </p:nvSpPr>
        <p:spPr>
          <a:xfrm>
            <a:off x="548640" y="5257800"/>
            <a:ext cx="11094415" cy="960120"/>
          </a:xfrm>
          <a:prstGeom prst="roundRect">
            <a:avLst>
              <a:gd name="adj" fmla="val 11429"/>
            </a:avLst>
          </a:prstGeom>
          <a:solidFill>
            <a:schemeClr val="accent4"/>
          </a:solidFill>
          <a:ln/>
        </p:spPr>
      </p:sp>
      <p:sp>
        <p:nvSpPr>
          <p:cNvPr id="26" name="Rond LuSparkles"/>
          <p:cNvSpPr/>
          <p:nvPr/>
        </p:nvSpPr>
        <p:spPr>
          <a:xfrm>
            <a:off x="822960" y="5513832"/>
            <a:ext cx="457200" cy="457200"/>
          </a:xfrm>
          <a:prstGeom prst="ellipse">
            <a:avLst/>
          </a:prstGeom>
          <a:solidFill>
            <a:schemeClr val="accent1"/>
          </a:solidFill>
          <a:ln/>
        </p:spPr>
      </p:sp>
      <p:pic>
        <p:nvPicPr>
          <p:cNvPr id="27" name="Image 4" descr="preencoded.png">    </p:cNvPr>
          <p:cNvPicPr>
            <a:picLocks noChangeAspect="1"/>
          </p:cNvPicPr>
          <p:nvPr/>
        </p:nvPicPr>
        <p:blipFill>
          <a:blip r:embed="rId5"/>
          <a:stretch>
            <a:fillRect/>
          </a:stretch>
        </p:blipFill>
        <p:spPr>
          <a:xfrm>
            <a:off x="928116" y="5618988"/>
            <a:ext cx="246888" cy="246888"/>
          </a:xfrm>
          <a:prstGeom prst="rect">
            <a:avLst/>
          </a:prstGeom>
        </p:spPr>
      </p:pic>
      <p:sp>
        <p:nvSpPr>
          <p:cNvPr id="28" name="Text 20"/>
          <p:cNvSpPr txBox="1"/>
          <p:nvPr/>
        </p:nvSpPr>
        <p:spPr>
          <a:xfrm>
            <a:off x="1463040" y="5257800"/>
            <a:ext cx="9905695" cy="960120"/>
          </a:xfrm>
          <a:prstGeom prst="rect">
            <a:avLst/>
          </a:prstGeom>
          <a:noFill/>
          <a:ln/>
        </p:spPr>
        <p:txBody>
          <a:bodyPr wrap="square" lIns="0" tIns="0" rIns="0" bIns="0" rtlCol="0" anchor="ctr"/>
          <a:lstStyle/>
          <a:p>
            <a:pPr indent="0" marL="0">
              <a:buNone/>
            </a:pPr>
            <a:r>
              <a:rPr lang="en-US" sz="1600" b="1" dirty="0">
                <a:solidFill>
                  <a:schemeClr val="accent1"/>
                </a:solidFill>
              </a:rPr>
              <a:t>Bientôt  </a:t>
            </a:r>
            <a:pPr indent="0" marL="0">
              <a:buNone/>
            </a:pPr>
            <a:r>
              <a:rPr lang="en-US" sz="1600" dirty="0">
                <a:solidFill>
                  <a:schemeClr val="tx1"/>
                </a:solidFill>
              </a:rPr>
              <a:t>WhatsApp Business et SMS entrant · Baromètre et recommandations par l'IA</a:t>
            </a:r>
            <a:endParaRPr lang="en-US" sz="1600" dirty="0"/>
          </a:p>
        </p:txBody>
      </p:sp>
      <p:sp>
        <p:nvSpPr>
          <p:cNvPr id="25" name="Slide Number Placeholder 0"/>
          <p:cNvSpPr>
            <a:spLocks noGrp="1"/>
          </p:cNvSpPr>
          <p:nvPr>
            <p:ph type="sldNum" sz="quarter" idx="4294967295"/>
          </p:nvPr>
        </p:nvSpPr>
        <p:spPr>
          <a:xfrm>
            <a:off x="11183112" y="6446520"/>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body" hasCustomPrompt="1"/>
          </p:nvPr>
        </p:nvSpPr>
        <p:spPr>
          <a:xfrm>
            <a:off x="548640" y="1600200"/>
            <a:ext cx="2743200" cy="914400"/>
          </a:xfrm>
          <a:prstGeom prst="rect">
            <a:avLst/>
          </a:prstGeom>
          <a:noFill/>
          <a:ln/>
        </p:spPr>
        <p:txBody>
          <a:bodyPr wrap="square" lIns="0" tIns="0" rIns="0" bIns="0" rtlCol="0" anchor="t"/>
          <a:lstStyle/>
          <a:p>
            <a:pPr indent="0" marL="0">
              <a:buNone/>
            </a:pPr>
            <a:r>
              <a:rPr lang="en-US" sz="6000" b="1" dirty="0">
                <a:solidFill>
                  <a:schemeClr val="accent2"/>
                </a:solidFill>
              </a:rPr>
              <a:t>06</a:t>
            </a:r>
            <a:endParaRPr lang="en-US" sz="6000" dirty="0"/>
          </a:p>
        </p:txBody>
      </p:sp>
      <p:sp>
        <p:nvSpPr>
          <p:cNvPr id="3" name="Text 0"/>
          <p:cNvSpPr/>
          <p:nvPr>
            <p:ph idx="101" type="title" hasCustomPrompt="1"/>
          </p:nvPr>
        </p:nvSpPr>
        <p:spPr>
          <a:xfrm>
            <a:off x="548640" y="2560320"/>
            <a:ext cx="5486400" cy="1325880"/>
          </a:xfrm>
          <a:prstGeom prst="rect">
            <a:avLst/>
          </a:prstGeom>
          <a:noFill/>
          <a:ln/>
        </p:spPr>
        <p:txBody>
          <a:bodyPr wrap="square" lIns="0" tIns="0" rIns="0" bIns="0" rtlCol="0" anchor="t"/>
          <a:lstStyle/>
          <a:p>
            <a:pPr algn="l" indent="0" marL="0">
              <a:buNone/>
            </a:pPr>
            <a:r>
              <a:rPr lang="en-US" sz="4000" b="1" dirty="0">
                <a:solidFill>
                  <a:schemeClr val="bg1"/>
                </a:solidFill>
              </a:rPr>
              <a:t>Nos garanties</a:t>
            </a:r>
            <a:endParaRPr lang="en-US" sz="4000" dirty="0"/>
          </a:p>
        </p:txBody>
      </p:sp>
      <p:sp>
        <p:nvSpPr>
          <p:cNvPr id="4" name="Text 0"/>
          <p:cNvSpPr/>
          <p:nvPr>
            <p:ph idx="102" type="body" hasCustomPrompt="1"/>
          </p:nvPr>
        </p:nvSpPr>
        <p:spPr>
          <a:xfrm>
            <a:off x="548640" y="4069080"/>
            <a:ext cx="5029200" cy="1371600"/>
          </a:xfrm>
          <a:prstGeom prst="rect">
            <a:avLst/>
          </a:prstGeom>
          <a:noFill/>
          <a:ln/>
        </p:spPr>
        <p:txBody>
          <a:bodyPr wrap="square" lIns="0" tIns="0" rIns="0" bIns="0" rtlCol="0" anchor="t"/>
          <a:lstStyle/>
          <a:p>
            <a:pPr algn="l" indent="0" marL="0">
              <a:buNone/>
            </a:pPr>
            <a:r>
              <a:rPr lang="en-US" sz="1800" dirty="0">
                <a:solidFill>
                  <a:schemeClr val="bg2"/>
                </a:solidFill>
              </a:rPr>
              <a:t>Cloisonnement, traçabilité et qualité, vérifiés automatiquement à chaque version.</a:t>
            </a:r>
            <a:endParaRPr lang="en-US" sz="1800" dirty="0"/>
          </a:p>
        </p:txBody>
      </p:sp>
      <p:pic>
        <p:nvPicPr>
          <p:cNvPr id="6" name="Image 0" descr="Journal d'audit intact">    </p:cNvPr>
          <p:cNvPicPr>
            <a:picLocks noChangeAspect="1"/>
          </p:cNvPicPr>
          <p:nvPr/>
        </p:nvPicPr>
        <p:blipFill>
          <a:blip r:embed="rId1"/>
          <a:stretch>
            <a:fillRect/>
          </a:stretch>
        </p:blipFill>
        <p:spPr>
          <a:xfrm>
            <a:off x="6181919" y="878399"/>
            <a:ext cx="7204323" cy="4846658"/>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GARANTIE 1 · CONFIDENTIALITÉ</a:t>
            </a:r>
            <a:endParaRPr lang="en-US" sz="1200" dirty="0"/>
          </a:p>
        </p:txBody>
      </p:sp>
      <p:sp>
        <p:nvSpPr>
          <p:cNvPr id="3" name="Text 0"/>
          <p:cNvSpPr/>
          <p:nvPr>
            <p:ph idx="101" type="title" hasCustomPrompt="1"/>
          </p:nvPr>
        </p:nvSpPr>
        <p:spPr>
          <a:xfrm>
            <a:off x="548640" y="603504"/>
            <a:ext cx="11091672" cy="685800"/>
          </a:xfrm>
          <a:prstGeom prst="rect">
            <a:avLst/>
          </a:prstGeom>
          <a:noFill/>
          <a:ln/>
        </p:spPr>
        <p:txBody>
          <a:bodyPr wrap="square" lIns="0" tIns="0" rIns="0" bIns="0" rtlCol="0" anchor="t"/>
          <a:lstStyle/>
          <a:p>
            <a:pPr algn="l" indent="0" marL="0">
              <a:buNone/>
            </a:pPr>
            <a:r>
              <a:rPr lang="en-US" sz="3600" b="1" dirty="0">
                <a:solidFill>
                  <a:schemeClr val="tx1"/>
                </a:solidFill>
              </a:rPr>
              <a:t>Vos données restent cloisonnées</a:t>
            </a:r>
            <a:endParaRPr lang="en-US" sz="3600" dirty="0"/>
          </a:p>
        </p:txBody>
      </p:sp>
      <p:sp>
        <p:nvSpPr>
          <p:cNvPr id="5" name="Garantie Cloisonnement dans la base"/>
          <p:cNvSpPr/>
          <p:nvPr/>
        </p:nvSpPr>
        <p:spPr>
          <a:xfrm>
            <a:off x="548640" y="1600200"/>
            <a:ext cx="3484778" cy="4526280"/>
          </a:xfrm>
          <a:prstGeom prst="roundRect">
            <a:avLst>
              <a:gd name="adj" fmla="val 3149"/>
            </a:avLst>
          </a:prstGeom>
          <a:solidFill>
            <a:schemeClr val="bg2"/>
          </a:solidFill>
          <a:ln/>
        </p:spPr>
      </p:sp>
      <p:sp>
        <p:nvSpPr>
          <p:cNvPr id="6" name="Rond LuDatabase"/>
          <p:cNvSpPr/>
          <p:nvPr/>
        </p:nvSpPr>
        <p:spPr>
          <a:xfrm>
            <a:off x="868680" y="1874520"/>
            <a:ext cx="731520" cy="731520"/>
          </a:xfrm>
          <a:prstGeom prst="ellipse">
            <a:avLst/>
          </a:prstGeom>
          <a:solidFill>
            <a:schemeClr val="accent1"/>
          </a:solidFill>
          <a:ln/>
        </p:spPr>
      </p:sp>
      <p:pic>
        <p:nvPicPr>
          <p:cNvPr id="7" name="Image 0" descr="preencoded.png">    </p:cNvPr>
          <p:cNvPicPr>
            <a:picLocks noChangeAspect="1"/>
          </p:cNvPicPr>
          <p:nvPr/>
        </p:nvPicPr>
        <p:blipFill>
          <a:blip r:embed="rId1"/>
          <a:stretch>
            <a:fillRect/>
          </a:stretch>
        </p:blipFill>
        <p:spPr>
          <a:xfrm>
            <a:off x="1036930" y="2042770"/>
            <a:ext cx="395021" cy="395021"/>
          </a:xfrm>
          <a:prstGeom prst="rect">
            <a:avLst/>
          </a:prstGeom>
        </p:spPr>
      </p:pic>
      <p:sp>
        <p:nvSpPr>
          <p:cNvPr id="8" name="Text 4"/>
          <p:cNvSpPr txBox="1"/>
          <p:nvPr/>
        </p:nvSpPr>
        <p:spPr>
          <a:xfrm>
            <a:off x="868680" y="2788920"/>
            <a:ext cx="2844698" cy="685800"/>
          </a:xfrm>
          <a:prstGeom prst="rect">
            <a:avLst/>
          </a:prstGeom>
          <a:noFill/>
          <a:ln/>
        </p:spPr>
        <p:txBody>
          <a:bodyPr wrap="square" lIns="0" tIns="0" rIns="0" bIns="0" rtlCol="0" anchor="t"/>
          <a:lstStyle/>
          <a:p>
            <a:pPr indent="0" marL="0">
              <a:buNone/>
            </a:pPr>
            <a:r>
              <a:rPr lang="en-US" sz="2000" b="1" dirty="0">
                <a:solidFill>
                  <a:schemeClr val="tx1"/>
                </a:solidFill>
              </a:rPr>
              <a:t>Cloisonnement dans la base</a:t>
            </a:r>
            <a:endParaRPr lang="en-US" sz="2000" dirty="0"/>
          </a:p>
        </p:txBody>
      </p:sp>
      <p:sp>
        <p:nvSpPr>
          <p:cNvPr id="9" name="Text 5"/>
          <p:cNvSpPr txBox="1"/>
          <p:nvPr/>
        </p:nvSpPr>
        <p:spPr>
          <a:xfrm>
            <a:off x="868680" y="3547872"/>
            <a:ext cx="2844698" cy="1783080"/>
          </a:xfrm>
          <a:prstGeom prst="rect">
            <a:avLst/>
          </a:prstGeom>
          <a:noFill/>
          <a:ln/>
        </p:spPr>
        <p:txBody>
          <a:bodyPr wrap="square" lIns="0" tIns="0" rIns="0" bIns="0" rtlCol="0" anchor="t"/>
          <a:lstStyle/>
          <a:p>
            <a:pPr indent="0" marL="0">
              <a:buNone/>
            </a:pPr>
            <a:r>
              <a:rPr lang="en-US" sz="1500" dirty="0">
                <a:solidFill>
                  <a:schemeClr val="accent3"/>
                </a:solidFill>
              </a:rPr>
              <a:t>Chaque banque est isolée par la base de données elle-même. Un agent de la banque A ne peut lire aucune réclamation de la banque B, même par une requête directe.</a:t>
            </a:r>
            <a:endParaRPr lang="en-US" sz="1500" dirty="0"/>
          </a:p>
        </p:txBody>
      </p:sp>
      <p:pic>
        <p:nvPicPr>
          <p:cNvPr id="10" name="Image 1" descr="preencoded.png">    </p:cNvPr>
          <p:cNvPicPr>
            <a:picLocks noChangeAspect="1"/>
          </p:cNvPicPr>
          <p:nvPr/>
        </p:nvPicPr>
        <p:blipFill>
          <a:blip r:embed="rId2"/>
          <a:stretch>
            <a:fillRect/>
          </a:stretch>
        </p:blipFill>
        <p:spPr>
          <a:xfrm>
            <a:off x="868680" y="5532120"/>
            <a:ext cx="274320" cy="274320"/>
          </a:xfrm>
          <a:prstGeom prst="rect">
            <a:avLst/>
          </a:prstGeom>
        </p:spPr>
      </p:pic>
      <p:sp>
        <p:nvSpPr>
          <p:cNvPr id="11" name="Text 6"/>
          <p:cNvSpPr txBox="1"/>
          <p:nvPr/>
        </p:nvSpPr>
        <p:spPr>
          <a:xfrm>
            <a:off x="1234440" y="5440680"/>
            <a:ext cx="2524658" cy="457200"/>
          </a:xfrm>
          <a:prstGeom prst="rect">
            <a:avLst/>
          </a:prstGeom>
          <a:noFill/>
          <a:ln/>
        </p:spPr>
        <p:txBody>
          <a:bodyPr wrap="square" lIns="0" tIns="0" rIns="0" bIns="0" rtlCol="0" anchor="ctr"/>
          <a:lstStyle/>
          <a:p>
            <a:pPr indent="0" marL="0">
              <a:buNone/>
            </a:pPr>
            <a:r>
              <a:rPr lang="en-US" sz="1300" b="1" dirty="0">
                <a:solidFill>
                  <a:schemeClr val="accent1"/>
                </a:solidFill>
              </a:rPr>
              <a:t>Vérifié à chaque version (critère de recette n° 4)</a:t>
            </a:r>
            <a:endParaRPr lang="en-US" sz="1300" dirty="0"/>
          </a:p>
        </p:txBody>
      </p:sp>
      <p:sp>
        <p:nvSpPr>
          <p:cNvPr id="12" name="Garantie Makor ne voit pas vos clients"/>
          <p:cNvSpPr/>
          <p:nvPr/>
        </p:nvSpPr>
        <p:spPr>
          <a:xfrm>
            <a:off x="4353458" y="1600200"/>
            <a:ext cx="3484778" cy="4526280"/>
          </a:xfrm>
          <a:prstGeom prst="roundRect">
            <a:avLst>
              <a:gd name="adj" fmla="val 3149"/>
            </a:avLst>
          </a:prstGeom>
          <a:solidFill>
            <a:schemeClr val="bg2"/>
          </a:solidFill>
          <a:ln/>
        </p:spPr>
      </p:sp>
      <p:sp>
        <p:nvSpPr>
          <p:cNvPr id="13" name="Rond LuEyeOff"/>
          <p:cNvSpPr/>
          <p:nvPr/>
        </p:nvSpPr>
        <p:spPr>
          <a:xfrm>
            <a:off x="4673498" y="1874520"/>
            <a:ext cx="731520" cy="731520"/>
          </a:xfrm>
          <a:prstGeom prst="ellipse">
            <a:avLst/>
          </a:prstGeom>
          <a:solidFill>
            <a:schemeClr val="accent1"/>
          </a:solidFill>
          <a:ln/>
        </p:spPr>
      </p:sp>
      <p:pic>
        <p:nvPicPr>
          <p:cNvPr id="14" name="Image 2" descr="preencoded.png">    </p:cNvPr>
          <p:cNvPicPr>
            <a:picLocks noChangeAspect="1"/>
          </p:cNvPicPr>
          <p:nvPr/>
        </p:nvPicPr>
        <p:blipFill>
          <a:blip r:embed="rId3"/>
          <a:stretch>
            <a:fillRect/>
          </a:stretch>
        </p:blipFill>
        <p:spPr>
          <a:xfrm>
            <a:off x="4841748" y="2042770"/>
            <a:ext cx="395021" cy="395021"/>
          </a:xfrm>
          <a:prstGeom prst="rect">
            <a:avLst/>
          </a:prstGeom>
        </p:spPr>
      </p:pic>
      <p:sp>
        <p:nvSpPr>
          <p:cNvPr id="15" name="Text 9"/>
          <p:cNvSpPr txBox="1"/>
          <p:nvPr/>
        </p:nvSpPr>
        <p:spPr>
          <a:xfrm>
            <a:off x="4673498" y="2788920"/>
            <a:ext cx="2844698" cy="685800"/>
          </a:xfrm>
          <a:prstGeom prst="rect">
            <a:avLst/>
          </a:prstGeom>
          <a:noFill/>
          <a:ln/>
        </p:spPr>
        <p:txBody>
          <a:bodyPr wrap="square" lIns="0" tIns="0" rIns="0" bIns="0" rtlCol="0" anchor="t"/>
          <a:lstStyle/>
          <a:p>
            <a:pPr indent="0" marL="0">
              <a:buNone/>
            </a:pPr>
            <a:r>
              <a:rPr lang="en-US" sz="2000" b="1" dirty="0">
                <a:solidFill>
                  <a:schemeClr val="tx1"/>
                </a:solidFill>
              </a:rPr>
              <a:t>Makor ne voit pas vos clients</a:t>
            </a:r>
            <a:endParaRPr lang="en-US" sz="2000" dirty="0"/>
          </a:p>
        </p:txBody>
      </p:sp>
      <p:sp>
        <p:nvSpPr>
          <p:cNvPr id="16" name="Text 10"/>
          <p:cNvSpPr txBox="1"/>
          <p:nvPr/>
        </p:nvSpPr>
        <p:spPr>
          <a:xfrm>
            <a:off x="4673498" y="3547872"/>
            <a:ext cx="2844698" cy="1783080"/>
          </a:xfrm>
          <a:prstGeom prst="rect">
            <a:avLst/>
          </a:prstGeom>
          <a:noFill/>
          <a:ln/>
        </p:spPr>
        <p:txBody>
          <a:bodyPr wrap="square" lIns="0" tIns="0" rIns="0" bIns="0" rtlCol="0" anchor="t"/>
          <a:lstStyle/>
          <a:p>
            <a:pPr indent="0" marL="0">
              <a:buNone/>
            </a:pPr>
            <a:r>
              <a:rPr lang="en-US" sz="1500" dirty="0">
                <a:solidFill>
                  <a:schemeClr val="accent3"/>
                </a:solidFill>
              </a:rPr>
              <a:t>La console Makor n'accède qu'à des métadonnées : ni nom, ni coordonnées, ni description, ni échanges. Les alertes urgentes sont anonymes.</a:t>
            </a:r>
            <a:endParaRPr lang="en-US" sz="1500" dirty="0"/>
          </a:p>
        </p:txBody>
      </p:sp>
      <p:pic>
        <p:nvPicPr>
          <p:cNvPr id="17" name="Image 3" descr="preencoded.png">    </p:cNvPr>
          <p:cNvPicPr>
            <a:picLocks noChangeAspect="1"/>
          </p:cNvPicPr>
          <p:nvPr/>
        </p:nvPicPr>
        <p:blipFill>
          <a:blip r:embed="rId4"/>
          <a:stretch>
            <a:fillRect/>
          </a:stretch>
        </p:blipFill>
        <p:spPr>
          <a:xfrm>
            <a:off x="4673498" y="5532120"/>
            <a:ext cx="274320" cy="274320"/>
          </a:xfrm>
          <a:prstGeom prst="rect">
            <a:avLst/>
          </a:prstGeom>
        </p:spPr>
      </p:pic>
      <p:sp>
        <p:nvSpPr>
          <p:cNvPr id="18" name="Text 11"/>
          <p:cNvSpPr txBox="1"/>
          <p:nvPr/>
        </p:nvSpPr>
        <p:spPr>
          <a:xfrm>
            <a:off x="5039258" y="5440680"/>
            <a:ext cx="2524658" cy="457200"/>
          </a:xfrm>
          <a:prstGeom prst="rect">
            <a:avLst/>
          </a:prstGeom>
          <a:noFill/>
          <a:ln/>
        </p:spPr>
        <p:txBody>
          <a:bodyPr wrap="square" lIns="0" tIns="0" rIns="0" bIns="0" rtlCol="0" anchor="ctr"/>
          <a:lstStyle/>
          <a:p>
            <a:pPr indent="0" marL="0">
              <a:buNone/>
            </a:pPr>
            <a:r>
              <a:rPr lang="en-US" sz="1300" b="1" dirty="0">
                <a:solidFill>
                  <a:schemeClr val="accent1"/>
                </a:solidFill>
              </a:rPr>
              <a:t>Vérifié à chaque version (critère de recette n° 3)</a:t>
            </a:r>
            <a:endParaRPr lang="en-US" sz="1300" dirty="0"/>
          </a:p>
        </p:txBody>
      </p:sp>
      <p:sp>
        <p:nvSpPr>
          <p:cNvPr id="19" name="Garantie Consentement et IA maîtrisés"/>
          <p:cNvSpPr/>
          <p:nvPr/>
        </p:nvSpPr>
        <p:spPr>
          <a:xfrm>
            <a:off x="8158277" y="1600200"/>
            <a:ext cx="3484778" cy="4526280"/>
          </a:xfrm>
          <a:prstGeom prst="roundRect">
            <a:avLst>
              <a:gd name="adj" fmla="val 3149"/>
            </a:avLst>
          </a:prstGeom>
          <a:solidFill>
            <a:schemeClr val="bg2"/>
          </a:solidFill>
          <a:ln/>
        </p:spPr>
      </p:sp>
      <p:sp>
        <p:nvSpPr>
          <p:cNvPr id="20" name="Rond LuFileCheck"/>
          <p:cNvSpPr/>
          <p:nvPr/>
        </p:nvSpPr>
        <p:spPr>
          <a:xfrm>
            <a:off x="8478317" y="1874520"/>
            <a:ext cx="731520" cy="731520"/>
          </a:xfrm>
          <a:prstGeom prst="ellipse">
            <a:avLst/>
          </a:prstGeom>
          <a:solidFill>
            <a:schemeClr val="accent1"/>
          </a:solidFill>
          <a:ln/>
        </p:spPr>
      </p:sp>
      <p:pic>
        <p:nvPicPr>
          <p:cNvPr id="21" name="Image 4" descr="preencoded.png">    </p:cNvPr>
          <p:cNvPicPr>
            <a:picLocks noChangeAspect="1"/>
          </p:cNvPicPr>
          <p:nvPr/>
        </p:nvPicPr>
        <p:blipFill>
          <a:blip r:embed="rId5"/>
          <a:stretch>
            <a:fillRect/>
          </a:stretch>
        </p:blipFill>
        <p:spPr>
          <a:xfrm>
            <a:off x="8646566" y="2042770"/>
            <a:ext cx="395021" cy="395021"/>
          </a:xfrm>
          <a:prstGeom prst="rect">
            <a:avLst/>
          </a:prstGeom>
        </p:spPr>
      </p:pic>
      <p:sp>
        <p:nvSpPr>
          <p:cNvPr id="22" name="Text 14"/>
          <p:cNvSpPr txBox="1"/>
          <p:nvPr/>
        </p:nvSpPr>
        <p:spPr>
          <a:xfrm>
            <a:off x="8478317" y="2788920"/>
            <a:ext cx="2844698" cy="685800"/>
          </a:xfrm>
          <a:prstGeom prst="rect">
            <a:avLst/>
          </a:prstGeom>
          <a:noFill/>
          <a:ln/>
        </p:spPr>
        <p:txBody>
          <a:bodyPr wrap="square" lIns="0" tIns="0" rIns="0" bIns="0" rtlCol="0" anchor="t"/>
          <a:lstStyle/>
          <a:p>
            <a:pPr indent="0" marL="0">
              <a:buNone/>
            </a:pPr>
            <a:r>
              <a:rPr lang="en-US" sz="2000" b="1" dirty="0">
                <a:solidFill>
                  <a:schemeClr val="tx1"/>
                </a:solidFill>
              </a:rPr>
              <a:t>Consentement et IA maîtrisés</a:t>
            </a:r>
            <a:endParaRPr lang="en-US" sz="2000" dirty="0"/>
          </a:p>
        </p:txBody>
      </p:sp>
      <p:sp>
        <p:nvSpPr>
          <p:cNvPr id="23" name="Text 15"/>
          <p:cNvSpPr txBox="1"/>
          <p:nvPr/>
        </p:nvSpPr>
        <p:spPr>
          <a:xfrm>
            <a:off x="8478317" y="3547872"/>
            <a:ext cx="2844698" cy="1783080"/>
          </a:xfrm>
          <a:prstGeom prst="rect">
            <a:avLst/>
          </a:prstGeom>
          <a:noFill/>
          <a:ln/>
        </p:spPr>
        <p:txBody>
          <a:bodyPr wrap="square" lIns="0" tIns="0" rIns="0" bIns="0" rtlCol="0" anchor="t"/>
          <a:lstStyle/>
          <a:p>
            <a:pPr indent="0" marL="0">
              <a:buNone/>
            </a:pPr>
            <a:r>
              <a:rPr lang="en-US" sz="1500" dirty="0">
                <a:solidFill>
                  <a:schemeClr val="accent3"/>
                </a:solidFill>
              </a:rPr>
              <a:t>Le client accepte la politique de données de la banque avant l'envoi (ARTCI). L'assistant n'envoie rien à l'extérieur tant que la banque n'a pas validé un fournisseur d'IA.</a:t>
            </a:r>
            <a:endParaRPr lang="en-US" sz="1500" dirty="0"/>
          </a:p>
        </p:txBody>
      </p:sp>
      <p:pic>
        <p:nvPicPr>
          <p:cNvPr id="24" name="Image 5" descr="preencoded.png">    </p:cNvPr>
          <p:cNvPicPr>
            <a:picLocks noChangeAspect="1"/>
          </p:cNvPicPr>
          <p:nvPr/>
        </p:nvPicPr>
        <p:blipFill>
          <a:blip r:embed="rId6"/>
          <a:stretch>
            <a:fillRect/>
          </a:stretch>
        </p:blipFill>
        <p:spPr>
          <a:xfrm>
            <a:off x="8478317" y="5532120"/>
            <a:ext cx="274320" cy="274320"/>
          </a:xfrm>
          <a:prstGeom prst="rect">
            <a:avLst/>
          </a:prstGeom>
        </p:spPr>
      </p:pic>
      <p:sp>
        <p:nvSpPr>
          <p:cNvPr id="25" name="Text 16"/>
          <p:cNvSpPr txBox="1"/>
          <p:nvPr/>
        </p:nvSpPr>
        <p:spPr>
          <a:xfrm>
            <a:off x="8844077" y="5440680"/>
            <a:ext cx="2524658" cy="457200"/>
          </a:xfrm>
          <a:prstGeom prst="rect">
            <a:avLst/>
          </a:prstGeom>
          <a:noFill/>
          <a:ln/>
        </p:spPr>
        <p:txBody>
          <a:bodyPr wrap="square" lIns="0" tIns="0" rIns="0" bIns="0" rtlCol="0" anchor="ctr"/>
          <a:lstStyle/>
          <a:p>
            <a:pPr indent="0" marL="0">
              <a:buNone/>
            </a:pPr>
            <a:r>
              <a:rPr lang="en-US" sz="1300" b="1" dirty="0">
                <a:solidFill>
                  <a:schemeClr val="accent1"/>
                </a:solidFill>
              </a:rPr>
              <a:t>Un code secret saisi par erreur est masqué</a:t>
            </a:r>
            <a:endParaRPr lang="en-US" sz="1300" dirty="0"/>
          </a:p>
        </p:txBody>
      </p:sp>
      <p:sp>
        <p:nvSpPr>
          <p:cNvPr id="25" name="Slide Number Placeholder 0"/>
          <p:cNvSpPr>
            <a:spLocks noGrp="1"/>
          </p:cNvSpPr>
          <p:nvPr>
            <p:ph type="sldNum" sz="quarter" idx="4294967295"/>
          </p:nvPr>
        </p:nvSpPr>
        <p:spPr>
          <a:xfrm>
            <a:off x="11183112" y="6446520"/>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GARANTIE 2 · TRAÇABILITÉ ET CONTINUITÉ</a:t>
            </a:r>
            <a:endParaRPr lang="en-US" sz="1200" dirty="0"/>
          </a:p>
        </p:txBody>
      </p:sp>
      <p:sp>
        <p:nvSpPr>
          <p:cNvPr id="3" name="Text 0"/>
          <p:cNvSpPr/>
          <p:nvPr>
            <p:ph idx="101" type="title" hasCustomPrompt="1"/>
          </p:nvPr>
        </p:nvSpPr>
        <p:spPr>
          <a:xfrm>
            <a:off x="548640" y="603504"/>
            <a:ext cx="11091672" cy="685800"/>
          </a:xfrm>
          <a:prstGeom prst="rect">
            <a:avLst/>
          </a:prstGeom>
          <a:noFill/>
          <a:ln/>
        </p:spPr>
        <p:txBody>
          <a:bodyPr wrap="square" lIns="0" tIns="0" rIns="0" bIns="0" rtlCol="0" anchor="t"/>
          <a:lstStyle/>
          <a:p>
            <a:pPr algn="l" indent="0" marL="0">
              <a:buNone/>
            </a:pPr>
            <a:r>
              <a:rPr lang="en-US" sz="3600" b="1" dirty="0">
                <a:solidFill>
                  <a:schemeClr val="tx1"/>
                </a:solidFill>
              </a:rPr>
              <a:t>Tout est tracé, rien ne se perd</a:t>
            </a:r>
            <a:endParaRPr lang="en-US" sz="3600" dirty="0"/>
          </a:p>
        </p:txBody>
      </p:sp>
      <p:sp>
        <p:nvSpPr>
          <p:cNvPr id="5" name="Garantie Journal d'audit infalsifiable"/>
          <p:cNvSpPr/>
          <p:nvPr/>
        </p:nvSpPr>
        <p:spPr>
          <a:xfrm>
            <a:off x="548640" y="1600200"/>
            <a:ext cx="5387188" cy="2103120"/>
          </a:xfrm>
          <a:prstGeom prst="roundRect">
            <a:avLst>
              <a:gd name="adj" fmla="val 5217"/>
            </a:avLst>
          </a:prstGeom>
          <a:solidFill>
            <a:schemeClr val="bg2"/>
          </a:solidFill>
          <a:ln/>
        </p:spPr>
      </p:sp>
      <p:sp>
        <p:nvSpPr>
          <p:cNvPr id="6" name="Rond LuHistory"/>
          <p:cNvSpPr/>
          <p:nvPr/>
        </p:nvSpPr>
        <p:spPr>
          <a:xfrm>
            <a:off x="868680" y="1920240"/>
            <a:ext cx="731520" cy="731520"/>
          </a:xfrm>
          <a:prstGeom prst="ellipse">
            <a:avLst/>
          </a:prstGeom>
          <a:solidFill>
            <a:schemeClr val="accent1"/>
          </a:solidFill>
          <a:ln/>
        </p:spPr>
      </p:sp>
      <p:pic>
        <p:nvPicPr>
          <p:cNvPr id="7" name="Image 0" descr="preencoded.png">    </p:cNvPr>
          <p:cNvPicPr>
            <a:picLocks noChangeAspect="1"/>
          </p:cNvPicPr>
          <p:nvPr/>
        </p:nvPicPr>
        <p:blipFill>
          <a:blip r:embed="rId1"/>
          <a:stretch>
            <a:fillRect/>
          </a:stretch>
        </p:blipFill>
        <p:spPr>
          <a:xfrm>
            <a:off x="1036930" y="2088490"/>
            <a:ext cx="395021" cy="395021"/>
          </a:xfrm>
          <a:prstGeom prst="rect">
            <a:avLst/>
          </a:prstGeom>
        </p:spPr>
      </p:pic>
      <p:sp>
        <p:nvSpPr>
          <p:cNvPr id="8" name="Text 4"/>
          <p:cNvSpPr txBox="1"/>
          <p:nvPr/>
        </p:nvSpPr>
        <p:spPr>
          <a:xfrm>
            <a:off x="1874520" y="1892808"/>
            <a:ext cx="3786988" cy="411480"/>
          </a:xfrm>
          <a:prstGeom prst="rect">
            <a:avLst/>
          </a:prstGeom>
          <a:noFill/>
          <a:ln/>
        </p:spPr>
        <p:txBody>
          <a:bodyPr wrap="square" lIns="0" tIns="0" rIns="0" bIns="0" rtlCol="0" anchor="t"/>
          <a:lstStyle/>
          <a:p>
            <a:pPr indent="0" marL="0">
              <a:buNone/>
            </a:pPr>
            <a:r>
              <a:rPr lang="en-US" sz="2000" b="1" dirty="0">
                <a:solidFill>
                  <a:schemeClr val="tx1"/>
                </a:solidFill>
              </a:rPr>
              <a:t>Journal d'audit infalsifiable</a:t>
            </a:r>
            <a:endParaRPr lang="en-US" sz="2000" dirty="0"/>
          </a:p>
        </p:txBody>
      </p:sp>
      <p:sp>
        <p:nvSpPr>
          <p:cNvPr id="9" name="Text 5"/>
          <p:cNvSpPr txBox="1"/>
          <p:nvPr/>
        </p:nvSpPr>
        <p:spPr>
          <a:xfrm>
            <a:off x="1874520" y="2377440"/>
            <a:ext cx="3786988" cy="1188720"/>
          </a:xfrm>
          <a:prstGeom prst="rect">
            <a:avLst/>
          </a:prstGeom>
          <a:noFill/>
          <a:ln/>
        </p:spPr>
        <p:txBody>
          <a:bodyPr wrap="square" lIns="0" tIns="0" rIns="0" bIns="0" rtlCol="0" anchor="t"/>
          <a:lstStyle/>
          <a:p>
            <a:pPr indent="0" marL="0">
              <a:buNone/>
            </a:pPr>
            <a:r>
              <a:rPr lang="en-US" sz="1500" dirty="0">
                <a:solidFill>
                  <a:schemeClr val="accent3"/>
                </a:solidFill>
              </a:rPr>
              <a:t>Chaque action est chaînée à la précédente par une empreinte SHA-256. Modifier ou effacer une ligne est refusé ; toute altération est détectée.</a:t>
            </a:r>
            <a:endParaRPr lang="en-US" sz="1500" dirty="0"/>
          </a:p>
        </p:txBody>
      </p:sp>
      <p:sp>
        <p:nvSpPr>
          <p:cNvPr id="10" name="Garantie Double authentification au choix"/>
          <p:cNvSpPr/>
          <p:nvPr/>
        </p:nvSpPr>
        <p:spPr>
          <a:xfrm>
            <a:off x="6255868" y="1600200"/>
            <a:ext cx="5387188" cy="2103120"/>
          </a:xfrm>
          <a:prstGeom prst="roundRect">
            <a:avLst>
              <a:gd name="adj" fmla="val 5217"/>
            </a:avLst>
          </a:prstGeom>
          <a:solidFill>
            <a:schemeClr val="bg2"/>
          </a:solidFill>
          <a:ln/>
        </p:spPr>
      </p:sp>
      <p:sp>
        <p:nvSpPr>
          <p:cNvPr id="11" name="Rond LuKeyRound"/>
          <p:cNvSpPr/>
          <p:nvPr/>
        </p:nvSpPr>
        <p:spPr>
          <a:xfrm>
            <a:off x="6575908" y="1920240"/>
            <a:ext cx="731520" cy="731520"/>
          </a:xfrm>
          <a:prstGeom prst="ellipse">
            <a:avLst/>
          </a:prstGeom>
          <a:solidFill>
            <a:schemeClr val="accent1"/>
          </a:solidFill>
          <a:ln/>
        </p:spPr>
      </p:sp>
      <p:pic>
        <p:nvPicPr>
          <p:cNvPr id="12" name="Image 1" descr="preencoded.png">    </p:cNvPr>
          <p:cNvPicPr>
            <a:picLocks noChangeAspect="1"/>
          </p:cNvPicPr>
          <p:nvPr/>
        </p:nvPicPr>
        <p:blipFill>
          <a:blip r:embed="rId2"/>
          <a:stretch>
            <a:fillRect/>
          </a:stretch>
        </p:blipFill>
        <p:spPr>
          <a:xfrm>
            <a:off x="6744157" y="2088490"/>
            <a:ext cx="395021" cy="395021"/>
          </a:xfrm>
          <a:prstGeom prst="rect">
            <a:avLst/>
          </a:prstGeom>
        </p:spPr>
      </p:pic>
      <p:sp>
        <p:nvSpPr>
          <p:cNvPr id="13" name="Text 8"/>
          <p:cNvSpPr txBox="1"/>
          <p:nvPr/>
        </p:nvSpPr>
        <p:spPr>
          <a:xfrm>
            <a:off x="7581748" y="1892808"/>
            <a:ext cx="3786988" cy="411480"/>
          </a:xfrm>
          <a:prstGeom prst="rect">
            <a:avLst/>
          </a:prstGeom>
          <a:noFill/>
          <a:ln/>
        </p:spPr>
        <p:txBody>
          <a:bodyPr wrap="square" lIns="0" tIns="0" rIns="0" bIns="0" rtlCol="0" anchor="t"/>
          <a:lstStyle/>
          <a:p>
            <a:pPr indent="0" marL="0">
              <a:buNone/>
            </a:pPr>
            <a:r>
              <a:rPr lang="en-US" sz="2000" b="1" dirty="0">
                <a:solidFill>
                  <a:schemeClr val="tx1"/>
                </a:solidFill>
              </a:rPr>
              <a:t>Double authentification au choix</a:t>
            </a:r>
            <a:endParaRPr lang="en-US" sz="2000" dirty="0"/>
          </a:p>
        </p:txBody>
      </p:sp>
      <p:sp>
        <p:nvSpPr>
          <p:cNvPr id="14" name="Text 9"/>
          <p:cNvSpPr txBox="1"/>
          <p:nvPr/>
        </p:nvSpPr>
        <p:spPr>
          <a:xfrm>
            <a:off x="7581748" y="2377440"/>
            <a:ext cx="3786988" cy="1188720"/>
          </a:xfrm>
          <a:prstGeom prst="rect">
            <a:avLst/>
          </a:prstGeom>
          <a:noFill/>
          <a:ln/>
        </p:spPr>
        <p:txBody>
          <a:bodyPr wrap="square" lIns="0" tIns="0" rIns="0" bIns="0" rtlCol="0" anchor="t"/>
          <a:lstStyle/>
          <a:p>
            <a:pPr indent="0" marL="0">
              <a:buNone/>
            </a:pPr>
            <a:r>
              <a:rPr lang="en-US" sz="1500" dirty="0">
                <a:solidFill>
                  <a:schemeClr val="accent3"/>
                </a:solidFill>
              </a:rPr>
              <a:t>Facultative ou exigée de tout le personnel, selon la banque ; toujours exigée pour Makor. Chaque connexion est journalisée.</a:t>
            </a:r>
            <a:endParaRPr lang="en-US" sz="1500" dirty="0"/>
          </a:p>
        </p:txBody>
      </p:sp>
      <p:sp>
        <p:nvSpPr>
          <p:cNvPr id="15" name="Garantie Sauvegardes verrouillées"/>
          <p:cNvSpPr/>
          <p:nvPr/>
        </p:nvSpPr>
        <p:spPr>
          <a:xfrm>
            <a:off x="548640" y="3931920"/>
            <a:ext cx="5387188" cy="2103120"/>
          </a:xfrm>
          <a:prstGeom prst="roundRect">
            <a:avLst>
              <a:gd name="adj" fmla="val 5217"/>
            </a:avLst>
          </a:prstGeom>
          <a:solidFill>
            <a:schemeClr val="bg2"/>
          </a:solidFill>
          <a:ln/>
        </p:spPr>
      </p:sp>
      <p:sp>
        <p:nvSpPr>
          <p:cNvPr id="16" name="Rond LuDatabaseBackup"/>
          <p:cNvSpPr/>
          <p:nvPr/>
        </p:nvSpPr>
        <p:spPr>
          <a:xfrm>
            <a:off x="868680" y="4251960"/>
            <a:ext cx="731520" cy="731520"/>
          </a:xfrm>
          <a:prstGeom prst="ellipse">
            <a:avLst/>
          </a:prstGeom>
          <a:solidFill>
            <a:schemeClr val="accent1"/>
          </a:solidFill>
          <a:ln/>
        </p:spPr>
      </p:sp>
      <p:pic>
        <p:nvPicPr>
          <p:cNvPr id="17" name="Image 2" descr="preencoded.png">    </p:cNvPr>
          <p:cNvPicPr>
            <a:picLocks noChangeAspect="1"/>
          </p:cNvPicPr>
          <p:nvPr/>
        </p:nvPicPr>
        <p:blipFill>
          <a:blip r:embed="rId3"/>
          <a:stretch>
            <a:fillRect/>
          </a:stretch>
        </p:blipFill>
        <p:spPr>
          <a:xfrm>
            <a:off x="1036930" y="4420210"/>
            <a:ext cx="395021" cy="395021"/>
          </a:xfrm>
          <a:prstGeom prst="rect">
            <a:avLst/>
          </a:prstGeom>
        </p:spPr>
      </p:pic>
      <p:sp>
        <p:nvSpPr>
          <p:cNvPr id="18" name="Text 12"/>
          <p:cNvSpPr txBox="1"/>
          <p:nvPr/>
        </p:nvSpPr>
        <p:spPr>
          <a:xfrm>
            <a:off x="1874520" y="4224528"/>
            <a:ext cx="3786988" cy="411480"/>
          </a:xfrm>
          <a:prstGeom prst="rect">
            <a:avLst/>
          </a:prstGeom>
          <a:noFill/>
          <a:ln/>
        </p:spPr>
        <p:txBody>
          <a:bodyPr wrap="square" lIns="0" tIns="0" rIns="0" bIns="0" rtlCol="0" anchor="t"/>
          <a:lstStyle/>
          <a:p>
            <a:pPr indent="0" marL="0">
              <a:buNone/>
            </a:pPr>
            <a:r>
              <a:rPr lang="en-US" sz="2000" b="1" dirty="0">
                <a:solidFill>
                  <a:schemeClr val="tx1"/>
                </a:solidFill>
              </a:rPr>
              <a:t>Sauvegardes verrouillées</a:t>
            </a:r>
            <a:endParaRPr lang="en-US" sz="2000" dirty="0"/>
          </a:p>
        </p:txBody>
      </p:sp>
      <p:sp>
        <p:nvSpPr>
          <p:cNvPr id="19" name="Text 13"/>
          <p:cNvSpPr txBox="1"/>
          <p:nvPr/>
        </p:nvSpPr>
        <p:spPr>
          <a:xfrm>
            <a:off x="1874520" y="4709160"/>
            <a:ext cx="3786988" cy="1188720"/>
          </a:xfrm>
          <a:prstGeom prst="rect">
            <a:avLst/>
          </a:prstGeom>
          <a:noFill/>
          <a:ln/>
        </p:spPr>
        <p:txBody>
          <a:bodyPr wrap="square" lIns="0" tIns="0" rIns="0" bIns="0" rtlCol="0" anchor="t"/>
          <a:lstStyle/>
          <a:p>
            <a:pPr indent="0" marL="0">
              <a:buNone/>
            </a:pPr>
            <a:r>
              <a:rPr lang="en-US" sz="1500" dirty="0">
                <a:solidFill>
                  <a:schemeClr val="accent3"/>
                </a:solidFill>
              </a:rPr>
              <a:t>Chaque nuit, une copie chiffrée part hors du serveur, verrouillée contre l'effacement. Restauration vérifiée par 39 contrôles.</a:t>
            </a:r>
            <a:endParaRPr lang="en-US" sz="1500" dirty="0"/>
          </a:p>
        </p:txBody>
      </p:sp>
      <p:sp>
        <p:nvSpPr>
          <p:cNvPr id="20" name="Garantie Formulaire public protégé"/>
          <p:cNvSpPr/>
          <p:nvPr/>
        </p:nvSpPr>
        <p:spPr>
          <a:xfrm>
            <a:off x="6255868" y="3931920"/>
            <a:ext cx="5387188" cy="2103120"/>
          </a:xfrm>
          <a:prstGeom prst="roundRect">
            <a:avLst>
              <a:gd name="adj" fmla="val 5217"/>
            </a:avLst>
          </a:prstGeom>
          <a:solidFill>
            <a:schemeClr val="bg2"/>
          </a:solidFill>
          <a:ln/>
        </p:spPr>
      </p:sp>
      <p:sp>
        <p:nvSpPr>
          <p:cNvPr id="21" name="Rond LuShieldCheck"/>
          <p:cNvSpPr/>
          <p:nvPr/>
        </p:nvSpPr>
        <p:spPr>
          <a:xfrm>
            <a:off x="6575908" y="4251960"/>
            <a:ext cx="731520" cy="731520"/>
          </a:xfrm>
          <a:prstGeom prst="ellipse">
            <a:avLst/>
          </a:prstGeom>
          <a:solidFill>
            <a:schemeClr val="accent1"/>
          </a:solidFill>
          <a:ln/>
        </p:spPr>
      </p:sp>
      <p:pic>
        <p:nvPicPr>
          <p:cNvPr id="22" name="Image 3" descr="preencoded.png">    </p:cNvPr>
          <p:cNvPicPr>
            <a:picLocks noChangeAspect="1"/>
          </p:cNvPicPr>
          <p:nvPr/>
        </p:nvPicPr>
        <p:blipFill>
          <a:blip r:embed="rId4"/>
          <a:stretch>
            <a:fillRect/>
          </a:stretch>
        </p:blipFill>
        <p:spPr>
          <a:xfrm>
            <a:off x="6744157" y="4420210"/>
            <a:ext cx="395021" cy="395021"/>
          </a:xfrm>
          <a:prstGeom prst="rect">
            <a:avLst/>
          </a:prstGeom>
        </p:spPr>
      </p:pic>
      <p:sp>
        <p:nvSpPr>
          <p:cNvPr id="23" name="Text 16"/>
          <p:cNvSpPr txBox="1"/>
          <p:nvPr/>
        </p:nvSpPr>
        <p:spPr>
          <a:xfrm>
            <a:off x="7581748" y="4224528"/>
            <a:ext cx="3786988" cy="411480"/>
          </a:xfrm>
          <a:prstGeom prst="rect">
            <a:avLst/>
          </a:prstGeom>
          <a:noFill/>
          <a:ln/>
        </p:spPr>
        <p:txBody>
          <a:bodyPr wrap="square" lIns="0" tIns="0" rIns="0" bIns="0" rtlCol="0" anchor="t"/>
          <a:lstStyle/>
          <a:p>
            <a:pPr indent="0" marL="0">
              <a:buNone/>
            </a:pPr>
            <a:r>
              <a:rPr lang="en-US" sz="2000" b="1" dirty="0">
                <a:solidFill>
                  <a:schemeClr val="tx1"/>
                </a:solidFill>
              </a:rPr>
              <a:t>Formulaire public protégé</a:t>
            </a:r>
            <a:endParaRPr lang="en-US" sz="2000" dirty="0"/>
          </a:p>
        </p:txBody>
      </p:sp>
      <p:sp>
        <p:nvSpPr>
          <p:cNvPr id="24" name="Text 17"/>
          <p:cNvSpPr txBox="1"/>
          <p:nvPr/>
        </p:nvSpPr>
        <p:spPr>
          <a:xfrm>
            <a:off x="7581748" y="4709160"/>
            <a:ext cx="3786988" cy="1188720"/>
          </a:xfrm>
          <a:prstGeom prst="rect">
            <a:avLst/>
          </a:prstGeom>
          <a:noFill/>
          <a:ln/>
        </p:spPr>
        <p:txBody>
          <a:bodyPr wrap="square" lIns="0" tIns="0" rIns="0" bIns="0" rtlCol="0" anchor="t"/>
          <a:lstStyle/>
          <a:p>
            <a:pPr indent="0" marL="0">
              <a:buNone/>
            </a:pPr>
            <a:r>
              <a:rPr lang="en-US" sz="1500" dirty="0">
                <a:solidFill>
                  <a:schemeClr val="accent3"/>
                </a:solidFill>
              </a:rPr>
              <a:t>Défi anti-robot calculé dans le navigateur, sans service tiers : rien ne part chez Google ou Cloudflare. Dépôts limités par adresse.</a:t>
            </a:r>
            <a:endParaRPr lang="en-US" sz="1500" dirty="0"/>
          </a:p>
        </p:txBody>
      </p:sp>
      <p:sp>
        <p:nvSpPr>
          <p:cNvPr id="25" name="Slide Number Placeholder 0"/>
          <p:cNvSpPr>
            <a:spLocks noGrp="1"/>
          </p:cNvSpPr>
          <p:nvPr>
            <p:ph type="sldNum" sz="quarter" idx="4294967295"/>
          </p:nvPr>
        </p:nvSpPr>
        <p:spPr>
          <a:xfrm>
            <a:off x="11183112" y="6446520"/>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GARANTIE 3 · QUALITÉ</a:t>
            </a:r>
            <a:endParaRPr lang="en-US" sz="1200" dirty="0"/>
          </a:p>
        </p:txBody>
      </p:sp>
      <p:sp>
        <p:nvSpPr>
          <p:cNvPr id="3" name="Text 0"/>
          <p:cNvSpPr/>
          <p:nvPr>
            <p:ph idx="101" type="title" hasCustomPrompt="1"/>
          </p:nvPr>
        </p:nvSpPr>
        <p:spPr>
          <a:xfrm>
            <a:off x="548640" y="603504"/>
            <a:ext cx="11091672" cy="685800"/>
          </a:xfrm>
          <a:prstGeom prst="rect">
            <a:avLst/>
          </a:prstGeom>
          <a:noFill/>
          <a:ln/>
        </p:spPr>
        <p:txBody>
          <a:bodyPr wrap="square" lIns="0" tIns="0" rIns="0" bIns="0" rtlCol="0" anchor="t"/>
          <a:lstStyle/>
          <a:p>
            <a:pPr algn="l" indent="0" marL="0">
              <a:buNone/>
            </a:pPr>
            <a:r>
              <a:rPr lang="en-US" sz="3600" b="1" dirty="0">
                <a:solidFill>
                  <a:schemeClr val="tx1"/>
                </a:solidFill>
              </a:rPr>
              <a:t>Une qualité vérifiée à chaque version</a:t>
            </a:r>
            <a:endParaRPr lang="en-US" sz="3600" dirty="0"/>
          </a:p>
        </p:txBody>
      </p:sp>
      <p:sp>
        <p:nvSpPr>
          <p:cNvPr id="5" name="Chiffre 11 / 11"/>
          <p:cNvSpPr/>
          <p:nvPr/>
        </p:nvSpPr>
        <p:spPr>
          <a:xfrm>
            <a:off x="548640" y="1600200"/>
            <a:ext cx="2567864" cy="2148840"/>
          </a:xfrm>
          <a:prstGeom prst="roundRect">
            <a:avLst>
              <a:gd name="adj" fmla="val 5106"/>
            </a:avLst>
          </a:prstGeom>
          <a:solidFill>
            <a:schemeClr val="bg2"/>
          </a:solidFill>
          <a:ln/>
        </p:spPr>
      </p:sp>
      <p:sp>
        <p:nvSpPr>
          <p:cNvPr id="6" name="Text 3"/>
          <p:cNvSpPr txBox="1"/>
          <p:nvPr/>
        </p:nvSpPr>
        <p:spPr>
          <a:xfrm>
            <a:off x="822960" y="1810512"/>
            <a:ext cx="2019224" cy="868680"/>
          </a:xfrm>
          <a:prstGeom prst="rect">
            <a:avLst/>
          </a:prstGeom>
          <a:noFill/>
          <a:ln/>
        </p:spPr>
        <p:txBody>
          <a:bodyPr wrap="square" lIns="0" tIns="0" rIns="0" bIns="0" rtlCol="0" anchor="ctr"/>
          <a:lstStyle/>
          <a:p>
            <a:pPr indent="0" marL="0">
              <a:buNone/>
            </a:pPr>
            <a:r>
              <a:rPr lang="en-US" sz="4800" b="1" dirty="0">
                <a:solidFill>
                  <a:schemeClr val="accent1"/>
                </a:solidFill>
              </a:rPr>
              <a:t>11 / 11</a:t>
            </a:r>
            <a:endParaRPr lang="en-US" sz="4800" dirty="0"/>
          </a:p>
        </p:txBody>
      </p:sp>
      <p:sp>
        <p:nvSpPr>
          <p:cNvPr id="7" name="Text 4"/>
          <p:cNvSpPr txBox="1"/>
          <p:nvPr/>
        </p:nvSpPr>
        <p:spPr>
          <a:xfrm>
            <a:off x="822960" y="2743200"/>
            <a:ext cx="2019224" cy="822960"/>
          </a:xfrm>
          <a:prstGeom prst="rect">
            <a:avLst/>
          </a:prstGeom>
          <a:noFill/>
          <a:ln/>
        </p:spPr>
        <p:txBody>
          <a:bodyPr wrap="square" lIns="0" tIns="0" rIns="0" bIns="0" rtlCol="0" anchor="t"/>
          <a:lstStyle/>
          <a:p>
            <a:pPr indent="0" marL="0">
              <a:buNone/>
            </a:pPr>
            <a:r>
              <a:rPr lang="en-US" sz="1500" dirty="0">
                <a:solidFill>
                  <a:schemeClr val="accent3"/>
                </a:solidFill>
              </a:rPr>
              <a:t>critères de recette du cahier des charges</a:t>
            </a:r>
            <a:endParaRPr lang="en-US" sz="1500" dirty="0"/>
          </a:p>
        </p:txBody>
      </p:sp>
      <p:sp>
        <p:nvSpPr>
          <p:cNvPr id="8" name="Chiffre 5 / 5"/>
          <p:cNvSpPr/>
          <p:nvPr/>
        </p:nvSpPr>
        <p:spPr>
          <a:xfrm>
            <a:off x="3390824" y="1600200"/>
            <a:ext cx="2567864" cy="2148840"/>
          </a:xfrm>
          <a:prstGeom prst="roundRect">
            <a:avLst>
              <a:gd name="adj" fmla="val 5106"/>
            </a:avLst>
          </a:prstGeom>
          <a:solidFill>
            <a:schemeClr val="bg2"/>
          </a:solidFill>
          <a:ln/>
        </p:spPr>
      </p:sp>
      <p:sp>
        <p:nvSpPr>
          <p:cNvPr id="9" name="Text 6"/>
          <p:cNvSpPr txBox="1"/>
          <p:nvPr/>
        </p:nvSpPr>
        <p:spPr>
          <a:xfrm>
            <a:off x="3665144" y="1810512"/>
            <a:ext cx="2019224" cy="868680"/>
          </a:xfrm>
          <a:prstGeom prst="rect">
            <a:avLst/>
          </a:prstGeom>
          <a:noFill/>
          <a:ln/>
        </p:spPr>
        <p:txBody>
          <a:bodyPr wrap="square" lIns="0" tIns="0" rIns="0" bIns="0" rtlCol="0" anchor="ctr"/>
          <a:lstStyle/>
          <a:p>
            <a:pPr indent="0" marL="0">
              <a:buNone/>
            </a:pPr>
            <a:r>
              <a:rPr lang="en-US" sz="4800" b="1" dirty="0">
                <a:solidFill>
                  <a:schemeClr val="accent1"/>
                </a:solidFill>
              </a:rPr>
              <a:t>5 / 5</a:t>
            </a:r>
            <a:endParaRPr lang="en-US" sz="4800" dirty="0"/>
          </a:p>
        </p:txBody>
      </p:sp>
      <p:sp>
        <p:nvSpPr>
          <p:cNvPr id="10" name="Text 7"/>
          <p:cNvSpPr txBox="1"/>
          <p:nvPr/>
        </p:nvSpPr>
        <p:spPr>
          <a:xfrm>
            <a:off x="3665144" y="2743200"/>
            <a:ext cx="2019224" cy="822960"/>
          </a:xfrm>
          <a:prstGeom prst="rect">
            <a:avLst/>
          </a:prstGeom>
          <a:noFill/>
          <a:ln/>
        </p:spPr>
        <p:txBody>
          <a:bodyPr wrap="square" lIns="0" tIns="0" rIns="0" bIns="0" rtlCol="0" anchor="t"/>
          <a:lstStyle/>
          <a:p>
            <a:pPr indent="0" marL="0">
              <a:buNone/>
            </a:pPr>
            <a:r>
              <a:rPr lang="en-US" sz="1500" dirty="0">
                <a:solidFill>
                  <a:schemeClr val="accent3"/>
                </a:solidFill>
              </a:rPr>
              <a:t>critères des fonctions de la phase 2</a:t>
            </a:r>
            <a:endParaRPr lang="en-US" sz="1500" dirty="0"/>
          </a:p>
        </p:txBody>
      </p:sp>
      <p:sp>
        <p:nvSpPr>
          <p:cNvPr id="11" name="Chiffre 781"/>
          <p:cNvSpPr/>
          <p:nvPr/>
        </p:nvSpPr>
        <p:spPr>
          <a:xfrm>
            <a:off x="6233008" y="1600200"/>
            <a:ext cx="2567864" cy="2148840"/>
          </a:xfrm>
          <a:prstGeom prst="roundRect">
            <a:avLst>
              <a:gd name="adj" fmla="val 5106"/>
            </a:avLst>
          </a:prstGeom>
          <a:solidFill>
            <a:schemeClr val="bg2"/>
          </a:solidFill>
          <a:ln/>
        </p:spPr>
      </p:sp>
      <p:sp>
        <p:nvSpPr>
          <p:cNvPr id="12" name="Text 9"/>
          <p:cNvSpPr txBox="1"/>
          <p:nvPr/>
        </p:nvSpPr>
        <p:spPr>
          <a:xfrm>
            <a:off x="6507328" y="1810512"/>
            <a:ext cx="2019224" cy="868680"/>
          </a:xfrm>
          <a:prstGeom prst="rect">
            <a:avLst/>
          </a:prstGeom>
          <a:noFill/>
          <a:ln/>
        </p:spPr>
        <p:txBody>
          <a:bodyPr wrap="square" lIns="0" tIns="0" rIns="0" bIns="0" rtlCol="0" anchor="ctr"/>
          <a:lstStyle/>
          <a:p>
            <a:pPr indent="0" marL="0">
              <a:buNone/>
            </a:pPr>
            <a:r>
              <a:rPr lang="en-US" sz="4800" b="1" dirty="0">
                <a:solidFill>
                  <a:schemeClr val="accent1"/>
                </a:solidFill>
              </a:rPr>
              <a:t>781</a:t>
            </a:r>
            <a:endParaRPr lang="en-US" sz="4800" dirty="0"/>
          </a:p>
        </p:txBody>
      </p:sp>
      <p:sp>
        <p:nvSpPr>
          <p:cNvPr id="13" name="Text 10"/>
          <p:cNvSpPr txBox="1"/>
          <p:nvPr/>
        </p:nvSpPr>
        <p:spPr>
          <a:xfrm>
            <a:off x="6507328" y="2743200"/>
            <a:ext cx="2019224" cy="822960"/>
          </a:xfrm>
          <a:prstGeom prst="rect">
            <a:avLst/>
          </a:prstGeom>
          <a:noFill/>
          <a:ln/>
        </p:spPr>
        <p:txBody>
          <a:bodyPr wrap="square" lIns="0" tIns="0" rIns="0" bIns="0" rtlCol="0" anchor="t"/>
          <a:lstStyle/>
          <a:p>
            <a:pPr indent="0" marL="0">
              <a:buNone/>
            </a:pPr>
            <a:r>
              <a:rPr lang="en-US" sz="1500" dirty="0">
                <a:solidFill>
                  <a:schemeClr val="accent3"/>
                </a:solidFill>
              </a:rPr>
              <a:t>tests automatiques réussis</a:t>
            </a:r>
            <a:endParaRPr lang="en-US" sz="1500" dirty="0"/>
          </a:p>
        </p:txBody>
      </p:sp>
      <p:sp>
        <p:nvSpPr>
          <p:cNvPr id="14" name="Chiffre &lt; 0,2 s"/>
          <p:cNvSpPr/>
          <p:nvPr/>
        </p:nvSpPr>
        <p:spPr>
          <a:xfrm>
            <a:off x="9075191" y="1600200"/>
            <a:ext cx="2567864" cy="2148840"/>
          </a:xfrm>
          <a:prstGeom prst="roundRect">
            <a:avLst>
              <a:gd name="adj" fmla="val 5106"/>
            </a:avLst>
          </a:prstGeom>
          <a:solidFill>
            <a:schemeClr val="bg2"/>
          </a:solidFill>
          <a:ln/>
        </p:spPr>
      </p:sp>
      <p:sp>
        <p:nvSpPr>
          <p:cNvPr id="15" name="Text 12"/>
          <p:cNvSpPr txBox="1"/>
          <p:nvPr/>
        </p:nvSpPr>
        <p:spPr>
          <a:xfrm>
            <a:off x="9349511" y="1810512"/>
            <a:ext cx="2019224" cy="868680"/>
          </a:xfrm>
          <a:prstGeom prst="rect">
            <a:avLst/>
          </a:prstGeom>
          <a:noFill/>
          <a:ln/>
        </p:spPr>
        <p:txBody>
          <a:bodyPr wrap="square" lIns="0" tIns="0" rIns="0" bIns="0" rtlCol="0" anchor="ctr"/>
          <a:lstStyle/>
          <a:p>
            <a:pPr indent="0" marL="0">
              <a:buNone/>
            </a:pPr>
            <a:r>
              <a:rPr lang="en-US" sz="4800" b="1" dirty="0">
                <a:solidFill>
                  <a:schemeClr val="accent1"/>
                </a:solidFill>
              </a:rPr>
              <a:t>&lt; 0,2 s</a:t>
            </a:r>
            <a:endParaRPr lang="en-US" sz="4800" dirty="0"/>
          </a:p>
        </p:txBody>
      </p:sp>
      <p:sp>
        <p:nvSpPr>
          <p:cNvPr id="16" name="Text 13"/>
          <p:cNvSpPr txBox="1"/>
          <p:nvPr/>
        </p:nvSpPr>
        <p:spPr>
          <a:xfrm>
            <a:off x="9349511" y="2743200"/>
            <a:ext cx="2019224" cy="822960"/>
          </a:xfrm>
          <a:prstGeom prst="rect">
            <a:avLst/>
          </a:prstGeom>
          <a:noFill/>
          <a:ln/>
        </p:spPr>
        <p:txBody>
          <a:bodyPr wrap="square" lIns="0" tIns="0" rIns="0" bIns="0" rtlCol="0" anchor="t"/>
          <a:lstStyle/>
          <a:p>
            <a:pPr indent="0" marL="0">
              <a:buNone/>
            </a:pPr>
            <a:r>
              <a:rPr lang="en-US" sz="1500" dirty="0">
                <a:solidFill>
                  <a:schemeClr val="accent3"/>
                </a:solidFill>
              </a:rPr>
              <a:t>pour 95 % des appels, export CSV complet compris</a:t>
            </a:r>
            <a:endParaRPr lang="en-US" sz="1500" dirty="0"/>
          </a:p>
        </p:txBody>
      </p:sp>
      <p:sp>
        <p:nvSpPr>
          <p:cNvPr id="17" name="Text 14"/>
          <p:cNvSpPr txBox="1"/>
          <p:nvPr/>
        </p:nvSpPr>
        <p:spPr>
          <a:xfrm>
            <a:off x="548640" y="4069080"/>
            <a:ext cx="7315200" cy="320040"/>
          </a:xfrm>
          <a:prstGeom prst="rect">
            <a:avLst/>
          </a:prstGeom>
          <a:noFill/>
          <a:ln/>
        </p:spPr>
        <p:txBody>
          <a:bodyPr wrap="square" lIns="0" tIns="0" rIns="0" bIns="0" rtlCol="0" anchor="ctr"/>
          <a:lstStyle/>
          <a:p>
            <a:pPr indent="0" marL="0">
              <a:buNone/>
            </a:pPr>
            <a:r>
              <a:rPr lang="en-US" sz="1600" b="1" dirty="0">
                <a:solidFill>
                  <a:schemeClr val="tx1"/>
                </a:solidFill>
              </a:rPr>
              <a:t>Ce que la recette rejoue avant chaque mise à jour</a:t>
            </a:r>
            <a:endParaRPr lang="en-US" sz="1600" dirty="0"/>
          </a:p>
        </p:txBody>
      </p:sp>
      <p:sp>
        <p:nvSpPr>
          <p:cNvPr id="18" name="Suite Contrat d'API"/>
          <p:cNvSpPr/>
          <p:nvPr/>
        </p:nvSpPr>
        <p:spPr>
          <a:xfrm>
            <a:off x="548640" y="4553712"/>
            <a:ext cx="3545738" cy="603504"/>
          </a:xfrm>
          <a:prstGeom prst="roundRect">
            <a:avLst>
              <a:gd name="adj" fmla="val 18182"/>
            </a:avLst>
          </a:prstGeom>
          <a:solidFill>
            <a:schemeClr val="bg1"/>
          </a:solidFill>
          <a:ln w="12700">
            <a:solidFill>
              <a:schemeClr val="accent5"/>
            </a:solidFill>
            <a:prstDash val="solid"/>
          </a:ln>
        </p:spPr>
      </p:sp>
      <p:pic>
        <p:nvPicPr>
          <p:cNvPr id="19" name="Image 0" descr="preencoded.png">    </p:cNvPr>
          <p:cNvPicPr>
            <a:picLocks noChangeAspect="1"/>
          </p:cNvPicPr>
          <p:nvPr/>
        </p:nvPicPr>
        <p:blipFill>
          <a:blip r:embed="rId1"/>
          <a:stretch>
            <a:fillRect/>
          </a:stretch>
        </p:blipFill>
        <p:spPr>
          <a:xfrm>
            <a:off x="731520" y="4709160"/>
            <a:ext cx="292608" cy="292608"/>
          </a:xfrm>
          <a:prstGeom prst="rect">
            <a:avLst/>
          </a:prstGeom>
        </p:spPr>
      </p:pic>
      <p:sp>
        <p:nvSpPr>
          <p:cNvPr id="20" name="Text 16"/>
          <p:cNvSpPr txBox="1"/>
          <p:nvPr/>
        </p:nvSpPr>
        <p:spPr>
          <a:xfrm>
            <a:off x="1143000" y="4553712"/>
            <a:ext cx="2814218" cy="603504"/>
          </a:xfrm>
          <a:prstGeom prst="rect">
            <a:avLst/>
          </a:prstGeom>
          <a:noFill/>
          <a:ln/>
        </p:spPr>
        <p:txBody>
          <a:bodyPr wrap="square" lIns="0" tIns="0" rIns="0" bIns="0" rtlCol="0" anchor="ctr"/>
          <a:lstStyle/>
          <a:p>
            <a:pPr indent="0" marL="0">
              <a:buNone/>
            </a:pPr>
            <a:r>
              <a:rPr lang="en-US" sz="1500" dirty="0">
                <a:solidFill>
                  <a:schemeClr val="tx1"/>
                </a:solidFill>
              </a:rPr>
              <a:t>Contrat d'API</a:t>
            </a:r>
            <a:endParaRPr lang="en-US" sz="1500" dirty="0"/>
          </a:p>
        </p:txBody>
      </p:sp>
      <p:sp>
        <p:nvSpPr>
          <p:cNvPr id="21" name="Suite Tests unitaires"/>
          <p:cNvSpPr/>
          <p:nvPr/>
        </p:nvSpPr>
        <p:spPr>
          <a:xfrm>
            <a:off x="4322978" y="4553712"/>
            <a:ext cx="3545738" cy="603504"/>
          </a:xfrm>
          <a:prstGeom prst="roundRect">
            <a:avLst>
              <a:gd name="adj" fmla="val 18182"/>
            </a:avLst>
          </a:prstGeom>
          <a:solidFill>
            <a:schemeClr val="bg1"/>
          </a:solidFill>
          <a:ln w="12700">
            <a:solidFill>
              <a:schemeClr val="accent5"/>
            </a:solidFill>
            <a:prstDash val="solid"/>
          </a:ln>
        </p:spPr>
      </p:sp>
      <p:pic>
        <p:nvPicPr>
          <p:cNvPr id="22" name="Image 1" descr="preencoded.png">    </p:cNvPr>
          <p:cNvPicPr>
            <a:picLocks noChangeAspect="1"/>
          </p:cNvPicPr>
          <p:nvPr/>
        </p:nvPicPr>
        <p:blipFill>
          <a:blip r:embed="rId2"/>
          <a:stretch>
            <a:fillRect/>
          </a:stretch>
        </p:blipFill>
        <p:spPr>
          <a:xfrm>
            <a:off x="4505858" y="4709160"/>
            <a:ext cx="292608" cy="292608"/>
          </a:xfrm>
          <a:prstGeom prst="rect">
            <a:avLst/>
          </a:prstGeom>
        </p:spPr>
      </p:pic>
      <p:sp>
        <p:nvSpPr>
          <p:cNvPr id="23" name="Text 18"/>
          <p:cNvSpPr txBox="1"/>
          <p:nvPr/>
        </p:nvSpPr>
        <p:spPr>
          <a:xfrm>
            <a:off x="4917338" y="4553712"/>
            <a:ext cx="2814218" cy="603504"/>
          </a:xfrm>
          <a:prstGeom prst="rect">
            <a:avLst/>
          </a:prstGeom>
          <a:noFill/>
          <a:ln/>
        </p:spPr>
        <p:txBody>
          <a:bodyPr wrap="square" lIns="0" tIns="0" rIns="0" bIns="0" rtlCol="0" anchor="ctr"/>
          <a:lstStyle/>
          <a:p>
            <a:pPr indent="0" marL="0">
              <a:buNone/>
            </a:pPr>
            <a:r>
              <a:rPr lang="en-US" sz="1500" dirty="0">
                <a:solidFill>
                  <a:schemeClr val="tx1"/>
                </a:solidFill>
              </a:rPr>
              <a:t>Tests unitaires</a:t>
            </a:r>
            <a:endParaRPr lang="en-US" sz="1500" dirty="0"/>
          </a:p>
        </p:txBody>
      </p:sp>
      <p:sp>
        <p:nvSpPr>
          <p:cNvPr id="24" name="Suite Sécurité de la base"/>
          <p:cNvSpPr/>
          <p:nvPr/>
        </p:nvSpPr>
        <p:spPr>
          <a:xfrm>
            <a:off x="8097317" y="4553712"/>
            <a:ext cx="3545738" cy="603504"/>
          </a:xfrm>
          <a:prstGeom prst="roundRect">
            <a:avLst>
              <a:gd name="adj" fmla="val 18182"/>
            </a:avLst>
          </a:prstGeom>
          <a:solidFill>
            <a:schemeClr val="bg1"/>
          </a:solidFill>
          <a:ln w="12700">
            <a:solidFill>
              <a:schemeClr val="accent5"/>
            </a:solidFill>
            <a:prstDash val="solid"/>
          </a:ln>
        </p:spPr>
      </p:sp>
      <p:pic>
        <p:nvPicPr>
          <p:cNvPr id="25" name="Image 2" descr="preencoded.png">    </p:cNvPr>
          <p:cNvPicPr>
            <a:picLocks noChangeAspect="1"/>
          </p:cNvPicPr>
          <p:nvPr/>
        </p:nvPicPr>
        <p:blipFill>
          <a:blip r:embed="rId3"/>
          <a:stretch>
            <a:fillRect/>
          </a:stretch>
        </p:blipFill>
        <p:spPr>
          <a:xfrm>
            <a:off x="8280197" y="4709160"/>
            <a:ext cx="292608" cy="292608"/>
          </a:xfrm>
          <a:prstGeom prst="rect">
            <a:avLst/>
          </a:prstGeom>
        </p:spPr>
      </p:pic>
      <p:sp>
        <p:nvSpPr>
          <p:cNvPr id="26" name="Text 20"/>
          <p:cNvSpPr txBox="1"/>
          <p:nvPr/>
        </p:nvSpPr>
        <p:spPr>
          <a:xfrm>
            <a:off x="8691677" y="4553712"/>
            <a:ext cx="2814218" cy="603504"/>
          </a:xfrm>
          <a:prstGeom prst="rect">
            <a:avLst/>
          </a:prstGeom>
          <a:noFill/>
          <a:ln/>
        </p:spPr>
        <p:txBody>
          <a:bodyPr wrap="square" lIns="0" tIns="0" rIns="0" bIns="0" rtlCol="0" anchor="ctr"/>
          <a:lstStyle/>
          <a:p>
            <a:pPr indent="0" marL="0">
              <a:buNone/>
            </a:pPr>
            <a:r>
              <a:rPr lang="en-US" sz="1500" dirty="0">
                <a:solidFill>
                  <a:schemeClr val="tx1"/>
                </a:solidFill>
              </a:rPr>
              <a:t>Sécurité de la base</a:t>
            </a:r>
            <a:endParaRPr lang="en-US" sz="1500" dirty="0"/>
          </a:p>
        </p:txBody>
      </p:sp>
      <p:sp>
        <p:nvSpPr>
          <p:cNvPr id="27" name="Suite API de bout en bout"/>
          <p:cNvSpPr/>
          <p:nvPr/>
        </p:nvSpPr>
        <p:spPr>
          <a:xfrm>
            <a:off x="548640" y="5340096"/>
            <a:ext cx="3545738" cy="603504"/>
          </a:xfrm>
          <a:prstGeom prst="roundRect">
            <a:avLst>
              <a:gd name="adj" fmla="val 18182"/>
            </a:avLst>
          </a:prstGeom>
          <a:solidFill>
            <a:schemeClr val="bg1"/>
          </a:solidFill>
          <a:ln w="12700">
            <a:solidFill>
              <a:schemeClr val="accent5"/>
            </a:solidFill>
            <a:prstDash val="solid"/>
          </a:ln>
        </p:spPr>
      </p:sp>
      <p:pic>
        <p:nvPicPr>
          <p:cNvPr id="28" name="Image 3" descr="preencoded.png">    </p:cNvPr>
          <p:cNvPicPr>
            <a:picLocks noChangeAspect="1"/>
          </p:cNvPicPr>
          <p:nvPr/>
        </p:nvPicPr>
        <p:blipFill>
          <a:blip r:embed="rId4"/>
          <a:stretch>
            <a:fillRect/>
          </a:stretch>
        </p:blipFill>
        <p:spPr>
          <a:xfrm>
            <a:off x="731520" y="5495544"/>
            <a:ext cx="292608" cy="292608"/>
          </a:xfrm>
          <a:prstGeom prst="rect">
            <a:avLst/>
          </a:prstGeom>
        </p:spPr>
      </p:pic>
      <p:sp>
        <p:nvSpPr>
          <p:cNvPr id="29" name="Text 22"/>
          <p:cNvSpPr txBox="1"/>
          <p:nvPr/>
        </p:nvSpPr>
        <p:spPr>
          <a:xfrm>
            <a:off x="1143000" y="5340096"/>
            <a:ext cx="2814218" cy="603504"/>
          </a:xfrm>
          <a:prstGeom prst="rect">
            <a:avLst/>
          </a:prstGeom>
          <a:noFill/>
          <a:ln/>
        </p:spPr>
        <p:txBody>
          <a:bodyPr wrap="square" lIns="0" tIns="0" rIns="0" bIns="0" rtlCol="0" anchor="ctr"/>
          <a:lstStyle/>
          <a:p>
            <a:pPr indent="0" marL="0">
              <a:buNone/>
            </a:pPr>
            <a:r>
              <a:rPr lang="en-US" sz="1500" dirty="0">
                <a:solidFill>
                  <a:schemeClr val="tx1"/>
                </a:solidFill>
              </a:rPr>
              <a:t>API de bout en bout</a:t>
            </a:r>
            <a:endParaRPr lang="en-US" sz="1500" dirty="0"/>
          </a:p>
        </p:txBody>
      </p:sp>
      <p:sp>
        <p:nvSpPr>
          <p:cNvPr id="30" name="Suite Écrans dans un navigateur"/>
          <p:cNvSpPr/>
          <p:nvPr/>
        </p:nvSpPr>
        <p:spPr>
          <a:xfrm>
            <a:off x="4322978" y="5340096"/>
            <a:ext cx="3545738" cy="603504"/>
          </a:xfrm>
          <a:prstGeom prst="roundRect">
            <a:avLst>
              <a:gd name="adj" fmla="val 18182"/>
            </a:avLst>
          </a:prstGeom>
          <a:solidFill>
            <a:schemeClr val="bg1"/>
          </a:solidFill>
          <a:ln w="12700">
            <a:solidFill>
              <a:schemeClr val="accent5"/>
            </a:solidFill>
            <a:prstDash val="solid"/>
          </a:ln>
        </p:spPr>
      </p:sp>
      <p:pic>
        <p:nvPicPr>
          <p:cNvPr id="31" name="Image 4" descr="preencoded.png">    </p:cNvPr>
          <p:cNvPicPr>
            <a:picLocks noChangeAspect="1"/>
          </p:cNvPicPr>
          <p:nvPr/>
        </p:nvPicPr>
        <p:blipFill>
          <a:blip r:embed="rId5"/>
          <a:stretch>
            <a:fillRect/>
          </a:stretch>
        </p:blipFill>
        <p:spPr>
          <a:xfrm>
            <a:off x="4505858" y="5495544"/>
            <a:ext cx="292608" cy="292608"/>
          </a:xfrm>
          <a:prstGeom prst="rect">
            <a:avLst/>
          </a:prstGeom>
        </p:spPr>
      </p:pic>
      <p:sp>
        <p:nvSpPr>
          <p:cNvPr id="32" name="Text 24"/>
          <p:cNvSpPr txBox="1"/>
          <p:nvPr/>
        </p:nvSpPr>
        <p:spPr>
          <a:xfrm>
            <a:off x="4917338" y="5340096"/>
            <a:ext cx="2814218" cy="603504"/>
          </a:xfrm>
          <a:prstGeom prst="rect">
            <a:avLst/>
          </a:prstGeom>
          <a:noFill/>
          <a:ln/>
        </p:spPr>
        <p:txBody>
          <a:bodyPr wrap="square" lIns="0" tIns="0" rIns="0" bIns="0" rtlCol="0" anchor="ctr"/>
          <a:lstStyle/>
          <a:p>
            <a:pPr indent="0" marL="0">
              <a:buNone/>
            </a:pPr>
            <a:r>
              <a:rPr lang="en-US" sz="1500" dirty="0">
                <a:solidFill>
                  <a:schemeClr val="tx1"/>
                </a:solidFill>
              </a:rPr>
              <a:t>Écrans dans un navigateur</a:t>
            </a:r>
            <a:endParaRPr lang="en-US" sz="1500" dirty="0"/>
          </a:p>
        </p:txBody>
      </p:sp>
      <p:sp>
        <p:nvSpPr>
          <p:cNvPr id="33" name="Suite Sauvegarde et restauration"/>
          <p:cNvSpPr/>
          <p:nvPr/>
        </p:nvSpPr>
        <p:spPr>
          <a:xfrm>
            <a:off x="8097317" y="5340096"/>
            <a:ext cx="3545738" cy="603504"/>
          </a:xfrm>
          <a:prstGeom prst="roundRect">
            <a:avLst>
              <a:gd name="adj" fmla="val 18182"/>
            </a:avLst>
          </a:prstGeom>
          <a:solidFill>
            <a:schemeClr val="bg1"/>
          </a:solidFill>
          <a:ln w="12700">
            <a:solidFill>
              <a:schemeClr val="accent5"/>
            </a:solidFill>
            <a:prstDash val="solid"/>
          </a:ln>
        </p:spPr>
      </p:sp>
      <p:pic>
        <p:nvPicPr>
          <p:cNvPr id="34" name="Image 5" descr="preencoded.png">    </p:cNvPr>
          <p:cNvPicPr>
            <a:picLocks noChangeAspect="1"/>
          </p:cNvPicPr>
          <p:nvPr/>
        </p:nvPicPr>
        <p:blipFill>
          <a:blip r:embed="rId6"/>
          <a:stretch>
            <a:fillRect/>
          </a:stretch>
        </p:blipFill>
        <p:spPr>
          <a:xfrm>
            <a:off x="8280197" y="5495544"/>
            <a:ext cx="292608" cy="292608"/>
          </a:xfrm>
          <a:prstGeom prst="rect">
            <a:avLst/>
          </a:prstGeom>
        </p:spPr>
      </p:pic>
      <p:sp>
        <p:nvSpPr>
          <p:cNvPr id="35" name="Text 26"/>
          <p:cNvSpPr txBox="1"/>
          <p:nvPr/>
        </p:nvSpPr>
        <p:spPr>
          <a:xfrm>
            <a:off x="8691677" y="5340096"/>
            <a:ext cx="2814218" cy="603504"/>
          </a:xfrm>
          <a:prstGeom prst="rect">
            <a:avLst/>
          </a:prstGeom>
          <a:noFill/>
          <a:ln/>
        </p:spPr>
        <p:txBody>
          <a:bodyPr wrap="square" lIns="0" tIns="0" rIns="0" bIns="0" rtlCol="0" anchor="ctr"/>
          <a:lstStyle/>
          <a:p>
            <a:pPr indent="0" marL="0">
              <a:buNone/>
            </a:pPr>
            <a:r>
              <a:rPr lang="en-US" sz="1500" dirty="0">
                <a:solidFill>
                  <a:schemeClr val="tx1"/>
                </a:solidFill>
              </a:rPr>
              <a:t>Sauvegarde et restauration</a:t>
            </a:r>
            <a:endParaRPr lang="en-US" sz="1500" dirty="0"/>
          </a:p>
        </p:txBody>
      </p:sp>
      <p:sp>
        <p:nvSpPr>
          <p:cNvPr id="25" name="Slide Number Placeholder 0"/>
          <p:cNvSpPr>
            <a:spLocks noGrp="1"/>
          </p:cNvSpPr>
          <p:nvPr>
            <p:ph type="sldNum" sz="quarter" idx="4294967295"/>
          </p:nvPr>
        </p:nvSpPr>
        <p:spPr>
          <a:xfrm>
            <a:off x="11183112" y="6446520"/>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ET MAINTENANT</a:t>
            </a:r>
            <a:endParaRPr lang="en-US" sz="1200" dirty="0"/>
          </a:p>
        </p:txBody>
      </p:sp>
      <p:sp>
        <p:nvSpPr>
          <p:cNvPr id="3" name="Text 0"/>
          <p:cNvSpPr/>
          <p:nvPr>
            <p:ph idx="101" type="title" hasCustomPrompt="1"/>
          </p:nvPr>
        </p:nvSpPr>
        <p:spPr>
          <a:xfrm>
            <a:off x="548640" y="603504"/>
            <a:ext cx="11091672" cy="685800"/>
          </a:xfrm>
          <a:prstGeom prst="rect">
            <a:avLst/>
          </a:prstGeom>
          <a:noFill/>
          <a:ln/>
        </p:spPr>
        <p:txBody>
          <a:bodyPr wrap="square" lIns="0" tIns="0" rIns="0" bIns="0" rtlCol="0" anchor="t"/>
          <a:lstStyle/>
          <a:p>
            <a:pPr algn="l" indent="0" marL="0">
              <a:buNone/>
            </a:pPr>
            <a:r>
              <a:rPr lang="en-US" sz="3600" b="1" dirty="0">
                <a:solidFill>
                  <a:schemeClr val="tx1"/>
                </a:solidFill>
              </a:rPr>
              <a:t>Prochaines étapes</a:t>
            </a:r>
            <a:endParaRPr lang="en-US" sz="3600" dirty="0"/>
          </a:p>
        </p:txBody>
      </p:sp>
      <p:sp>
        <p:nvSpPr>
          <p:cNvPr id="5" name="Étape Démonstration"/>
          <p:cNvSpPr/>
          <p:nvPr/>
        </p:nvSpPr>
        <p:spPr>
          <a:xfrm>
            <a:off x="548640" y="1691640"/>
            <a:ext cx="2567864" cy="3246120"/>
          </a:xfrm>
          <a:prstGeom prst="roundRect">
            <a:avLst>
              <a:gd name="adj" fmla="val 4273"/>
            </a:avLst>
          </a:prstGeom>
          <a:solidFill>
            <a:schemeClr val="bg2"/>
          </a:solidFill>
          <a:ln/>
        </p:spPr>
      </p:sp>
      <p:sp>
        <p:nvSpPr>
          <p:cNvPr id="6" name="Rond LuPresentation"/>
          <p:cNvSpPr/>
          <p:nvPr/>
        </p:nvSpPr>
        <p:spPr>
          <a:xfrm>
            <a:off x="822960" y="1965960"/>
            <a:ext cx="658368" cy="658368"/>
          </a:xfrm>
          <a:prstGeom prst="ellipse">
            <a:avLst/>
          </a:prstGeom>
          <a:solidFill>
            <a:schemeClr val="accent1"/>
          </a:solidFill>
          <a:ln/>
        </p:spPr>
      </p:sp>
      <p:pic>
        <p:nvPicPr>
          <p:cNvPr id="7" name="Image 0" descr="preencoded.png">    </p:cNvPr>
          <p:cNvPicPr>
            <a:picLocks noChangeAspect="1"/>
          </p:cNvPicPr>
          <p:nvPr/>
        </p:nvPicPr>
        <p:blipFill>
          <a:blip r:embed="rId1"/>
          <a:stretch>
            <a:fillRect/>
          </a:stretch>
        </p:blipFill>
        <p:spPr>
          <a:xfrm>
            <a:off x="974385" y="2117385"/>
            <a:ext cx="355519" cy="355519"/>
          </a:xfrm>
          <a:prstGeom prst="rect">
            <a:avLst/>
          </a:prstGeom>
        </p:spPr>
      </p:pic>
      <p:sp>
        <p:nvSpPr>
          <p:cNvPr id="8" name="Pastille 1"/>
          <p:cNvSpPr/>
          <p:nvPr/>
        </p:nvSpPr>
        <p:spPr>
          <a:xfrm>
            <a:off x="2531288" y="1901952"/>
            <a:ext cx="402336" cy="402336"/>
          </a:xfrm>
          <a:prstGeom prst="ellipse">
            <a:avLst/>
          </a:prstGeom>
          <a:solidFill>
            <a:schemeClr val="accent2"/>
          </a:solidFill>
          <a:ln w="19050">
            <a:solidFill>
              <a:schemeClr val="bg1"/>
            </a:solidFill>
            <a:prstDash val="solid"/>
          </a:ln>
          <a:effectLst>
            <a:outerShdw sx="100000" sy="100000" kx="0" ky="0" algn="bl" rotWithShape="0" blurRad="38100" dist="12700" dir="5400000">
              <a:srgbClr val="0E1C24">
                <a:alpha val="30000"/>
              </a:srgbClr>
            </a:outerShdw>
          </a:effectLst>
        </p:spPr>
      </p:sp>
      <p:sp>
        <p:nvSpPr>
          <p:cNvPr id="9" name="Text 5"/>
          <p:cNvSpPr txBox="1"/>
          <p:nvPr/>
        </p:nvSpPr>
        <p:spPr>
          <a:xfrm>
            <a:off x="2531288" y="1901952"/>
            <a:ext cx="402336" cy="402336"/>
          </a:xfrm>
          <a:prstGeom prst="rect">
            <a:avLst/>
          </a:prstGeom>
          <a:noFill/>
          <a:ln/>
        </p:spPr>
        <p:txBody>
          <a:bodyPr wrap="square" lIns="0" tIns="0" rIns="0" bIns="0" rtlCol="0" anchor="ctr"/>
          <a:lstStyle/>
          <a:p>
            <a:pPr algn="ctr" indent="0" marL="0">
              <a:buNone/>
            </a:pPr>
            <a:r>
              <a:rPr lang="en-US" sz="1600" b="1" dirty="0">
                <a:solidFill>
                  <a:schemeClr val="tx2"/>
                </a:solidFill>
              </a:rPr>
              <a:t>1</a:t>
            </a:r>
            <a:endParaRPr lang="en-US" sz="1600" dirty="0"/>
          </a:p>
        </p:txBody>
      </p:sp>
      <p:sp>
        <p:nvSpPr>
          <p:cNvPr id="10" name="Text 6"/>
          <p:cNvSpPr txBox="1"/>
          <p:nvPr/>
        </p:nvSpPr>
        <p:spPr>
          <a:xfrm>
            <a:off x="822960" y="2834640"/>
            <a:ext cx="2019224" cy="384048"/>
          </a:xfrm>
          <a:prstGeom prst="rect">
            <a:avLst/>
          </a:prstGeom>
          <a:noFill/>
          <a:ln/>
        </p:spPr>
        <p:txBody>
          <a:bodyPr wrap="square" lIns="0" tIns="0" rIns="0" bIns="0" rtlCol="0" anchor="t"/>
          <a:lstStyle/>
          <a:p>
            <a:pPr indent="0" marL="0">
              <a:buNone/>
            </a:pPr>
            <a:r>
              <a:rPr lang="en-US" sz="2000" b="1" dirty="0">
                <a:solidFill>
                  <a:schemeClr val="tx1"/>
                </a:solidFill>
              </a:rPr>
              <a:t>Démonstration</a:t>
            </a:r>
            <a:endParaRPr lang="en-US" sz="2000" dirty="0"/>
          </a:p>
        </p:txBody>
      </p:sp>
      <p:sp>
        <p:nvSpPr>
          <p:cNvPr id="11" name="Text 7"/>
          <p:cNvSpPr txBox="1"/>
          <p:nvPr/>
        </p:nvSpPr>
        <p:spPr>
          <a:xfrm>
            <a:off x="822960" y="3291840"/>
            <a:ext cx="2019224" cy="1508760"/>
          </a:xfrm>
          <a:prstGeom prst="rect">
            <a:avLst/>
          </a:prstGeom>
          <a:noFill/>
          <a:ln/>
        </p:spPr>
        <p:txBody>
          <a:bodyPr wrap="square" lIns="0" tIns="0" rIns="0" bIns="0" rtlCol="0" anchor="t"/>
          <a:lstStyle/>
          <a:p>
            <a:pPr indent="0" marL="0">
              <a:buNone/>
            </a:pPr>
            <a:r>
              <a:rPr lang="en-US" sz="1500" dirty="0">
                <a:solidFill>
                  <a:schemeClr val="accent3"/>
                </a:solidFill>
              </a:rPr>
              <a:t>Sur l'environnement de démonstration, avec vos catégories et vos cas réels.</a:t>
            </a:r>
            <a:endParaRPr lang="en-US" sz="1500" dirty="0"/>
          </a:p>
        </p:txBody>
      </p:sp>
      <p:pic>
        <p:nvPicPr>
          <p:cNvPr id="12" name="Image 1" descr="preencoded.png">    </p:cNvPr>
          <p:cNvPicPr>
            <a:picLocks noChangeAspect="1"/>
          </p:cNvPicPr>
          <p:nvPr/>
        </p:nvPicPr>
        <p:blipFill>
          <a:blip r:embed="rId2"/>
          <a:stretch>
            <a:fillRect/>
          </a:stretch>
        </p:blipFill>
        <p:spPr>
          <a:xfrm>
            <a:off x="3143936" y="3182112"/>
            <a:ext cx="219456" cy="219456"/>
          </a:xfrm>
          <a:prstGeom prst="rect">
            <a:avLst/>
          </a:prstGeom>
        </p:spPr>
      </p:pic>
      <p:sp>
        <p:nvSpPr>
          <p:cNvPr id="13" name="Étape Paramétrage"/>
          <p:cNvSpPr/>
          <p:nvPr/>
        </p:nvSpPr>
        <p:spPr>
          <a:xfrm>
            <a:off x="3390824" y="1691640"/>
            <a:ext cx="2567864" cy="3246120"/>
          </a:xfrm>
          <a:prstGeom prst="roundRect">
            <a:avLst>
              <a:gd name="adj" fmla="val 4273"/>
            </a:avLst>
          </a:prstGeom>
          <a:solidFill>
            <a:schemeClr val="bg2"/>
          </a:solidFill>
          <a:ln/>
        </p:spPr>
      </p:sp>
      <p:sp>
        <p:nvSpPr>
          <p:cNvPr id="14" name="Rond LuSettings"/>
          <p:cNvSpPr/>
          <p:nvPr/>
        </p:nvSpPr>
        <p:spPr>
          <a:xfrm>
            <a:off x="3665144" y="1965960"/>
            <a:ext cx="658368" cy="658368"/>
          </a:xfrm>
          <a:prstGeom prst="ellipse">
            <a:avLst/>
          </a:prstGeom>
          <a:solidFill>
            <a:schemeClr val="accent1"/>
          </a:solidFill>
          <a:ln/>
        </p:spPr>
      </p:sp>
      <p:pic>
        <p:nvPicPr>
          <p:cNvPr id="15" name="Image 2" descr="preencoded.png">    </p:cNvPr>
          <p:cNvPicPr>
            <a:picLocks noChangeAspect="1"/>
          </p:cNvPicPr>
          <p:nvPr/>
        </p:nvPicPr>
        <p:blipFill>
          <a:blip r:embed="rId3"/>
          <a:stretch>
            <a:fillRect/>
          </a:stretch>
        </p:blipFill>
        <p:spPr>
          <a:xfrm>
            <a:off x="3816568" y="2117385"/>
            <a:ext cx="355519" cy="355519"/>
          </a:xfrm>
          <a:prstGeom prst="rect">
            <a:avLst/>
          </a:prstGeom>
        </p:spPr>
      </p:pic>
      <p:sp>
        <p:nvSpPr>
          <p:cNvPr id="16" name="Pastille 2"/>
          <p:cNvSpPr/>
          <p:nvPr/>
        </p:nvSpPr>
        <p:spPr>
          <a:xfrm>
            <a:off x="5373472" y="1901952"/>
            <a:ext cx="402336" cy="402336"/>
          </a:xfrm>
          <a:prstGeom prst="ellipse">
            <a:avLst/>
          </a:prstGeom>
          <a:solidFill>
            <a:schemeClr val="accent2"/>
          </a:solidFill>
          <a:ln w="19050">
            <a:solidFill>
              <a:schemeClr val="bg1"/>
            </a:solidFill>
            <a:prstDash val="solid"/>
          </a:ln>
          <a:effectLst>
            <a:outerShdw sx="100000" sy="100000" kx="0" ky="0" algn="bl" rotWithShape="0" blurRad="38100" dist="12700" dir="5400000">
              <a:srgbClr val="0E1C24">
                <a:alpha val="30000"/>
              </a:srgbClr>
            </a:outerShdw>
          </a:effectLst>
        </p:spPr>
      </p:sp>
      <p:sp>
        <p:nvSpPr>
          <p:cNvPr id="17" name="Text 11"/>
          <p:cNvSpPr txBox="1"/>
          <p:nvPr/>
        </p:nvSpPr>
        <p:spPr>
          <a:xfrm>
            <a:off x="5373472" y="1901952"/>
            <a:ext cx="402336" cy="402336"/>
          </a:xfrm>
          <a:prstGeom prst="rect">
            <a:avLst/>
          </a:prstGeom>
          <a:noFill/>
          <a:ln/>
        </p:spPr>
        <p:txBody>
          <a:bodyPr wrap="square" lIns="0" tIns="0" rIns="0" bIns="0" rtlCol="0" anchor="ctr"/>
          <a:lstStyle/>
          <a:p>
            <a:pPr algn="ctr" indent="0" marL="0">
              <a:buNone/>
            </a:pPr>
            <a:r>
              <a:rPr lang="en-US" sz="1600" b="1" dirty="0">
                <a:solidFill>
                  <a:schemeClr val="tx2"/>
                </a:solidFill>
              </a:rPr>
              <a:t>2</a:t>
            </a:r>
            <a:endParaRPr lang="en-US" sz="1600" dirty="0"/>
          </a:p>
        </p:txBody>
      </p:sp>
      <p:sp>
        <p:nvSpPr>
          <p:cNvPr id="18" name="Text 12"/>
          <p:cNvSpPr txBox="1"/>
          <p:nvPr/>
        </p:nvSpPr>
        <p:spPr>
          <a:xfrm>
            <a:off x="3665144" y="2834640"/>
            <a:ext cx="2019224" cy="384048"/>
          </a:xfrm>
          <a:prstGeom prst="rect">
            <a:avLst/>
          </a:prstGeom>
          <a:noFill/>
          <a:ln/>
        </p:spPr>
        <p:txBody>
          <a:bodyPr wrap="square" lIns="0" tIns="0" rIns="0" bIns="0" rtlCol="0" anchor="t"/>
          <a:lstStyle/>
          <a:p>
            <a:pPr indent="0" marL="0">
              <a:buNone/>
            </a:pPr>
            <a:r>
              <a:rPr lang="en-US" sz="2000" b="1" dirty="0">
                <a:solidFill>
                  <a:schemeClr val="tx1"/>
                </a:solidFill>
              </a:rPr>
              <a:t>Paramétrage</a:t>
            </a:r>
            <a:endParaRPr lang="en-US" sz="2000" dirty="0"/>
          </a:p>
        </p:txBody>
      </p:sp>
      <p:sp>
        <p:nvSpPr>
          <p:cNvPr id="19" name="Text 13"/>
          <p:cNvSpPr txBox="1"/>
          <p:nvPr/>
        </p:nvSpPr>
        <p:spPr>
          <a:xfrm>
            <a:off x="3665144" y="3291840"/>
            <a:ext cx="2019224" cy="1508760"/>
          </a:xfrm>
          <a:prstGeom prst="rect">
            <a:avLst/>
          </a:prstGeom>
          <a:noFill/>
          <a:ln/>
        </p:spPr>
        <p:txBody>
          <a:bodyPr wrap="square" lIns="0" tIns="0" rIns="0" bIns="0" rtlCol="0" anchor="t"/>
          <a:lstStyle/>
          <a:p>
            <a:pPr indent="0" marL="0">
              <a:buNone/>
            </a:pPr>
            <a:r>
              <a:rPr lang="en-US" sz="1500" dirty="0">
                <a:solidFill>
                  <a:schemeClr val="accent3"/>
                </a:solidFill>
              </a:rPr>
              <a:t>Votre Admin Entreprise règle catégories, délais, horaires, agences, QR codes, apparence et comptes.</a:t>
            </a:r>
            <a:endParaRPr lang="en-US" sz="1500" dirty="0"/>
          </a:p>
        </p:txBody>
      </p:sp>
      <p:pic>
        <p:nvPicPr>
          <p:cNvPr id="20" name="Image 3" descr="preencoded.png">    </p:cNvPr>
          <p:cNvPicPr>
            <a:picLocks noChangeAspect="1"/>
          </p:cNvPicPr>
          <p:nvPr/>
        </p:nvPicPr>
        <p:blipFill>
          <a:blip r:embed="rId4"/>
          <a:stretch>
            <a:fillRect/>
          </a:stretch>
        </p:blipFill>
        <p:spPr>
          <a:xfrm>
            <a:off x="5986120" y="3182112"/>
            <a:ext cx="219456" cy="219456"/>
          </a:xfrm>
          <a:prstGeom prst="rect">
            <a:avLst/>
          </a:prstGeom>
        </p:spPr>
      </p:pic>
      <p:sp>
        <p:nvSpPr>
          <p:cNvPr id="21" name="Étape Pilote"/>
          <p:cNvSpPr/>
          <p:nvPr/>
        </p:nvSpPr>
        <p:spPr>
          <a:xfrm>
            <a:off x="6233008" y="1691640"/>
            <a:ext cx="2567864" cy="3246120"/>
          </a:xfrm>
          <a:prstGeom prst="roundRect">
            <a:avLst>
              <a:gd name="adj" fmla="val 4273"/>
            </a:avLst>
          </a:prstGeom>
          <a:solidFill>
            <a:schemeClr val="bg2"/>
          </a:solidFill>
          <a:ln/>
        </p:spPr>
      </p:sp>
      <p:sp>
        <p:nvSpPr>
          <p:cNvPr id="22" name="Rond LuRocket"/>
          <p:cNvSpPr/>
          <p:nvPr/>
        </p:nvSpPr>
        <p:spPr>
          <a:xfrm>
            <a:off x="6507328" y="1965960"/>
            <a:ext cx="658368" cy="658368"/>
          </a:xfrm>
          <a:prstGeom prst="ellipse">
            <a:avLst/>
          </a:prstGeom>
          <a:solidFill>
            <a:schemeClr val="accent1"/>
          </a:solidFill>
          <a:ln/>
        </p:spPr>
      </p:sp>
      <p:pic>
        <p:nvPicPr>
          <p:cNvPr id="23" name="Image 4" descr="preencoded.png">    </p:cNvPr>
          <p:cNvPicPr>
            <a:picLocks noChangeAspect="1"/>
          </p:cNvPicPr>
          <p:nvPr/>
        </p:nvPicPr>
        <p:blipFill>
          <a:blip r:embed="rId5"/>
          <a:stretch>
            <a:fillRect/>
          </a:stretch>
        </p:blipFill>
        <p:spPr>
          <a:xfrm>
            <a:off x="6658752" y="2117385"/>
            <a:ext cx="355519" cy="355519"/>
          </a:xfrm>
          <a:prstGeom prst="rect">
            <a:avLst/>
          </a:prstGeom>
        </p:spPr>
      </p:pic>
      <p:sp>
        <p:nvSpPr>
          <p:cNvPr id="24" name="Pastille 3"/>
          <p:cNvSpPr/>
          <p:nvPr/>
        </p:nvSpPr>
        <p:spPr>
          <a:xfrm>
            <a:off x="8215655" y="1901952"/>
            <a:ext cx="402336" cy="402336"/>
          </a:xfrm>
          <a:prstGeom prst="ellipse">
            <a:avLst/>
          </a:prstGeom>
          <a:solidFill>
            <a:schemeClr val="accent2"/>
          </a:solidFill>
          <a:ln w="19050">
            <a:solidFill>
              <a:schemeClr val="bg1"/>
            </a:solidFill>
            <a:prstDash val="solid"/>
          </a:ln>
          <a:effectLst>
            <a:outerShdw sx="100000" sy="100000" kx="0" ky="0" algn="bl" rotWithShape="0" blurRad="38100" dist="12700" dir="5400000">
              <a:srgbClr val="0E1C24">
                <a:alpha val="30000"/>
              </a:srgbClr>
            </a:outerShdw>
          </a:effectLst>
        </p:spPr>
      </p:sp>
      <p:sp>
        <p:nvSpPr>
          <p:cNvPr id="25" name="Text 17"/>
          <p:cNvSpPr txBox="1"/>
          <p:nvPr/>
        </p:nvSpPr>
        <p:spPr>
          <a:xfrm>
            <a:off x="8215655" y="1901952"/>
            <a:ext cx="402336" cy="402336"/>
          </a:xfrm>
          <a:prstGeom prst="rect">
            <a:avLst/>
          </a:prstGeom>
          <a:noFill/>
          <a:ln/>
        </p:spPr>
        <p:txBody>
          <a:bodyPr wrap="square" lIns="0" tIns="0" rIns="0" bIns="0" rtlCol="0" anchor="ctr"/>
          <a:lstStyle/>
          <a:p>
            <a:pPr algn="ctr" indent="0" marL="0">
              <a:buNone/>
            </a:pPr>
            <a:r>
              <a:rPr lang="en-US" sz="1600" b="1" dirty="0">
                <a:solidFill>
                  <a:schemeClr val="tx2"/>
                </a:solidFill>
              </a:rPr>
              <a:t>3</a:t>
            </a:r>
            <a:endParaRPr lang="en-US" sz="1600" dirty="0"/>
          </a:p>
        </p:txBody>
      </p:sp>
      <p:sp>
        <p:nvSpPr>
          <p:cNvPr id="26" name="Text 18"/>
          <p:cNvSpPr txBox="1"/>
          <p:nvPr/>
        </p:nvSpPr>
        <p:spPr>
          <a:xfrm>
            <a:off x="6507328" y="2834640"/>
            <a:ext cx="2019224" cy="384048"/>
          </a:xfrm>
          <a:prstGeom prst="rect">
            <a:avLst/>
          </a:prstGeom>
          <a:noFill/>
          <a:ln/>
        </p:spPr>
        <p:txBody>
          <a:bodyPr wrap="square" lIns="0" tIns="0" rIns="0" bIns="0" rtlCol="0" anchor="t"/>
          <a:lstStyle/>
          <a:p>
            <a:pPr indent="0" marL="0">
              <a:buNone/>
            </a:pPr>
            <a:r>
              <a:rPr lang="en-US" sz="2000" b="1" dirty="0">
                <a:solidFill>
                  <a:schemeClr val="tx1"/>
                </a:solidFill>
              </a:rPr>
              <a:t>Pilote</a:t>
            </a:r>
            <a:endParaRPr lang="en-US" sz="2000" dirty="0"/>
          </a:p>
        </p:txBody>
      </p:sp>
      <p:sp>
        <p:nvSpPr>
          <p:cNvPr id="27" name="Text 19"/>
          <p:cNvSpPr txBox="1"/>
          <p:nvPr/>
        </p:nvSpPr>
        <p:spPr>
          <a:xfrm>
            <a:off x="6507328" y="3291840"/>
            <a:ext cx="2019224" cy="1508760"/>
          </a:xfrm>
          <a:prstGeom prst="rect">
            <a:avLst/>
          </a:prstGeom>
          <a:noFill/>
          <a:ln/>
        </p:spPr>
        <p:txBody>
          <a:bodyPr wrap="square" lIns="0" tIns="0" rIns="0" bIns="0" rtlCol="0" anchor="t"/>
          <a:lstStyle/>
          <a:p>
            <a:pPr indent="0" marL="0">
              <a:buNone/>
            </a:pPr>
            <a:r>
              <a:rPr lang="en-US" sz="1500" dirty="0">
                <a:solidFill>
                  <a:schemeClr val="accent3"/>
                </a:solidFill>
              </a:rPr>
              <a:t>Quelques agences, après validation de votre politique de données (ARTCI). Indicateurs suivis ensemble.</a:t>
            </a:r>
            <a:endParaRPr lang="en-US" sz="1500" dirty="0"/>
          </a:p>
        </p:txBody>
      </p:sp>
      <p:pic>
        <p:nvPicPr>
          <p:cNvPr id="28" name="Image 5" descr="preencoded.png">    </p:cNvPr>
          <p:cNvPicPr>
            <a:picLocks noChangeAspect="1"/>
          </p:cNvPicPr>
          <p:nvPr/>
        </p:nvPicPr>
        <p:blipFill>
          <a:blip r:embed="rId6"/>
          <a:stretch>
            <a:fillRect/>
          </a:stretch>
        </p:blipFill>
        <p:spPr>
          <a:xfrm>
            <a:off x="8828303" y="3182112"/>
            <a:ext cx="219456" cy="219456"/>
          </a:xfrm>
          <a:prstGeom prst="rect">
            <a:avLst/>
          </a:prstGeom>
        </p:spPr>
      </p:pic>
      <p:sp>
        <p:nvSpPr>
          <p:cNvPr id="29" name="Étape Généralisation"/>
          <p:cNvSpPr/>
          <p:nvPr/>
        </p:nvSpPr>
        <p:spPr>
          <a:xfrm>
            <a:off x="9075191" y="1691640"/>
            <a:ext cx="2567864" cy="3246120"/>
          </a:xfrm>
          <a:prstGeom prst="roundRect">
            <a:avLst>
              <a:gd name="adj" fmla="val 4273"/>
            </a:avLst>
          </a:prstGeom>
          <a:solidFill>
            <a:schemeClr val="bg2"/>
          </a:solidFill>
          <a:ln/>
        </p:spPr>
      </p:sp>
      <p:sp>
        <p:nvSpPr>
          <p:cNvPr id="30" name="Rond LuCalendarCheck"/>
          <p:cNvSpPr/>
          <p:nvPr/>
        </p:nvSpPr>
        <p:spPr>
          <a:xfrm>
            <a:off x="9349511" y="1965960"/>
            <a:ext cx="658368" cy="658368"/>
          </a:xfrm>
          <a:prstGeom prst="ellipse">
            <a:avLst/>
          </a:prstGeom>
          <a:solidFill>
            <a:schemeClr val="accent1"/>
          </a:solidFill>
          <a:ln/>
        </p:spPr>
      </p:sp>
      <p:pic>
        <p:nvPicPr>
          <p:cNvPr id="31" name="Image 6" descr="preencoded.png">    </p:cNvPr>
          <p:cNvPicPr>
            <a:picLocks noChangeAspect="1"/>
          </p:cNvPicPr>
          <p:nvPr/>
        </p:nvPicPr>
        <p:blipFill>
          <a:blip r:embed="rId7"/>
          <a:stretch>
            <a:fillRect/>
          </a:stretch>
        </p:blipFill>
        <p:spPr>
          <a:xfrm>
            <a:off x="9500936" y="2117385"/>
            <a:ext cx="355519" cy="355519"/>
          </a:xfrm>
          <a:prstGeom prst="rect">
            <a:avLst/>
          </a:prstGeom>
        </p:spPr>
      </p:pic>
      <p:sp>
        <p:nvSpPr>
          <p:cNvPr id="32" name="Pastille 4"/>
          <p:cNvSpPr/>
          <p:nvPr/>
        </p:nvSpPr>
        <p:spPr>
          <a:xfrm>
            <a:off x="11057839" y="1901952"/>
            <a:ext cx="402336" cy="402336"/>
          </a:xfrm>
          <a:prstGeom prst="ellipse">
            <a:avLst/>
          </a:prstGeom>
          <a:solidFill>
            <a:schemeClr val="accent2"/>
          </a:solidFill>
          <a:ln w="19050">
            <a:solidFill>
              <a:schemeClr val="bg1"/>
            </a:solidFill>
            <a:prstDash val="solid"/>
          </a:ln>
          <a:effectLst>
            <a:outerShdw sx="100000" sy="100000" kx="0" ky="0" algn="bl" rotWithShape="0" blurRad="38100" dist="12700" dir="5400000">
              <a:srgbClr val="0E1C24">
                <a:alpha val="30000"/>
              </a:srgbClr>
            </a:outerShdw>
          </a:effectLst>
        </p:spPr>
      </p:sp>
      <p:sp>
        <p:nvSpPr>
          <p:cNvPr id="33" name="Text 23"/>
          <p:cNvSpPr txBox="1"/>
          <p:nvPr/>
        </p:nvSpPr>
        <p:spPr>
          <a:xfrm>
            <a:off x="11057839" y="1901952"/>
            <a:ext cx="402336" cy="402336"/>
          </a:xfrm>
          <a:prstGeom prst="rect">
            <a:avLst/>
          </a:prstGeom>
          <a:noFill/>
          <a:ln/>
        </p:spPr>
        <p:txBody>
          <a:bodyPr wrap="square" lIns="0" tIns="0" rIns="0" bIns="0" rtlCol="0" anchor="ctr"/>
          <a:lstStyle/>
          <a:p>
            <a:pPr algn="ctr" indent="0" marL="0">
              <a:buNone/>
            </a:pPr>
            <a:r>
              <a:rPr lang="en-US" sz="1600" b="1" dirty="0">
                <a:solidFill>
                  <a:schemeClr val="tx2"/>
                </a:solidFill>
              </a:rPr>
              <a:t>4</a:t>
            </a:r>
            <a:endParaRPr lang="en-US" sz="1600" dirty="0"/>
          </a:p>
        </p:txBody>
      </p:sp>
      <p:sp>
        <p:nvSpPr>
          <p:cNvPr id="34" name="Text 24"/>
          <p:cNvSpPr txBox="1"/>
          <p:nvPr/>
        </p:nvSpPr>
        <p:spPr>
          <a:xfrm>
            <a:off x="9349511" y="2834640"/>
            <a:ext cx="2019224" cy="384048"/>
          </a:xfrm>
          <a:prstGeom prst="rect">
            <a:avLst/>
          </a:prstGeom>
          <a:noFill/>
          <a:ln/>
        </p:spPr>
        <p:txBody>
          <a:bodyPr wrap="square" lIns="0" tIns="0" rIns="0" bIns="0" rtlCol="0" anchor="t"/>
          <a:lstStyle/>
          <a:p>
            <a:pPr indent="0" marL="0">
              <a:buNone/>
            </a:pPr>
            <a:r>
              <a:rPr lang="en-US" sz="2000" b="1" dirty="0">
                <a:solidFill>
                  <a:schemeClr val="tx1"/>
                </a:solidFill>
              </a:rPr>
              <a:t>Généralisation</a:t>
            </a:r>
            <a:endParaRPr lang="en-US" sz="2000" dirty="0"/>
          </a:p>
        </p:txBody>
      </p:sp>
      <p:sp>
        <p:nvSpPr>
          <p:cNvPr id="35" name="Text 25"/>
          <p:cNvSpPr txBox="1"/>
          <p:nvPr/>
        </p:nvSpPr>
        <p:spPr>
          <a:xfrm>
            <a:off x="9349511" y="3291840"/>
            <a:ext cx="2019224" cy="1508760"/>
          </a:xfrm>
          <a:prstGeom prst="rect">
            <a:avLst/>
          </a:prstGeom>
          <a:noFill/>
          <a:ln/>
        </p:spPr>
        <p:txBody>
          <a:bodyPr wrap="square" lIns="0" tIns="0" rIns="0" bIns="0" rtlCol="0" anchor="t"/>
          <a:lstStyle/>
          <a:p>
            <a:pPr indent="0" marL="0">
              <a:buNone/>
            </a:pPr>
            <a:r>
              <a:rPr lang="en-US" sz="1500" dirty="0">
                <a:solidFill>
                  <a:schemeClr val="accent3"/>
                </a:solidFill>
              </a:rPr>
              <a:t>Toutes les agences, puis les modules utiles : enquêtes, attribution, chat, assistant IA.</a:t>
            </a:r>
            <a:endParaRPr lang="en-US" sz="1500" dirty="0"/>
          </a:p>
        </p:txBody>
      </p:sp>
      <p:sp>
        <p:nvSpPr>
          <p:cNvPr id="36" name="Feuille de route"/>
          <p:cNvSpPr/>
          <p:nvPr/>
        </p:nvSpPr>
        <p:spPr>
          <a:xfrm>
            <a:off x="548640" y="5257800"/>
            <a:ext cx="11094415" cy="960120"/>
          </a:xfrm>
          <a:prstGeom prst="roundRect">
            <a:avLst>
              <a:gd name="adj" fmla="val 11429"/>
            </a:avLst>
          </a:prstGeom>
          <a:solidFill>
            <a:schemeClr val="accent4"/>
          </a:solidFill>
          <a:ln/>
        </p:spPr>
      </p:sp>
      <p:sp>
        <p:nvSpPr>
          <p:cNvPr id="37" name="Rond LuSparkles"/>
          <p:cNvSpPr/>
          <p:nvPr/>
        </p:nvSpPr>
        <p:spPr>
          <a:xfrm>
            <a:off x="822960" y="5513832"/>
            <a:ext cx="457200" cy="457200"/>
          </a:xfrm>
          <a:prstGeom prst="ellipse">
            <a:avLst/>
          </a:prstGeom>
          <a:solidFill>
            <a:schemeClr val="accent1"/>
          </a:solidFill>
          <a:ln/>
        </p:spPr>
      </p:sp>
      <p:pic>
        <p:nvPicPr>
          <p:cNvPr id="38" name="Image 7" descr="preencoded.png">    </p:cNvPr>
          <p:cNvPicPr>
            <a:picLocks noChangeAspect="1"/>
          </p:cNvPicPr>
          <p:nvPr/>
        </p:nvPicPr>
        <p:blipFill>
          <a:blip r:embed="rId8"/>
          <a:stretch>
            <a:fillRect/>
          </a:stretch>
        </p:blipFill>
        <p:spPr>
          <a:xfrm>
            <a:off x="928116" y="5618988"/>
            <a:ext cx="246888" cy="246888"/>
          </a:xfrm>
          <a:prstGeom prst="rect">
            <a:avLst/>
          </a:prstGeom>
        </p:spPr>
      </p:pic>
      <p:sp>
        <p:nvSpPr>
          <p:cNvPr id="39" name="Text 28"/>
          <p:cNvSpPr txBox="1"/>
          <p:nvPr/>
        </p:nvSpPr>
        <p:spPr>
          <a:xfrm>
            <a:off x="1463040" y="5257800"/>
            <a:ext cx="9905695" cy="960120"/>
          </a:xfrm>
          <a:prstGeom prst="rect">
            <a:avLst/>
          </a:prstGeom>
          <a:noFill/>
          <a:ln/>
        </p:spPr>
        <p:txBody>
          <a:bodyPr wrap="square" lIns="0" tIns="0" rIns="0" bIns="0" rtlCol="0" anchor="ctr"/>
          <a:lstStyle/>
          <a:p>
            <a:pPr indent="0" marL="0">
              <a:buNone/>
            </a:pPr>
            <a:r>
              <a:rPr lang="en-US" sz="1600" b="1" dirty="0">
                <a:solidFill>
                  <a:schemeClr val="accent1"/>
                </a:solidFill>
              </a:rPr>
              <a:t>Feuille de route  </a:t>
            </a:r>
            <a:pPr indent="0" marL="0">
              <a:buNone/>
            </a:pPr>
            <a:r>
              <a:rPr lang="en-US" sz="1600" dirty="0">
                <a:solidFill>
                  <a:schemeClr val="tx1"/>
                </a:solidFill>
              </a:rPr>
              <a:t>WhatsApp Business et SMS entrant · Baromètre et recommandations par l'IA</a:t>
            </a:r>
            <a:endParaRPr lang="en-US" sz="1600" dirty="0"/>
          </a:p>
        </p:txBody>
      </p:sp>
      <p:sp>
        <p:nvSpPr>
          <p:cNvPr id="25" name="Slide Number Placeholder 0"/>
          <p:cNvSpPr>
            <a:spLocks noGrp="1"/>
          </p:cNvSpPr>
          <p:nvPr>
            <p:ph type="sldNum" sz="quarter" idx="4294967295"/>
          </p:nvPr>
        </p:nvSpPr>
        <p:spPr>
          <a:xfrm>
            <a:off x="11183112" y="6446520"/>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body" hasCustomPrompt="1"/>
          </p:nvPr>
        </p:nvSpPr>
        <p:spPr>
          <a:xfrm>
            <a:off x="548640" y="960120"/>
            <a:ext cx="5120640" cy="365760"/>
          </a:xfrm>
          <a:prstGeom prst="rect">
            <a:avLst/>
          </a:prstGeom>
          <a:noFill/>
          <a:ln/>
        </p:spPr>
        <p:txBody>
          <a:bodyPr wrap="square" lIns="0" tIns="0" rIns="0" bIns="0" rtlCol="0" anchor="t"/>
          <a:lstStyle/>
          <a:p>
            <a:pPr indent="0" marL="0">
              <a:buNone/>
            </a:pPr>
            <a:r>
              <a:rPr lang="en-US" sz="1300" b="1" spc="100" kern="0" dirty="0">
                <a:solidFill>
                  <a:schemeClr val="accent2"/>
                </a:solidFill>
              </a:rPr>
              <a:t>MAKOR TELECOMS</a:t>
            </a:r>
            <a:endParaRPr lang="en-US" sz="1300" dirty="0"/>
          </a:p>
        </p:txBody>
      </p:sp>
      <p:sp>
        <p:nvSpPr>
          <p:cNvPr id="3" name="Text 0"/>
          <p:cNvSpPr/>
          <p:nvPr>
            <p:ph idx="101" type="title" hasCustomPrompt="1"/>
          </p:nvPr>
        </p:nvSpPr>
        <p:spPr>
          <a:xfrm>
            <a:off x="548640" y="1371600"/>
            <a:ext cx="5120640" cy="2514600"/>
          </a:xfrm>
          <a:prstGeom prst="rect">
            <a:avLst/>
          </a:prstGeom>
          <a:noFill/>
          <a:ln/>
        </p:spPr>
        <p:txBody>
          <a:bodyPr wrap="square" lIns="0" tIns="0" rIns="0" bIns="0" rtlCol="0" anchor="t"/>
          <a:lstStyle/>
          <a:p>
            <a:pPr algn="l" indent="0" marL="0">
              <a:buNone/>
            </a:pPr>
            <a:r>
              <a:rPr lang="en-US" sz="4000" b="1" dirty="0">
                <a:solidFill>
                  <a:schemeClr val="bg1"/>
                </a:solidFill>
              </a:rPr>
              <a:t>Merci</a:t>
            </a:r>
            <a:endParaRPr lang="en-US" sz="4000" dirty="0"/>
          </a:p>
        </p:txBody>
      </p:sp>
      <p:sp>
        <p:nvSpPr>
          <p:cNvPr id="4" name="Text 0"/>
          <p:cNvSpPr/>
          <p:nvPr>
            <p:ph idx="102" type="body" hasCustomPrompt="1"/>
          </p:nvPr>
        </p:nvSpPr>
        <p:spPr>
          <a:xfrm>
            <a:off x="548640" y="3977640"/>
            <a:ext cx="4846320" cy="1371600"/>
          </a:xfrm>
          <a:prstGeom prst="rect">
            <a:avLst/>
          </a:prstGeom>
          <a:noFill/>
          <a:ln/>
        </p:spPr>
        <p:txBody>
          <a:bodyPr wrap="square" lIns="0" tIns="0" rIns="0" bIns="0" rtlCol="0" anchor="t"/>
          <a:lstStyle/>
          <a:p>
            <a:pPr indent="0" marL="0">
              <a:buNone/>
            </a:pPr>
            <a:r>
              <a:rPr lang="en-US" sz="1700" dirty="0">
                <a:solidFill>
                  <a:schemeClr val="bg2"/>
                </a:solidFill>
              </a:rPr>
              <a:t>Questions, et démonstration en direct sur l'environnement de démonstration.</a:t>
            </a:r>
            <a:endParaRPr lang="en-US" sz="1700" dirty="0"/>
          </a:p>
        </p:txBody>
      </p:sp>
      <p:sp>
        <p:nvSpPr>
          <p:cNvPr id="5" name="Text 0"/>
          <p:cNvSpPr/>
          <p:nvPr>
            <p:ph idx="103" type="body" hasCustomPrompt="1"/>
          </p:nvPr>
        </p:nvSpPr>
        <p:spPr>
          <a:xfrm>
            <a:off x="548640" y="5989320"/>
            <a:ext cx="4846320" cy="365760"/>
          </a:xfrm>
          <a:prstGeom prst="rect">
            <a:avLst/>
          </a:prstGeom>
          <a:noFill/>
          <a:ln/>
        </p:spPr>
        <p:txBody>
          <a:bodyPr wrap="square" lIns="0" tIns="0" rIns="0" bIns="0" rtlCol="0" anchor="t"/>
          <a:lstStyle/>
          <a:p>
            <a:pPr indent="0" marL="0">
              <a:buNone/>
            </a:pPr>
            <a:r>
              <a:rPr lang="en-US" sz="1300" dirty="0">
                <a:solidFill>
                  <a:schemeClr val="bg2"/>
                </a:solidFill>
              </a:rPr>
              <a:t>Plateforme de gestion des réclamations</a:t>
            </a:r>
            <a:endParaRPr lang="en-US" sz="1300" dirty="0"/>
          </a:p>
        </p:txBody>
      </p:sp>
      <p:pic>
        <p:nvPicPr>
          <p:cNvPr id="6" name="Image 0" descr="Portail : merci pour votre avis">    </p:cNvPr>
          <p:cNvPicPr>
            <a:picLocks noChangeAspect="1"/>
          </p:cNvPicPr>
          <p:nvPr/>
        </p:nvPicPr>
        <p:blipFill>
          <a:blip r:embed="rId1"/>
          <a:stretch>
            <a:fillRect/>
          </a:stretch>
        </p:blipFill>
        <p:spPr>
          <a:xfrm>
            <a:off x="7976025" y="660825"/>
            <a:ext cx="2987913" cy="5582070"/>
          </a:xfrm>
          <a:prstGeom prst="rect">
            <a:avLst/>
          </a:prstGeom>
        </p:spPr>
      </p:pic>
    </p:spTree>
  </p:cSld>
  <p:clrMapOvr>
    <a:masterClrMapping/>
  </p:clrMapOvr>
</p:sld>
</file>

<file path=ppt/theme/theme1.xml><?xml version="1.0" encoding="utf-8"?>
<a:theme xmlns:a="http://schemas.openxmlformats.org/drawingml/2006/main" name="Makor Réclamations">
  <a:themeElements>
    <a:clrScheme name="Makor Réclamations">
      <a:dk1>
        <a:srgbClr val="17252E"/>
      </a:dk1>
      <a:lt1>
        <a:srgbClr val="FFFFFF"/>
      </a:lt1>
      <a:dk2>
        <a:srgbClr val="0E1C24"/>
      </a:dk2>
      <a:lt2>
        <a:srgbClr val="F2F5F5"/>
      </a:lt2>
      <a:accent1>
        <a:srgbClr val="0B6E5F"/>
      </a:accent1>
      <a:accent2>
        <a:srgbClr val="F2A93B"/>
      </a:accent2>
      <a:accent3>
        <a:srgbClr val="5E6E78"/>
      </a:accent3>
      <a:accent4>
        <a:srgbClr val="E3F1ED"/>
      </a:accent4>
      <a:accent5>
        <a:srgbClr val="D9E1E3"/>
      </a:accent5>
      <a:accent6>
        <a:srgbClr val="3B3F9E"/>
      </a:accent6>
      <a:hlink>
        <a:srgbClr val="0B6E5F"/>
      </a:hlink>
      <a:folHlink>
        <a:srgbClr val="0B6E5F"/>
      </a:folHlink>
    </a:clrScheme>
    <a:fontScheme name="Makor Réclamations">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41</Slides>
  <Notes>41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41</vt:i4>
      </vt:variant>
    </vt:vector>
  </HeadingPairs>
  <TitlesOfParts>
    <vt:vector size="4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vector>
  </TitlesOfParts>
  <Company>Makor Telecoms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Plateforme de gestion des réclamations</dc:title>
  <dc:subject>Présentation aux banques</dc:subject>
  <dc:creator>Makor Telecoms</dc:creator>
  <cp:lastModifiedBy>Makor Telecoms</cp:lastModifiedBy>
  <cp:revision>1</cp:revision>
  <dcterms:created xsi:type="dcterms:W3CDTF">2026-10-05T08:32:41Z</dcterms:created>
  <dcterms:modified xsi:type="dcterms:W3CDTF">2026-10-05T08:32:41Z</dcterms:modified>
</cp:coreProperties>
</file>